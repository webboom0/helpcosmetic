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omments/modernComment_101_2F90FBA9.xml" ContentType="application/vnd.ms-powerpoint.comments+xml"/>
  <Override PartName="/ppt/notesSlides/notesSlide3.xml" ContentType="application/vnd.openxmlformats-officedocument.presentationml.notesSlide+xml"/>
  <Override PartName="/ppt/comments/modernComment_103_5D417036.xml" ContentType="application/vnd.ms-powerpoint.comments+xml"/>
  <Override PartName="/ppt/notesSlides/notesSlide4.xml" ContentType="application/vnd.openxmlformats-officedocument.presentationml.notesSlide+xml"/>
  <Override PartName="/ppt/comments/modernComment_106_51FC2C99.xml" ContentType="application/vnd.ms-powerpoint.comments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omments/modernComment_107_D4A2BB0F.xml" ContentType="application/vnd.ms-powerpoint.comments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omments/modernComment_108_C44DC7BF.xml" ContentType="application/vnd.ms-powerpoint.comments+xml"/>
  <Override PartName="/ppt/notesSlides/notesSlide10.xml" ContentType="application/vnd.openxmlformats-officedocument.presentationml.notesSlide+xml"/>
  <Override PartName="/ppt/comments/modernComment_109_8180DCBA.xml" ContentType="application/vnd.ms-powerpoint.comments+xml"/>
  <Override PartName="/ppt/notesSlides/notesSlide11.xml" ContentType="application/vnd.openxmlformats-officedocument.presentationml.notesSlide+xml"/>
  <Override PartName="/ppt/comments/modernComment_110_2516884E.xml" ContentType="application/vnd.ms-powerpoint.comments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omments/modernComment_10B_E46AFC38.xml" ContentType="application/vnd.ms-powerpoint.comments+xml"/>
  <Override PartName="/ppt/notesSlides/notesSlide15.xml" ContentType="application/vnd.openxmlformats-officedocument.presentationml.notesSlide+xml"/>
  <Override PartName="/ppt/comments/modernComment_113_20B91287.xml" ContentType="application/vnd.ms-powerpoint.comments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9" r:id="rId4"/>
    <p:sldId id="262" r:id="rId5"/>
    <p:sldId id="268" r:id="rId6"/>
    <p:sldId id="261" r:id="rId7"/>
    <p:sldId id="263" r:id="rId8"/>
    <p:sldId id="270" r:id="rId9"/>
    <p:sldId id="264" r:id="rId10"/>
    <p:sldId id="265" r:id="rId11"/>
    <p:sldId id="272" r:id="rId12"/>
    <p:sldId id="266" r:id="rId13"/>
    <p:sldId id="273" r:id="rId14"/>
    <p:sldId id="267" r:id="rId15"/>
    <p:sldId id="275" r:id="rId1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A894E26-C7D1-BA6A-00B6-2540C16AE08A}" name="관리자 대한화장품협회" initials="관대" userId="5afd10ffc425ac2a" providerId="Windows Live"/>
  <p188:author id="{08794461-2643-D43C-2337-98A8AE1B5E4B}" name="은정 김" initials="은김" userId="c1d3832e69e7af5e" providerId="Windows Live"/>
  <p188:author id="{A1F4ACA4-32C5-3A05-D2BC-2194DD035544}" name="윈게이트코리아 2" initials="2윈" userId="S::wynngatekr@wynngatekorea.onmicrosoft.com::4fb62243-b349-4c92-b34d-bb23574c9f27" providerId="AD"/>
  <p188:author id="{EDAA74E0-4B27-F1A6-F23C-B394E667B394}" name="서연 권" initials="서권" userId="8de04ff4aacef9f6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666" autoAdjust="0"/>
    <p:restoredTop sz="47769" autoAdjust="0"/>
  </p:normalViewPr>
  <p:slideViewPr>
    <p:cSldViewPr snapToGrid="0">
      <p:cViewPr varScale="1">
        <p:scale>
          <a:sx n="91" d="100"/>
          <a:sy n="91" d="100"/>
        </p:scale>
        <p:origin x="90" y="336"/>
      </p:cViewPr>
      <p:guideLst/>
    </p:cSldViewPr>
  </p:slideViewPr>
  <p:notesTextViewPr>
    <p:cViewPr>
      <p:scale>
        <a:sx n="125" d="100"/>
        <a:sy n="125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8/10/relationships/authors" Target="authors.xml"/></Relationships>
</file>

<file path=ppt/comments/modernComment_10B_E46AFC38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4AE8F60D-2805-4F59-9AC3-45B7C627C6DC}" authorId="{0A894E26-C7D1-BA6A-00B6-2540C16AE08A}" created="2026-10-01T06:02:14.856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3832216632" sldId="267"/>
      <ac:graphicFrameMk id="3" creationId="{FB66EC9E-EFF2-6CD2-1EF3-B31C68BD74BE}"/>
      <ac:tblMk/>
      <ac:tcMk rowId="3471127830" colId="4224328845"/>
      <ac:txMk cp="18" len="2">
        <ac:context len="134" hash="3331932389"/>
      </ac:txMk>
    </ac:txMkLst>
    <p188:pos x="3646149" y="2835715"/>
    <p188:txBody>
      <a:bodyPr/>
      <a:lstStyle/>
      <a:p>
        <a:r>
          <a:rPr lang="ko-KR" altLang="en-US"/>
          <a:t>예시 이미지 파일 추가</a:t>
        </a:r>
      </a:p>
    </p188:txBody>
  </p188:cm>
  <p188:cm id="{0A8052F3-5900-4EBB-B6C6-E9118E6D5642}" authorId="{0A894E26-C7D1-BA6A-00B6-2540C16AE08A}" created="2026-10-01T06:02:20.141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3832216632" sldId="267"/>
      <ac:graphicFrameMk id="3" creationId="{FB66EC9E-EFF2-6CD2-1EF3-B31C68BD74BE}"/>
      <ac:tblMk/>
      <ac:tcMk rowId="3471127830" colId="2014032394"/>
      <ac:txMk cp="20" len="2">
        <ac:context len="152" hash="3308179102"/>
      </ac:txMk>
    </ac:txMkLst>
    <p188:pos x="8702243" y="2728138"/>
    <p188:txBody>
      <a:bodyPr/>
      <a:lstStyle/>
      <a:p>
        <a:r>
          <a:rPr lang="ko-KR" altLang="en-US"/>
          <a:t>예시 이미지 파일 추가</a:t>
        </a:r>
      </a:p>
    </p188:txBody>
  </p188:cm>
  <p188:cm id="{D146CE50-4B1F-4762-90F9-8339A5F43588}" authorId="{A1F4ACA4-32C5-3A05-D2BC-2194DD035544}" created="2026-10-06T10:34:34.175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3832216632" sldId="267"/>
      <ac:graphicFrameMk id="3" creationId="{FB66EC9E-EFF2-6CD2-1EF3-B31C68BD74BE}"/>
      <ac:tblMk/>
      <ac:tcMk rowId="3471127830" colId="4224328845"/>
      <ac:txMk cp="0" len="20">
        <ac:context len="134" hash="3331932389"/>
      </ac:txMk>
    </ac:txMkLst>
    <p188:pos x="3689852" y="2849162"/>
    <p188:txBody>
      <a:bodyPr/>
      <a:lstStyle/>
      <a:p>
        <a:r>
          <a:rPr lang="ko-KR" altLang="en-US"/>
          <a:t>첨부파일 5-1</a:t>
        </a:r>
      </a:p>
    </p188:txBody>
  </p188:cm>
  <p188:cm id="{A22A478F-999F-4310-A56C-0BAA7A3E1E80}" authorId="{A1F4ACA4-32C5-3A05-D2BC-2194DD035544}" created="2026-10-06T10:34:52.703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3832216632" sldId="267"/>
      <ac:graphicFrameMk id="3" creationId="{FB66EC9E-EFF2-6CD2-1EF3-B31C68BD74BE}"/>
      <ac:tblMk/>
      <ac:tcMk rowId="3471127830" colId="2014032394"/>
      <ac:txMk cp="0" len="22">
        <ac:context len="152" hash="3308179102"/>
      </ac:txMk>
    </ac:txMkLst>
    <p188:pos x="8747627" y="2734862"/>
    <p188:txBody>
      <a:bodyPr/>
      <a:lstStyle/>
      <a:p>
        <a:r>
          <a:rPr lang="ko-KR" altLang="en-US"/>
          <a:t>첨부파일 5-2</a:t>
        </a:r>
      </a:p>
    </p188:txBody>
  </p188:cm>
</p188:cmLst>
</file>

<file path=ppt/comments/modernComment_101_2F90FBA9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A254B561-1BD0-4150-AC4C-196491E599C7}" authorId="{0A894E26-C7D1-BA6A-00B6-2540C16AE08A}" status="resolved" created="2026-07-22T10:53:37.843" complete="100000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798030761" sldId="257"/>
      <ac:spMk id="4" creationId="{70CDAB86-61EA-F351-784E-E59DB8A713FD}"/>
      <ac:txMk cp="2" len="4">
        <ac:context len="10" hash="3204660166"/>
      </ac:txMk>
    </ac:txMkLst>
    <p188:pos x="1232794" y="267073"/>
    <p188:replyLst>
      <p188:reply id="{E8947CF7-9558-4884-97DE-04DABAAA0847}" authorId="{EDAA74E0-4B27-F1A6-F23C-B394E667B394}" created="2026-07-27T08:14:07.425">
        <p188:txBody>
          <a:bodyPr/>
          <a:lstStyle/>
          <a:p>
            <a:r>
              <a:rPr lang="ko-KR" altLang="en-US"/>
              <a:t>‘제조판매업자'로 수정하였습니다.</a:t>
            </a:r>
          </a:p>
        </p188:txBody>
      </p188:reply>
    </p188:replyLst>
    <p188:txBody>
      <a:bodyPr/>
      <a:lstStyle/>
      <a:p>
        <a:r>
          <a:rPr lang="ko-KR" altLang="en-US"/>
          <a:t>책임판매업자가 공식 용어인지? 아니면 그냥 수입자라고 해도 될지?</a:t>
        </a:r>
      </a:p>
    </p188:txBody>
  </p188:cm>
</p188:cmLst>
</file>

<file path=ppt/comments/modernComment_103_5D417036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D5266EE9-8C57-4BCD-B98D-B71F22EE617D}" authorId="{0A894E26-C7D1-BA6A-00B6-2540C16AE08A}" status="resolved" created="2026-07-22T10:48:20.679" complete="100000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1564569654" sldId="259"/>
      <ac:graphicFrameMk id="5" creationId="{02105134-4194-C6D1-D94E-2778D40821AF}"/>
      <ac:tblMk/>
      <ac:tcMk rowId="3517785727" colId="4224328845"/>
      <ac:txMk cp="6">
        <ac:context len="13" hash="955196457"/>
      </ac:txMk>
    </ac:txMkLst>
    <p188:pos x="2985002" y="1549120"/>
    <p188:replyLst>
      <p188:reply id="{49E0D9BF-013B-4801-B9DD-C31425D6069F}" authorId="{A1F4ACA4-32C5-3A05-D2BC-2194DD035544}" created="2026-08-04T09:20:10.239">
        <p188:txBody>
          <a:bodyPr/>
          <a:lstStyle/>
          <a:p>
            <a:r>
              <a:rPr lang="ko-KR" altLang="en-US"/>
              <a:t>해당 절차를 담당 혹은 참고할 수 있는 기관을 의미</a:t>
            </a:r>
          </a:p>
        </p188:txBody>
      </p188:reply>
      <p188:reply id="{B5141475-7A8B-4AA4-B630-CF384780E886}" authorId="{0A894E26-C7D1-BA6A-00B6-2540C16AE08A}" created="2026-08-14T11:37:37.019">
        <p188:txBody>
          <a:bodyPr/>
          <a:lstStyle/>
          <a:p>
            <a:r>
              <a:rPr lang="ko-KR" altLang="en-US"/>
              <a:t>대제목을 '계약서 서식 참고'로 수정해주세요. 
타국가 동일 항목도 동일하게 수정</a:t>
            </a:r>
          </a:p>
        </p188:txBody>
      </p188:reply>
      <p188:reply id="{AF148836-6B17-4873-A73B-D9B8AF659A8F}" authorId="{A1F4ACA4-32C5-3A05-D2BC-2194DD035544}" created="2026-08-21T10:23:11.600">
        <p188:txBody>
          <a:bodyPr/>
          <a:lstStyle/>
          <a:p>
            <a:r>
              <a:rPr lang="ko-KR" altLang="en-US"/>
              <a:t>수정 완료</a:t>
            </a:r>
          </a:p>
        </p188:txBody>
      </p188:reply>
      <p188:reply id="{FE5A3291-A3FF-4E2B-9F26-12CB116D0CC8}" authorId="{0A894E26-C7D1-BA6A-00B6-2540C16AE08A}" created="2026-09-11T02:33:23.097">
        <p188:txBody>
          <a:bodyPr/>
          <a:lstStyle/>
          <a:p>
            <a:r>
              <a:rPr lang="ko-KR" altLang="en-US"/>
              <a:t>관련기관 란은 삭제 요망</a:t>
            </a:r>
          </a:p>
        </p188:txBody>
      </p188:reply>
      <p188:reply id="{BECB87A0-4E31-4FF6-9EDA-5656E55AC7B0}" authorId="{A1F4ACA4-32C5-3A05-D2BC-2194DD035544}" created="2026-09-15T09:34:05.091">
        <p188:txBody>
          <a:bodyPr/>
          <a:lstStyle/>
          <a:p>
            <a:r>
              <a:rPr lang="ko-KR" altLang="en-US"/>
              <a:t>삭제 완료</a:t>
            </a:r>
          </a:p>
        </p188:txBody>
      </p188:reply>
    </p188:replyLst>
    <p188:txBody>
      <a:bodyPr/>
      <a:lstStyle/>
      <a:p>
        <a:r>
          <a:rPr lang="ko-KR" altLang="en-US"/>
          <a:t>기관의 의미 확인 필요</a:t>
        </a:r>
      </a:p>
    </p188:txBody>
  </p188:cm>
  <p188:cm id="{9DC89FC4-04AA-4978-BCC2-658D5997997B}" authorId="{0A894E26-C7D1-BA6A-00B6-2540C16AE08A}" status="resolved" created="2026-07-22T10:48:31.083" complete="100000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1564569654" sldId="259"/>
      <ac:graphicFrameMk id="5" creationId="{02105134-4194-C6D1-D94E-2778D40821AF}"/>
      <ac:tblMk/>
      <ac:tcMk rowId="3471127830" colId="4224328845"/>
      <ac:txMk cp="0" len="19">
        <ac:context len="35" hash="1650441403"/>
      </ac:txMk>
    </ac:txMkLst>
    <p188:pos x="2985002" y="2120620"/>
    <p188:replyLst>
      <p188:reply id="{C43C8EF1-A695-428B-9FFE-E669EDA54B76}" authorId="{A1F4ACA4-32C5-3A05-D2BC-2194DD035544}" created="2026-08-04T09:20:22.091">
        <p188:txBody>
          <a:bodyPr/>
          <a:lstStyle/>
          <a:p>
            <a:r>
              <a:rPr lang="ko-KR" altLang="en-US"/>
              <a:t>수정완료</a:t>
            </a:r>
          </a:p>
        </p188:txBody>
      </p188:reply>
      <p188:reply id="{D2B58F39-A944-4191-A59A-AFBF978264EC}" authorId="{0A894E26-C7D1-BA6A-00B6-2540C16AE08A}" created="2026-08-14T11:37:54.670">
        <p188:txBody>
          <a:bodyPr/>
          <a:lstStyle/>
          <a:p>
            <a:r>
              <a:rPr lang="ko-KR" altLang="en-US"/>
              <a:t>두 항목의 링크 동일</a:t>
            </a:r>
          </a:p>
        </p188:txBody>
      </p188:reply>
      <p188:reply id="{12DC70CB-CF33-4AAA-A548-3AE4538EDD22}" authorId="{A1F4ACA4-32C5-3A05-D2BC-2194DD035544}" created="2026-08-21T10:32:25.288">
        <p188:txBody>
          <a:bodyPr/>
          <a:lstStyle/>
          <a:p>
            <a:r>
              <a:rPr lang="ko-KR" altLang="en-US"/>
              <a:t>수정 완료</a:t>
            </a:r>
          </a:p>
        </p188:txBody>
      </p188:reply>
    </p188:replyLst>
    <p188:txBody>
      <a:bodyPr/>
      <a:lstStyle/>
      <a:p>
        <a:r>
          <a:rPr lang="ko-KR" altLang="en-US"/>
          <a:t>유효 링크로 대체 필요</a:t>
        </a:r>
      </a:p>
    </p188:txBody>
  </p188:cm>
  <p188:cm id="{59F3AA02-7A83-4CFC-9E5F-69FB68B73304}" authorId="{0A894E26-C7D1-BA6A-00B6-2540C16AE08A}" status="resolved" created="2026-07-22T10:49:45.384" complete="100000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1564569654" sldId="259"/>
      <ac:graphicFrameMk id="5" creationId="{02105134-4194-C6D1-D94E-2778D40821AF}"/>
      <ac:tblMk/>
      <ac:tcMk rowId="1549504629" colId="4224328845"/>
      <ac:txMk cp="52" len="3">
        <ac:context len="94" hash="2342311536"/>
      </ac:txMk>
    </ac:txMkLst>
    <p188:pos x="5718677" y="1044295"/>
    <p188:replyLst>
      <p188:reply id="{F3EA56A8-3E38-432B-A7D3-A9992872450B}" authorId="{A1F4ACA4-32C5-3A05-D2BC-2194DD035544}" created="2026-08-04T09:20:26.820">
        <p188:txBody>
          <a:bodyPr/>
          <a:lstStyle/>
          <a:p>
            <a:r>
              <a:rPr lang="ko-KR" altLang="en-US"/>
              <a:t>수정완료</a:t>
            </a:r>
          </a:p>
        </p188:txBody>
      </p188:reply>
    </p188:replyLst>
    <p188:txBody>
      <a:bodyPr/>
      <a:lstStyle/>
      <a:p>
        <a:r>
          <a:rPr lang="ko-KR" altLang="en-US"/>
          <a:t>약칭에 대한 주석 또는 설명 필요</a:t>
        </a:r>
      </a:p>
    </p188:txBody>
  </p188:cm>
  <p188:cm id="{3F71A929-2A13-4472-AAAC-6BE514D2DED2}" authorId="{0A894E26-C7D1-BA6A-00B6-2540C16AE08A}" status="resolved" created="2026-07-22T10:51:28.517" complete="100000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1564569654" sldId="259"/>
      <ac:graphicFrameMk id="5" creationId="{02105134-4194-C6D1-D94E-2778D40821AF}"/>
      <ac:tblMk/>
      <ac:tcMk rowId="2473776228" colId="4224328845"/>
      <ac:txMk cp="0">
        <ac:context len="77" hash="2368330953"/>
      </ac:txMk>
    </ac:txMkLst>
    <p188:pos x="1984877" y="3920845"/>
    <p188:replyLst>
      <p188:reply id="{03D9C5D8-E074-4F60-BB75-9BE7F34550BB}" authorId="{A1F4ACA4-32C5-3A05-D2BC-2194DD035544}" created="2026-08-04T09:20:30.376">
        <p188:txBody>
          <a:bodyPr/>
          <a:lstStyle/>
          <a:p>
            <a:r>
              <a:rPr lang="ko-KR" altLang="en-US"/>
              <a:t>수정완료</a:t>
            </a:r>
          </a:p>
        </p188:txBody>
      </p188:reply>
    </p188:replyLst>
    <p188:txBody>
      <a:bodyPr/>
      <a:lstStyle/>
      <a:p>
        <a:r>
          <a:rPr lang="ko-KR" altLang="en-US"/>
          <a:t>삭제</a:t>
        </a:r>
      </a:p>
    </p188:txBody>
  </p188:cm>
  <p188:cm id="{07C510BA-BE76-4F72-B28D-BCC0DF7E12B1}" authorId="{A1F4ACA4-32C5-3A05-D2BC-2194DD035544}" status="resolved" created="2026-08-04T09:21:22.245" complete="100000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1564569654" sldId="259"/>
      <ac:graphicFrameMk id="5" creationId="{02105134-4194-C6D1-D94E-2778D40821AF}"/>
      <ac:tblMk/>
      <ac:tcMk rowId="3471127830" colId="4224328845"/>
      <ac:txMk cp="10">
        <ac:context len="35" hash="1650441403"/>
      </ac:txMk>
    </ac:txMkLst>
    <p188:pos x="4117976" y="2301094"/>
    <p188:txBody>
      <a:bodyPr/>
      <a:lstStyle/>
      <a:p>
        <a:r>
          <a:rPr lang="ko-KR" altLang="en-US"/>
          <a:t>첨부파일 1-1</a:t>
        </a:r>
      </a:p>
    </p188:txBody>
  </p188:cm>
</p188:cmLst>
</file>

<file path=ppt/comments/modernComment_106_51FC2C99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18A67A51-2308-4FA4-8F56-3A5F8E599FAE}" authorId="{A1F4ACA4-32C5-3A05-D2BC-2194DD035544}" status="resolved" created="2026-08-04T09:21:48.073" complete="100000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1375480985" sldId="262"/>
      <ac:graphicFrameMk id="5" creationId="{CB5007DA-8D58-5901-4860-32FB3594DACD}"/>
      <ac:tblMk/>
      <ac:tcMk rowId="1204222730" colId="4224328845"/>
      <ac:txMk cp="137" len="13">
        <ac:context len="218" hash="2542294349"/>
      </ac:txMk>
    </ac:txMkLst>
    <p188:pos x="3906220" y="3384166"/>
    <p188:txBody>
      <a:bodyPr/>
      <a:lstStyle/>
      <a:p>
        <a:r>
          <a:rPr lang="ko-KR" altLang="en-US"/>
          <a:t>첨부파일 1-2</a:t>
        </a:r>
      </a:p>
    </p188:txBody>
  </p188:cm>
</p188:cmLst>
</file>

<file path=ppt/comments/modernComment_107_D4A2BB0F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DDDF7F69-F910-4CCD-B4F7-29F4B51D0C4D}" authorId="{0A894E26-C7D1-BA6A-00B6-2540C16AE08A}" status="resolved" created="2026-07-22T10:55:29.848" complete="100000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3567434511" sldId="263"/>
      <ac:graphicFrameMk id="3" creationId="{E58BE641-8A71-9769-BD56-6DD91C7FDEAA}"/>
      <ac:tblMk/>
      <ac:tcMk rowId="1549504629" colId="4224328845"/>
      <ac:txMk cp="90">
        <ac:context len="102" hash="2184133930"/>
      </ac:txMk>
    </ac:txMkLst>
    <p188:pos x="6194927" y="1991911"/>
    <p188:replyLst>
      <p188:reply id="{5D9F559E-66B3-4B1E-B0B7-5C5925772397}" authorId="{A1F4ACA4-32C5-3A05-D2BC-2194DD035544}" created="2026-08-04T09:22:08.293">
        <p188:txBody>
          <a:bodyPr/>
          <a:lstStyle/>
          <a:p>
            <a:r>
              <a:rPr lang="ko-KR" altLang="en-US"/>
              <a:t>수정완료</a:t>
            </a:r>
          </a:p>
        </p188:txBody>
      </p188:reply>
    </p188:replyLst>
    <p188:txBody>
      <a:bodyPr/>
      <a:lstStyle/>
      <a:p>
        <a:r>
          <a:rPr lang="ko-KR" altLang="en-US"/>
          <a:t>엄밀히 말하면 지정성분이 아닐수도 있기에 삭제</a:t>
        </a:r>
      </a:p>
    </p188:txBody>
  </p188:cm>
  <p188:cm id="{DE607307-8981-40B1-8C75-C5B648A8D232}" authorId="{0A894E26-C7D1-BA6A-00B6-2540C16AE08A}" created="2026-10-01T05:52:38.427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3567434511" sldId="263"/>
      <ac:graphicFrameMk id="3" creationId="{E58BE641-8A71-9769-BD56-6DD91C7FDEAA}"/>
      <ac:tblMk/>
      <ac:tcMk rowId="4165939244" colId="4224328845"/>
      <ac:txMk cp="46" len="7">
        <ac:context len="265" hash="877651996"/>
      </ac:txMk>
    </ac:txMkLst>
    <p188:pos x="6147302" y="773832"/>
    <p188:replyLst>
      <p188:reply id="{8CA2D78A-AC07-45F4-BBF7-A1D6466E7DB9}" authorId="{A1F4ACA4-32C5-3A05-D2BC-2194DD035544}" created="2026-10-06T09:19:17.749">
        <p188:txBody>
          <a:bodyPr/>
          <a:lstStyle/>
          <a:p>
            <a:r>
              <a:rPr lang="ko-KR" altLang="en-US"/>
              <a:t>추가 완료</a:t>
            </a:r>
          </a:p>
        </p188:txBody>
      </p188:reply>
    </p188:replyLst>
    <p188:txBody>
      <a:bodyPr/>
      <a:lstStyle/>
      <a:p>
        <a:r>
          <a:rPr lang="ko-KR" altLang="en-US"/>
          <a:t>링크 추가 요망</a:t>
        </a:r>
      </a:p>
    </p188:txBody>
  </p188:cm>
  <p188:cm id="{1684E20A-50CC-431F-9BFE-24BA92530F1C}" authorId="{0A894E26-C7D1-BA6A-00B6-2540C16AE08A}" created="2026-10-01T05:53:35.091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3567434511" sldId="263"/>
      <ac:graphicFrameMk id="3" creationId="{E58BE641-8A71-9769-BD56-6DD91C7FDEAA}"/>
      <ac:tblMk/>
      <ac:tcMk rowId="3471127830" colId="4224328845"/>
      <ac:txMk cp="22" len="12">
        <ac:context len="150" hash="126748399"/>
      </ac:txMk>
    </ac:txMkLst>
    <p188:pos x="3269631" y="3015008"/>
    <p188:txBody>
      <a:bodyPr/>
      <a:lstStyle/>
      <a:p>
        <a:r>
          <a:rPr lang="ko-KR" altLang="en-US"/>
          <a:t>삽입할 파일은 모아서 압축 파일 형태로 전달 부탁드립니다. </a:t>
        </a:r>
      </a:p>
    </p188:txBody>
  </p188:cm>
  <p188:cm id="{EB9B3A5A-A56E-4B03-877E-1ED2E9300DD2}" authorId="{A1F4ACA4-32C5-3A05-D2BC-2194DD035544}" created="2026-10-06T09:29:36.784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3567434511" sldId="263"/>
      <ac:graphicFrameMk id="3" creationId="{E58BE641-8A71-9769-BD56-6DD91C7FDEAA}"/>
      <ac:tblMk/>
      <ac:tcMk rowId="3471127830" colId="4224328845"/>
      <ac:txMk cp="0" len="19">
        <ac:context len="150" hash="126748399"/>
      </ac:txMk>
    </ac:txMkLst>
    <p188:pos x="3726831" y="2790890"/>
    <p188:txBody>
      <a:bodyPr/>
      <a:lstStyle/>
      <a:p>
        <a:r>
          <a:rPr lang="ko-KR" altLang="en-US"/>
          <a:t>첨부파일 3-1</a:t>
        </a:r>
      </a:p>
    </p188:txBody>
  </p188:cm>
  <p188:cm id="{26888672-0294-4132-8AA1-85F6ECE990D4}" authorId="{A1F4ACA4-32C5-3A05-D2BC-2194DD035544}" created="2026-10-06T09:37:31.424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3567434511" sldId="263"/>
      <ac:graphicFrameMk id="3" creationId="{E58BE641-8A71-9769-BD56-6DD91C7FDEAA}"/>
      <ac:tblMk/>
      <ac:tcMk rowId="3471127830" colId="3874952418"/>
      <ac:txMk cp="0" len="17">
        <ac:context len="138" hash="2547299441"/>
      </ac:txMk>
    </ac:txMkLst>
    <p188:pos x="6676220" y="2790890"/>
    <p188:txBody>
      <a:bodyPr/>
      <a:lstStyle/>
      <a:p>
        <a:r>
          <a:rPr lang="ko-KR" altLang="en-US"/>
          <a:t>첨부파일 3-2</a:t>
        </a:r>
      </a:p>
    </p188:txBody>
  </p188:cm>
  <p188:cm id="{404F9EE3-81DF-4BF9-8051-FD10A33993E9}" authorId="{A1F4ACA4-32C5-3A05-D2BC-2194DD035544}" created="2026-10-06T09:37:39.119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3567434511" sldId="263"/>
      <ac:graphicFrameMk id="3" creationId="{E58BE641-8A71-9769-BD56-6DD91C7FDEAA}"/>
      <ac:tblMk/>
      <ac:tcMk rowId="3471127830" colId="24071554"/>
      <ac:txMk cp="0" len="12">
        <ac:context len="158" hash="761871974"/>
      </ac:txMk>
    </ac:txMkLst>
    <p188:pos x="9410455" y="2790890"/>
    <p188:txBody>
      <a:bodyPr/>
      <a:lstStyle/>
      <a:p>
        <a:r>
          <a:rPr lang="ko-KR" altLang="en-US"/>
          <a:t>첨부파일 3-3</a:t>
        </a:r>
      </a:p>
    </p188:txBody>
  </p188:cm>
</p188:cmLst>
</file>

<file path=ppt/comments/modernComment_108_C44DC7BF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5F42EAA7-6553-484B-B32D-F541C6D8C7A6}" authorId="{0A894E26-C7D1-BA6A-00B6-2540C16AE08A}" created="2026-10-01T05:56:15.589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3293431743" sldId="264"/>
      <ac:graphicFrameMk id="5" creationId="{D4D71391-DA32-647F-A34A-8BC2BFA0915C}"/>
      <ac:tblMk/>
      <ac:tcMk rowId="2473776228" colId="4224328845"/>
      <ac:txMk cp="4" len="16">
        <ac:context len="248" hash="3064316387"/>
      </ac:txMk>
    </ac:txMkLst>
    <p188:pos x="3780620" y="4691409"/>
    <p188:txBody>
      <a:bodyPr/>
      <a:lstStyle/>
      <a:p>
        <a:r>
          <a:rPr lang="ko-KR" altLang="en-US"/>
          <a:t>연결 링크를 화장품글로벌규제조화지원센터에 규제 파일이 게스되어 있는 것은 모두 게시글 링크 연결</a:t>
        </a:r>
      </a:p>
    </p188:txBody>
  </p188:cm>
  <p188:cm id="{1425E291-A979-419E-A4D6-BFA4AA7975B8}" authorId="{0A894E26-C7D1-BA6A-00B6-2540C16AE08A}" created="2026-10-01T05:57:06.964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3293431743" sldId="264"/>
      <ac:graphicFrameMk id="5" creationId="{D4D71391-DA32-647F-A34A-8BC2BFA0915C}"/>
    </ac:deMkLst>
    <p188:replyLst>
      <p188:reply id="{F82A09DB-12E3-49E4-ABDD-90DAAD13FE62}" authorId="{0A894E26-C7D1-BA6A-00B6-2540C16AE08A}" created="2026-10-01T05:58:51.911">
        <p188:txBody>
          <a:bodyPr/>
          <a:lstStyle/>
          <a:p>
            <a:r>
              <a:rPr lang="ko-KR" altLang="en-US"/>
              <a:t>양식 파일 추가</a:t>
            </a:r>
          </a:p>
        </p188:txBody>
      </p188:reply>
    </p188:replyLst>
    <p188:txBody>
      <a:bodyPr/>
      <a:lstStyle/>
      <a:p>
        <a:r>
          <a:rPr lang="ko-KR" altLang="en-US"/>
          <a:t>마찬가지로 수정함</a:t>
        </a:r>
      </a:p>
    </p188:txBody>
  </p188:cm>
  <p188:cm id="{DE8960FF-A0E5-4FA6-9384-E012E56BF171}" authorId="{A1F4ACA4-32C5-3A05-D2BC-2194DD035544}" created="2026-10-06T09:43:40.841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3293431743" sldId="264"/>
      <ac:graphicFrameMk id="5" creationId="{D4D71391-DA32-647F-A34A-8BC2BFA0915C}"/>
      <ac:tblMk/>
      <ac:tcMk rowId="3471127830" colId="4224328845"/>
      <ac:txMk cp="64" len="46">
        <ac:context len="269" hash="2818703937"/>
      </ac:txMk>
    </ac:txMkLst>
    <p188:pos x="6042527" y="2220512"/>
    <p188:txBody>
      <a:bodyPr/>
      <a:lstStyle/>
      <a:p>
        <a:r>
          <a:rPr lang="ko-KR" altLang="en-US"/>
          <a:t>첨부파일 3-4</a:t>
        </a:r>
      </a:p>
    </p188:txBody>
  </p188:cm>
  <p188:cm id="{1BFF4F44-8A28-415A-BE95-4C0F9901CA2F}" authorId="{A1F4ACA4-32C5-3A05-D2BC-2194DD035544}" created="2026-10-06T10:02:50.553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3293431743" sldId="264"/>
      <ac:graphicFrameMk id="5" creationId="{D4D71391-DA32-647F-A34A-8BC2BFA0915C}"/>
      <ac:tblMk/>
      <ac:tcMk rowId="3471127830" colId="4203407880"/>
      <ac:txMk cp="27" len="35">
        <ac:context len="195" hash="805686162"/>
      </ac:txMk>
    </ac:txMkLst>
    <p188:pos x="10347827" y="2220512"/>
    <p188:txBody>
      <a:bodyPr/>
      <a:lstStyle/>
      <a:p>
        <a:r>
          <a:rPr lang="ko-KR" altLang="en-US"/>
          <a:t>첨부파일 3-5</a:t>
        </a:r>
      </a:p>
    </p188:txBody>
  </p188:cm>
</p188:cmLst>
</file>

<file path=ppt/comments/modernComment_109_8180DCBA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E1856A49-A639-4017-913D-45E55DD8D12F}" authorId="{A1F4ACA4-32C5-3A05-D2BC-2194DD035544}" status="resolved" created="2026-08-04T09:23:26.947" complete="100000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2172705978" sldId="265"/>
      <ac:graphicFrameMk id="5" creationId="{5A010D71-C422-55B7-5795-102E23034F84}"/>
      <ac:tblMk/>
      <ac:tcMk rowId="3129518004" colId="4224328845"/>
      <ac:txMk cp="141" len="7">
        <ac:context len="152" hash="1471098595"/>
      </ac:txMk>
    </ac:txMkLst>
    <p188:pos x="9974235" y="486962"/>
    <p188:txBody>
      <a:bodyPr/>
      <a:lstStyle/>
      <a:p>
        <a:r>
          <a:rPr lang="ko-KR" altLang="en-US"/>
          <a:t>첨부파일 4-2</a:t>
        </a:r>
      </a:p>
    </p188:txBody>
  </p188:cm>
  <p188:cm id="{EA511F63-B64D-45A3-B19A-7E1AB4B49B13}" authorId="{A1F4ACA4-32C5-3A05-D2BC-2194DD035544}" status="resolved" created="2026-08-04T09:23:35.397" complete="100000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2172705978" sldId="265"/>
      <ac:graphicFrameMk id="5" creationId="{5A010D71-C422-55B7-5795-102E23034F84}"/>
      <ac:tblMk/>
      <ac:tcMk rowId="3129518004" colId="4224328845"/>
      <ac:txMk cp="126" len="4">
        <ac:context len="152" hash="1471098595"/>
      </ac:txMk>
    </ac:txMkLst>
    <p188:pos x="8026902" y="486962"/>
    <p188:txBody>
      <a:bodyPr/>
      <a:lstStyle/>
      <a:p>
        <a:r>
          <a:rPr lang="ko-KR" altLang="en-US"/>
          <a:t>첨부파일 4-1</a:t>
        </a:r>
      </a:p>
    </p188:txBody>
  </p188:cm>
  <p188:cm id="{0310DF02-329C-47B8-8CBD-3BB8E7A4D74B}" authorId="{A1F4ACA4-32C5-3A05-D2BC-2194DD035544}" status="resolved" created="2026-08-04T09:23:56.935" complete="100000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2172705978" sldId="265"/>
      <ac:graphicFrameMk id="5" creationId="{5A010D71-C422-55B7-5795-102E23034F84}"/>
      <ac:tblMk/>
      <ac:tcMk rowId="3471127830" colId="4224328845"/>
      <ac:txMk cp="25" len="14">
        <ac:context len="110" hash="4226019070"/>
      </ac:txMk>
    </ac:txMkLst>
    <p188:pos x="2616702" y="2019429"/>
    <p188:txBody>
      <a:bodyPr/>
      <a:lstStyle/>
      <a:p>
        <a:r>
          <a:rPr lang="ko-KR" altLang="en-US"/>
          <a:t>첨부파일 4-3</a:t>
        </a:r>
      </a:p>
    </p188:txBody>
  </p188:cm>
  <p188:cm id="{0E79C7FB-C70A-4355-A297-8863E2AF4F1A}" authorId="{A1F4ACA4-32C5-3A05-D2BC-2194DD035544}" status="resolved" created="2026-08-04T09:24:05.324" complete="100000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2172705978" sldId="265"/>
      <ac:graphicFrameMk id="5" creationId="{5A010D71-C422-55B7-5795-102E23034F84}"/>
      <ac:tblMk/>
      <ac:tcMk rowId="3471127830" colId="4224328845"/>
      <ac:txMk cp="40" len="7">
        <ac:context len="110" hash="4226019070"/>
      </ac:txMk>
    </ac:txMkLst>
    <p188:pos x="2472769" y="2248029"/>
    <p188:txBody>
      <a:bodyPr/>
      <a:lstStyle/>
      <a:p>
        <a:r>
          <a:rPr lang="ko-KR" altLang="en-US"/>
          <a:t>첨부파일 4-4</a:t>
        </a:r>
      </a:p>
    </p188:txBody>
  </p188:cm>
  <p188:cm id="{EC209CCF-97F0-49B8-B6C5-0481EB9A7C16}" authorId="{A1F4ACA4-32C5-3A05-D2BC-2194DD035544}" status="resolved" created="2026-08-04T09:24:12.355" complete="100000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2172705978" sldId="265"/>
      <ac:graphicFrameMk id="5" creationId="{5A010D71-C422-55B7-5795-102E23034F84}"/>
      <ac:tblMk/>
      <ac:tcMk rowId="3471127830" colId="4224328845"/>
      <ac:txMk cp="48" len="17">
        <ac:context len="110" hash="4226019070"/>
      </ac:txMk>
    </ac:txMkLst>
    <p188:pos x="3497235" y="2476629"/>
    <p188:txBody>
      <a:bodyPr/>
      <a:lstStyle/>
      <a:p>
        <a:r>
          <a:rPr lang="ko-KR" altLang="en-US"/>
          <a:t>첨부파일 4-5</a:t>
        </a:r>
      </a:p>
    </p188:txBody>
  </p188:cm>
</p188:cmLst>
</file>

<file path=ppt/comments/modernComment_110_2516884E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068C7680-99AC-469D-B7AD-3CD119021DA5}" authorId="{0A894E26-C7D1-BA6A-00B6-2540C16AE08A}" created="2026-10-01T05:59:28.556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622233678" sldId="272"/>
      <ac:graphicFrameMk id="3" creationId="{9A85F40B-6E53-7AF5-40C5-8C12D8120D29}"/>
      <ac:tblMk/>
      <ac:tcMk rowId="1394795657" colId="4123117689"/>
      <ac:txMk cp="67" len="5">
        <ac:context len="452" hash="4217222940"/>
      </ac:txMk>
    </ac:txMkLst>
    <p188:pos x="3750164" y="720044"/>
    <p188:replyLst>
      <p188:reply id="{593B7364-8A7C-4F78-87C3-F22EFE71064C}" authorId="{A1F4ACA4-32C5-3A05-D2BC-2194DD035544}" created="2026-10-06T09:17:28.146">
        <p188:txBody>
          <a:bodyPr/>
          <a:lstStyle/>
          <a:p>
            <a:r>
              <a:rPr lang="ko-KR" altLang="en-US"/>
              <a:t>연결 완료</a:t>
            </a:r>
          </a:p>
        </p188:txBody>
      </p188:reply>
    </p188:replyLst>
    <p188:txBody>
      <a:bodyPr/>
      <a:lstStyle/>
      <a:p>
        <a:r>
          <a:rPr lang="ko-KR" altLang="en-US"/>
          <a:t>법제처 링크 연결</a:t>
        </a:r>
      </a:p>
    </p188:txBody>
  </p188:cm>
  <p188:cm id="{22BD4FCD-ECFA-42EB-ADEB-AFF4013ED261}" authorId="{0A894E26-C7D1-BA6A-00B6-2540C16AE08A}" created="2026-10-01T05:59:34.830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622233678" sldId="272"/>
      <ac:graphicFrameMk id="3" creationId="{9A85F40B-6E53-7AF5-40C5-8C12D8120D29}"/>
      <ac:tblMk/>
      <ac:tcMk rowId="1394795657" colId="4123117689"/>
      <ac:txMk cp="256" len="22">
        <ac:context len="452" hash="4217222940"/>
      </ac:txMk>
    </ac:txMkLst>
    <p188:pos x="4010141" y="2091644"/>
    <p188:replyLst>
      <p188:reply id="{305DFBF7-3426-4725-8991-AD1F6E3021D5}" authorId="{A1F4ACA4-32C5-3A05-D2BC-2194DD035544}" created="2026-10-06T09:17:38.040">
        <p188:txBody>
          <a:bodyPr/>
          <a:lstStyle/>
          <a:p>
            <a:r>
              <a:rPr lang="ko-KR" altLang="en-US"/>
              <a:t>연결 완료</a:t>
            </a:r>
          </a:p>
        </p188:txBody>
      </p188:reply>
    </p188:replyLst>
    <p188:txBody>
      <a:bodyPr/>
      <a:lstStyle/>
      <a:p>
        <a:r>
          <a:rPr lang="ko-KR" altLang="en-US"/>
          <a:t>법제처 링크 연결</a:t>
        </a:r>
      </a:p>
    </p188:txBody>
  </p188:cm>
</p188:cmLst>
</file>

<file path=ppt/comments/modernComment_113_20B91287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258B13E7-8283-4D7F-87E9-6ADA0BF764DD}" authorId="{0A894E26-C7D1-BA6A-00B6-2540C16AE08A}" created="2026-10-01T06:01:16.152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548999815" sldId="275"/>
      <ac:graphicFrameMk id="3" creationId="{0052FD9D-1B51-EA3A-02BC-C0609B2046D1}"/>
      <ac:tblMk/>
      <ac:tcMk rowId="481932382" colId="3896608252"/>
      <ac:txMk cp="0" len="19">
        <ac:context len="523" hash="2317626402"/>
      </ac:txMk>
    </ac:txMkLst>
    <p188:pos x="3684323" y="262844"/>
    <p188:txBody>
      <a:bodyPr/>
      <a:lstStyle/>
      <a:p>
        <a:r>
          <a:rPr lang="ko-KR" altLang="en-US"/>
          <a:t>화장품글로벌규제조화지원센터 링크로 수정함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C0296A-37F5-4486-811F-1F151C3867D4}" type="datetimeFigureOut">
              <a:rPr lang="ko-KR" altLang="en-US" smtClean="0"/>
              <a:t>2026-10-23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223CB24-8E61-43D1-88DB-FA93509BE25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332349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23CB24-8E61-43D1-88DB-FA93509BE251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461705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일본 화장품 수출의 절차는 이러합니다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일본은 </a:t>
            </a:r>
            <a:r>
              <a:rPr lang="en-US" altLang="ko-KR" dirty="0"/>
              <a:t>EU</a:t>
            </a:r>
            <a:r>
              <a:rPr lang="ko-KR" altLang="en-US" dirty="0"/>
              <a:t>와 다르게 독립적인 절차를 </a:t>
            </a:r>
            <a:r>
              <a:rPr lang="ko-KR" altLang="en-US" dirty="0" err="1"/>
              <a:t>가지고있습니다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23CB24-8E61-43D1-88DB-FA93509BE251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4491132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23CB24-8E61-43D1-88DB-FA93509BE251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2370776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2B2671-E877-D5D6-4601-478E3A8FA4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B2B0194-5695-2806-F28B-9A5625B773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CD8871D-D11A-6DE6-3509-3CFEF9063D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2542430-78D4-F427-FD92-5FF669022E5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23CB24-8E61-43D1-88DB-FA93509BE251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3675574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ACF38-7C60-9295-7190-8314B649D5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96AAE99-B908-A88F-04A4-CD8CADB071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934E5E3-A617-B9C7-2F83-FD95B63522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sz="1200" b="1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4E0DF5D-1F02-095A-2939-D645A795F76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23CB24-8E61-43D1-88DB-FA93509BE251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4661376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4EE9F3-F229-908B-5AEF-869AFC3C24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61D6A3F-2018-AB27-DC42-3B9399A2B5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1EA74F9-900F-033F-1D0B-D0AC8910EC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0C19A58-9378-BDC4-75F9-B9005CDB501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23CB24-8E61-43D1-88DB-FA93509BE251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047061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A7A61E-EBF4-E73A-D955-6B64B72BFC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B3CE03C-7258-F9AF-EDFA-DBA7DAB4C9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C7DD7E6-6005-3BEE-4315-C06E5CC636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72B5092-7227-670A-902F-205D595B5D1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23CB24-8E61-43D1-88DB-FA93509BE251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3709269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617AC6-317A-13D5-B290-5E91FA5955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E09E1F7-9157-6589-A163-5730F76C7B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90FA54E-ACC0-CD86-78F0-CF57D7E487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5CB3D76-A809-67D2-7DC6-A8E77248E5E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23CB24-8E61-43D1-88DB-FA93509BE251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228348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16CD2D-5392-3C5A-D0DD-BABAEE512A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B3AE589-E214-1AC2-D012-9E5A7094E5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60C6D50-C7CD-BCB5-3ED4-C2E29DAD1C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66034EF-0F78-AE27-6C55-3F9BB6E6EDE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23CB24-8E61-43D1-88DB-FA93509BE251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9443120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B3C154-A05A-806E-4FEC-26386E4EAC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9980AF5-18B8-304F-05C9-23AEF0C58C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EAB7A41-C97C-88E4-2A6B-A0DA7A5B1D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EFD8C99-80CE-FEC2-F7E5-F6CB1EACC5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23CB24-8E61-43D1-88DB-FA93509BE251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0331650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1227D5-35D5-3111-089F-F0874026C7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3879321-356B-8409-C5E0-4EC53E27C5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9630D17-972D-FFF0-1F57-F4A5AB1E7F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B532290-1D0E-5824-2EFE-C0A3A7DA5F6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23CB24-8E61-43D1-88DB-FA93509BE251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4224460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BE9A3C-4B2D-43DA-0B8C-6023CE0E71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B46733A-84E2-6B47-C6DE-D759358A3E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D6B3639-2656-8005-D570-67ADEBA328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8C26837-CBDC-1AB9-7BDF-CD81DAA9245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23CB24-8E61-43D1-88DB-FA93509BE251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4305241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778A18-4462-9936-9032-911CE06ABB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B1CF91C-DA5E-CE41-22DD-5BBAB769CA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69932DF-63EB-381B-379D-9A0DF7D0A6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7A86923-5A52-3554-2D0D-B29D276A320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23CB24-8E61-43D1-88DB-FA93509BE251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6817170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0FF03E-ED49-447C-995B-D207415A21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312E1E4-5E2C-51CB-21C7-F7F6EBB7E3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B2320A0-3B73-63AA-506D-F29B5DB6F8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9620887-2730-856B-ACC3-4CC7195C32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23CB24-8E61-43D1-88DB-FA93509BE251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946917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6489B2-32D8-68D9-84E4-7288AA4D73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C316C54-763C-0672-5585-0552A99F680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58D1B77-F615-343E-B6D6-AC631165C3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F892C32-BF87-934A-7462-10A2F4DBA98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23CB24-8E61-43D1-88DB-FA93509BE251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452752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C6D875F-BAB8-5C93-2928-688B699454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7D53E41-CB99-5199-4CE4-84EDCE5233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AD247C8-E091-B88F-A502-57553B032B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49678-43C8-418D-B4A1-45DEC8F20186}" type="datetimeFigureOut">
              <a:rPr lang="ko-KR" altLang="en-US" smtClean="0"/>
              <a:t>2026-10-23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A298D7E-4729-3993-8A65-B31458D154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E1724FF-FB37-328E-A2DE-B6E08D9E7B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857005-D781-4E83-835B-1629CDD99A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92695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7946C8-80A0-5B81-FBB6-719E5E6069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22EB2D8-8763-34A6-24FC-F4E8E4A27C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79E46C1-7190-86C5-C648-9FB280DC83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49678-43C8-418D-B4A1-45DEC8F20186}" type="datetimeFigureOut">
              <a:rPr lang="ko-KR" altLang="en-US" smtClean="0"/>
              <a:t>2026-10-23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783F34C-F898-13F3-4F5E-8923162D5E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0D8AB0A-17FD-84BC-6ACE-DD42442FF8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857005-D781-4E83-835B-1629CDD99A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87734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56ACAA7-9DA5-AAB7-1431-5167F6A53A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90116F8-3FCD-05B8-807F-A3A226BE7A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A3EEDED-6FA2-E0FF-519B-048411887F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49678-43C8-418D-B4A1-45DEC8F20186}" type="datetimeFigureOut">
              <a:rPr lang="ko-KR" altLang="en-US" smtClean="0"/>
              <a:t>2026-10-23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9DAF6DF-CC74-9389-3BF7-BDC5AF6485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559DC8C-4E57-027B-CD3D-4B0CBA81E8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857005-D781-4E83-835B-1629CDD99A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4589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9BFA764-4BEA-6099-9EFF-B3FB88D3B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78042AD-8F38-3095-9C73-DD921303E64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513F5D8-C9F3-AE91-EB1C-AFCEA4E6E0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64A1A64-15AC-E047-12CA-EAB2BF03F4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49678-43C8-418D-B4A1-45DEC8F20186}" type="datetimeFigureOut">
              <a:rPr lang="ko-KR" altLang="en-US" smtClean="0"/>
              <a:t>2026-10-23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564B5CA-1F5B-C372-4896-9A0B9D2D05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6FF9928-EF90-2B33-102B-35F53AD2E2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857005-D781-4E83-835B-1629CDD99A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477896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E9F8FFA-2D94-F21E-4220-EB5BF32C7D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B6458E5-3E28-A6CD-0540-D54A6AB70C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61D0E45-E5DA-01F7-9002-245E4A7412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0D69FFE9-4DEB-A05B-06D8-966D3697300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1601E8C7-CFED-115F-B43D-9D5495F2965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BAB29784-E343-B56A-9A40-54156030D1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49678-43C8-418D-B4A1-45DEC8F20186}" type="datetimeFigureOut">
              <a:rPr lang="ko-KR" altLang="en-US" smtClean="0"/>
              <a:t>2026-10-23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6E01ECC4-AF50-1E02-2E3A-F030335C48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181970BA-AAA0-6E8D-626D-470DCB3D0C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857005-D781-4E83-835B-1629CDD99A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59211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19AB843-3EFB-A73F-3F11-1F950CDE50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16D388AB-B3C6-0B15-4441-88E1AB2AE3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49678-43C8-418D-B4A1-45DEC8F20186}" type="datetimeFigureOut">
              <a:rPr lang="ko-KR" altLang="en-US" smtClean="0"/>
              <a:t>2026-10-23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182B8CB-33DC-E5C2-2843-D52F63295A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DCDE1E6-4D17-B87B-8DA0-DE12618B15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857005-D781-4E83-835B-1629CDD99A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49907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74643382-BC93-4A4B-A5D8-E014E3CDA3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49678-43C8-418D-B4A1-45DEC8F20186}" type="datetimeFigureOut">
              <a:rPr lang="ko-KR" altLang="en-US" smtClean="0"/>
              <a:t>2026-10-23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D1495C0-B422-2FFF-4B66-6C75BBD6E6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5C3A6E3-1011-AC53-8B16-995F177180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857005-D781-4E83-835B-1629CDD99A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11034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69DE26C-AD75-B5B6-122E-449E7B6751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D6AD3D6-AC81-AE3B-1BF4-C2B694F9BC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B85AD67-947A-FBD6-DEC1-F9E754777C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7913D56-DCA3-1E26-8401-E4789755C0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49678-43C8-418D-B4A1-45DEC8F20186}" type="datetimeFigureOut">
              <a:rPr lang="ko-KR" altLang="en-US" smtClean="0"/>
              <a:t>2026-10-23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1D858F4-BD94-3788-75EE-86F5917CCE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5593FFC-5367-3921-5F0E-DE2A2049EC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857005-D781-4E83-835B-1629CDD99A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23086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8B5D17E-C962-419F-6CB2-1ACCB20A77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CB7F4866-D8EC-59B6-2469-6EFB869AA6A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6E51D3A-0EB6-D5E4-BAC5-65F401F939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3568017-B4C4-6E5D-AC89-1F4715AA33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49678-43C8-418D-B4A1-45DEC8F20186}" type="datetimeFigureOut">
              <a:rPr lang="ko-KR" altLang="en-US" smtClean="0"/>
              <a:t>2026-10-23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894AC29-534C-B2A0-3265-29F973E38F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EBB1289-A1C9-03BF-C71E-3B01ECD49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857005-D781-4E83-835B-1629CDD99A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85113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7C41219-F7ED-0239-BE15-8B51837274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CD74B3B-2EA2-77E6-BC7A-EF87C73367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1A58B41-0809-63EC-1C09-176E243469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49678-43C8-418D-B4A1-45DEC8F20186}" type="datetimeFigureOut">
              <a:rPr lang="ko-KR" altLang="en-US" smtClean="0"/>
              <a:t>2026-10-23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8D6A076-1003-1D1A-F110-035A38C075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42D095D-7588-3AA9-D264-CD65717184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857005-D781-4E83-835B-1629CDD99A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40223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C9BB902B-06E1-388A-F7AC-94E3C68E92D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D1A6EBF-0175-074D-C2F4-4D6B19FBD5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4AEA5D1-50F8-9938-DC87-6F73C8B75D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49678-43C8-418D-B4A1-45DEC8F20186}" type="datetimeFigureOut">
              <a:rPr lang="ko-KR" altLang="en-US" smtClean="0"/>
              <a:t>2026-10-23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8CC0DD5-9E99-A1A8-1B51-D70EFC7A01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8D4D55B-5BF4-88B2-42CE-3D3EFD6536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857005-D781-4E83-835B-1629CDD99A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768742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E566F1F1-BA6E-5967-D6DB-917D0B0C8C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08D1D2B-4F1D-4D3D-15CA-52CFA0D008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137C7CA-3560-F8E5-C111-89513AE99D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F549678-43C8-418D-B4A1-45DEC8F20186}" type="datetimeFigureOut">
              <a:rPr lang="ko-KR" altLang="en-US" smtClean="0"/>
              <a:t>2026-10-23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87BD641-FF63-0838-78C7-0CF04EE652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6EC7F3F-6F01-3F52-D7D1-70FFE6C7AD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9857005-D781-4E83-835B-1629CDD99A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9202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microsoft.com/office/2018/10/relationships/comments" Target="../comments/modernComment_101_2F90FBA9.xml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03_5D417036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kita.net/board/format/formatDetail.do?postIndex=1863913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06_51FC2C99.xml"/><Relationship Id="rId7" Type="http://schemas.openxmlformats.org/officeDocument/2006/relationships/hyperlink" Target="https://www.jpo.go.jp/system/trademark/madrid/tetuzuki/mado_shutsugan_nagare.html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j-platpat.inpit.go.jp/t1201" TargetMode="External"/><Relationship Id="rId5" Type="http://schemas.openxmlformats.org/officeDocument/2006/relationships/hyperlink" Target="https://www.j-platpat.inpit.go.jp/t0100" TargetMode="External"/><Relationship Id="rId4" Type="http://schemas.openxmlformats.org/officeDocument/2006/relationships/hyperlink" Target="https://www.jpo.go.jp/e/system/professionals/step-by-step-trademark.html?ut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jpo.go.jp/e/system/process/tesuryo/hyou.html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wipo.int/en/web/madrid-system" TargetMode="Externa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hyperlink" Target="https://drive.google.com/file/d/1BTWHMlyWasTyjMxTBCEmafVgGZV2sIq1/view?usp=drive_link" TargetMode="External"/><Relationship Id="rId13" Type="http://schemas.openxmlformats.org/officeDocument/2006/relationships/hyperlink" Target="https://drive.google.com/file/d/1tdknKc-GJy5e_liesJ6zLco7g4kcs5q9/view?usp=drive_link" TargetMode="External"/><Relationship Id="rId3" Type="http://schemas.microsoft.com/office/2018/10/relationships/comments" Target="../comments/modernComment_107_D4A2BB0F.xml"/><Relationship Id="rId7" Type="http://schemas.openxmlformats.org/officeDocument/2006/relationships/hyperlink" Target="https://drive.google.com/file/d/1JeIqdvnKznOwYA-oL7a_RChmAQLzxxr7/view?usp=drive_link" TargetMode="External"/><Relationship Id="rId12" Type="http://schemas.openxmlformats.org/officeDocument/2006/relationships/hyperlink" Target="https://drive.google.com/file/d/1XObh68q9cZ3D9OtgnOdohZbaPZRC0kes/view?usp=drive_link" TargetMode="External"/><Relationship Id="rId17" Type="http://schemas.openxmlformats.org/officeDocument/2006/relationships/hyperlink" Target="https://drive.google.com/file/d/1vMV-E3dR9pe-jbwlz320hQnIyU-0vels/view?usp=drive_link" TargetMode="External"/><Relationship Id="rId2" Type="http://schemas.openxmlformats.org/officeDocument/2006/relationships/notesSlide" Target="../notesSlides/notesSlide7.xml"/><Relationship Id="rId16" Type="http://schemas.openxmlformats.org/officeDocument/2006/relationships/hyperlink" Target="https://drive.google.com/file/d/1zA7L9fgdj5NoklNabRTpYUjLXvK9r9fr/view?usp=drive_link" TargetMode="Externa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drive.google.com/file/d/1KXSVyKW_aV7RByEoVo0XdX5Hl5VyDjMz/view" TargetMode="External"/><Relationship Id="rId11" Type="http://schemas.openxmlformats.org/officeDocument/2006/relationships/hyperlink" Target="https://drive.google.com/file/d/1Tkz-Rz8nP8nvL8VhFWmbnOcjycSz1jvM/view?usp=drive_link" TargetMode="External"/><Relationship Id="rId5" Type="http://schemas.openxmlformats.org/officeDocument/2006/relationships/hyperlink" Target="https://drive.google.com/file/d/17U6PwSzygxUwvXL1lAXO5QVroDD90Hwf/view?usp=drive_link" TargetMode="External"/><Relationship Id="rId15" Type="http://schemas.openxmlformats.org/officeDocument/2006/relationships/hyperlink" Target="https://drive.google.com/file/d/1nUxjuNtwrR5ftZ916DBXiPEflQ0eEFcr/view?usp=drive_link" TargetMode="External"/><Relationship Id="rId10" Type="http://schemas.openxmlformats.org/officeDocument/2006/relationships/hyperlink" Target="https://drive.google.com/file/d/19Ms8FE5wmNX656QM8c-B-0g_qqTrlnZp/view?usp=drive_link" TargetMode="External"/><Relationship Id="rId4" Type="http://schemas.openxmlformats.org/officeDocument/2006/relationships/hyperlink" Target="https://web.fd-shinsei.mhlw.go.jp/download/index.html" TargetMode="External"/><Relationship Id="rId9" Type="http://schemas.openxmlformats.org/officeDocument/2006/relationships/hyperlink" Target="https://drive.google.com/file/d/1MgfOP19AFuXYn-HBEbNO0USoBV6wMHJx/view?usp=drive_link" TargetMode="External"/><Relationship Id="rId14" Type="http://schemas.openxmlformats.org/officeDocument/2006/relationships/hyperlink" Target="https://drive.google.com/file/d/1-dmrTOFg388uzQ8EZ6dqySYj-WFZflhD/view?usp=drive_link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eb.fd-shinsei.mhlw.go.jp/download/index.html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mhlw.go.jp/file/06-Seisakujouhou-11120000-Iyakushokuhinkyoku/keshouhin-standard.pdf" TargetMode="External"/><Relationship Id="rId5" Type="http://schemas.openxmlformats.org/officeDocument/2006/relationships/hyperlink" Target="https://shinsei.e-gov.go.jp/recept/procedure/lists/procedureInformation?_csrf=621bfbd2-359e-45ff-8964-a961beb83905&amp;search=%2Frecept%2Fprocedure%2Flists%2Fsearch&amp;procedureInfo=%2Frecept%2Fprocedure%2Flists%2FprocedureInformation&amp;checkApplyByGroupId=%2Frecept%2Fprocedure%2Flists%2FcheckApplyByGroupId&amp;applyByProcIdOrGroupId=%2Frecept%2Fprocedure%2Flists%2FapplyByProcIdOrGroupId&amp;pagingPath=%2Frecept%2Fprocedure%2Flists%2Fpaging&amp;backView=%2Frecept%2Fprocedure%2Flists%2FbackView&amp;class1Path=%2Frecept%2Fprocedure%2Flists%2Fclass1&amp;class2Path=%2Frecept%2Fprocedure%2Flists%2Fclass2&amp;deleteBookmark=%2Frecept%2Fprocedure%2Flists%2FdeleteBookmark&amp;registBookmark=%2Frecept%2Fprocedure%2Flists%2FregistBookmark&amp;errorPath=%2Frecept%2Fshinsei-system-error%2F&amp;_csrf=621bfbd2-359e-45ff-8964-a961beb83905&amp;pagingType=&amp;pageNum=1&amp;totalPageNum=1&amp;gtaTetCd=495ES00020961&amp;procId=&amp;groupId=&amp;groupName=&amp;urlParameter=&amp;partSignGroupFlag=false&amp;confirmProcedureOKSubmit=false&amp;methodFlag=true&amp;gtaTetName=%E6%A5%AD%E8%80%85%E3%82%B3%E3%83%BC%E3%83%89&amp;officeId=&amp;gtaEveCd=&amp;gtaTbuCd=&amp;gtaTguCd=&amp;pageNum=1&amp;displayNum=20&amp;pageNum=1&amp;DSCTOKEN=" TargetMode="External"/><Relationship Id="rId4" Type="http://schemas.openxmlformats.org/officeDocument/2006/relationships/hyperlink" Target="https://www.pmda.go.jp/review-services/drug-reviews/procedures/0004.html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08_C44DC7BF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helpcosmetic.or.kr/pc/license/license02.php?ptype=view&amp;idx=6014&amp;page=1&amp;code=foreign&amp;searchopt=&amp;searchkey=%EC%8B%A0%EC%B2%AD%EC%97%90%20%EB%8C%80%ED%95%98%EC%97%AC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09_8180DCBA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customs.go.kr/common/nttFileDownload.do?fileKey=075d1443478bbd1b57e2b74ea36937df" TargetMode="External"/></Relationships>
</file>

<file path=ppt/slides/_rels/slide11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10_2516884E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www.law.go.kr/lsSc.do?section=&amp;menuId=1&amp;subMenuId=15&amp;tabMenuId=81&amp;eventGubun=060101&amp;query=%ED%99%94%EC%9E%A5%ED%92%88%EB%B2%95#J30:0" TargetMode="External"/><Relationship Id="rId4" Type="http://schemas.openxmlformats.org/officeDocument/2006/relationships/hyperlink" Target="https://www.law.go.kr/lsSc.do?section=&amp;menuId=1&amp;subMenuId=15&amp;tabMenuId=81&amp;eventGubun=060101&amp;query=%ED%99%94%EC%9E%A5%ED%92%88%EB%B2%95#undefined" TargetMode="Externa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bbs.naccscenter.com/afr/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0B_E46AFC38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13_20B91287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jcia.org/user/common/download/business/ingredients/qdlnl.pdf" TargetMode="External"/><Relationship Id="rId5" Type="http://schemas.openxmlformats.org/officeDocument/2006/relationships/hyperlink" Target="https://www.jcia.org/user/business/ingredients/namelist" TargetMode="External"/><Relationship Id="rId4" Type="http://schemas.openxmlformats.org/officeDocument/2006/relationships/hyperlink" Target="https://helpcosmetic.or.kr/pc/license/license02.php?ptype=view&amp;idx=5757&amp;page=1&amp;code=foreign&amp;searchopt=&amp;searchkey=%EC%9D%BC%EB%B3%B8%20%ED%99%94%EC%9E%A5%ED%92%88%20%ED%91%9C%EC%8B%9C%EC%97%90%20%EA%B4%80%ED%95%9C%20%EA%B3%B5%EC%A0%95%EA%B2%BD%EC%9F%81%EA%B7%9C%EC%95%BD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9609DE6-98AB-F74A-6E1A-702F5B5FE769}"/>
              </a:ext>
            </a:extLst>
          </p:cNvPr>
          <p:cNvSpPr txBox="1"/>
          <p:nvPr/>
        </p:nvSpPr>
        <p:spPr>
          <a:xfrm>
            <a:off x="727248" y="3015646"/>
            <a:ext cx="5788354" cy="6553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800" b="1" dirty="0"/>
              <a:t>일본 화장품 수출 절차</a:t>
            </a:r>
            <a:endParaRPr lang="en-US" altLang="ko-KR" sz="2800" b="1" dirty="0"/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BC1EE082-5763-BBC2-27F9-E9FBDA49A81B}"/>
              </a:ext>
            </a:extLst>
          </p:cNvPr>
          <p:cNvCxnSpPr>
            <a:cxnSpLocks/>
          </p:cNvCxnSpPr>
          <p:nvPr/>
        </p:nvCxnSpPr>
        <p:spPr>
          <a:xfrm>
            <a:off x="831214" y="865238"/>
            <a:ext cx="10529571" cy="0"/>
          </a:xfrm>
          <a:prstGeom prst="line">
            <a:avLst/>
          </a:prstGeom>
          <a:ln w="285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5D09B2F4-242E-2147-7726-E9D9B62CCE4E}"/>
              </a:ext>
            </a:extLst>
          </p:cNvPr>
          <p:cNvCxnSpPr>
            <a:cxnSpLocks/>
          </p:cNvCxnSpPr>
          <p:nvPr/>
        </p:nvCxnSpPr>
        <p:spPr>
          <a:xfrm>
            <a:off x="831213" y="5963264"/>
            <a:ext cx="10529571" cy="0"/>
          </a:xfrm>
          <a:prstGeom prst="line">
            <a:avLst/>
          </a:prstGeom>
          <a:ln w="190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257047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5D2FBC-0B1A-6851-C7D7-07C8FC8A17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4CC7D37-5200-538A-9716-EAF5C42F5E77}"/>
              </a:ext>
            </a:extLst>
          </p:cNvPr>
          <p:cNvSpPr txBox="1"/>
          <p:nvPr/>
        </p:nvSpPr>
        <p:spPr>
          <a:xfrm>
            <a:off x="468066" y="528935"/>
            <a:ext cx="87212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>
                <a:solidFill>
                  <a:srgbClr val="0070C0"/>
                </a:solidFill>
                <a:latin typeface="+mn-ea"/>
              </a:rPr>
              <a:t>일본 화장품 수출 규제 주요 절차</a:t>
            </a:r>
            <a:endParaRPr lang="en-US" altLang="ko-KR" sz="2000" b="1" dirty="0">
              <a:solidFill>
                <a:srgbClr val="0070C0"/>
              </a:solidFill>
              <a:latin typeface="+mn-ea"/>
            </a:endParaRPr>
          </a:p>
        </p:txBody>
      </p:sp>
      <p:cxnSp>
        <p:nvCxnSpPr>
          <p:cNvPr id="36" name="직선 연결선 35">
            <a:extLst>
              <a:ext uri="{FF2B5EF4-FFF2-40B4-BE49-F238E27FC236}">
                <a16:creationId xmlns:a16="http://schemas.microsoft.com/office/drawing/2014/main" id="{65DE328D-7EF7-243B-58B1-7986AF8FB02B}"/>
              </a:ext>
            </a:extLst>
          </p:cNvPr>
          <p:cNvCxnSpPr>
            <a:stCxn id="37" idx="1"/>
            <a:endCxn id="41" idx="3"/>
          </p:cNvCxnSpPr>
          <p:nvPr/>
        </p:nvCxnSpPr>
        <p:spPr>
          <a:xfrm flipV="1">
            <a:off x="1258418" y="3168156"/>
            <a:ext cx="9639177" cy="802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7" name="그림 36" descr="image.png">
            <a:extLst>
              <a:ext uri="{FF2B5EF4-FFF2-40B4-BE49-F238E27FC236}">
                <a16:creationId xmlns:a16="http://schemas.microsoft.com/office/drawing/2014/main" id="{F5BABE82-B9C2-64E7-4C1C-58C588C299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58418" y="2838042"/>
            <a:ext cx="676275" cy="676275"/>
          </a:xfrm>
          <a:prstGeom prst="rect">
            <a:avLst/>
          </a:prstGeom>
        </p:spPr>
      </p:pic>
      <p:pic>
        <p:nvPicPr>
          <p:cNvPr id="38" name="그림 37" descr="image.png">
            <a:extLst>
              <a:ext uri="{FF2B5EF4-FFF2-40B4-BE49-F238E27FC236}">
                <a16:creationId xmlns:a16="http://schemas.microsoft.com/office/drawing/2014/main" id="{F8B0D134-FA86-31C3-84C2-2413CE4D22E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28660" y="2838040"/>
            <a:ext cx="676275" cy="676275"/>
          </a:xfrm>
          <a:prstGeom prst="rect">
            <a:avLst/>
          </a:prstGeom>
        </p:spPr>
      </p:pic>
      <p:pic>
        <p:nvPicPr>
          <p:cNvPr id="39" name="그림 38" descr="image.png">
            <a:extLst>
              <a:ext uri="{FF2B5EF4-FFF2-40B4-BE49-F238E27FC236}">
                <a16:creationId xmlns:a16="http://schemas.microsoft.com/office/drawing/2014/main" id="{BD3463EC-A985-5078-C84D-F4E24E3E278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92880" y="2838040"/>
            <a:ext cx="676275" cy="676275"/>
          </a:xfrm>
          <a:prstGeom prst="rect">
            <a:avLst/>
          </a:prstGeom>
        </p:spPr>
      </p:pic>
      <p:pic>
        <p:nvPicPr>
          <p:cNvPr id="40" name="그림 39" descr="image.png">
            <a:extLst>
              <a:ext uri="{FF2B5EF4-FFF2-40B4-BE49-F238E27FC236}">
                <a16:creationId xmlns:a16="http://schemas.microsoft.com/office/drawing/2014/main" id="{928A5AC3-8AAB-E3ED-DF6A-AD3575521A3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57100" y="2834029"/>
            <a:ext cx="676275" cy="676275"/>
          </a:xfrm>
          <a:prstGeom prst="rect">
            <a:avLst/>
          </a:prstGeom>
        </p:spPr>
      </p:pic>
      <p:pic>
        <p:nvPicPr>
          <p:cNvPr id="41" name="그림 40" descr="image.png">
            <a:extLst>
              <a:ext uri="{FF2B5EF4-FFF2-40B4-BE49-F238E27FC236}">
                <a16:creationId xmlns:a16="http://schemas.microsoft.com/office/drawing/2014/main" id="{DD2C18F0-4C79-36DB-7BB4-14CD8312890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221320" y="2830018"/>
            <a:ext cx="676275" cy="67627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7FB3362-89A1-5352-81BE-13FBEA4DFE7F}"/>
              </a:ext>
            </a:extLst>
          </p:cNvPr>
          <p:cNvSpPr txBox="1"/>
          <p:nvPr/>
        </p:nvSpPr>
        <p:spPr>
          <a:xfrm>
            <a:off x="548905" y="3628652"/>
            <a:ext cx="209279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ko-KR" altLang="en-US" sz="1400" b="1" dirty="0">
                <a:effectLst/>
                <a:latin typeface="+mn-ea"/>
              </a:rPr>
              <a:t>수출 계약 및 상표등록</a:t>
            </a:r>
            <a:endParaRPr lang="ko-KR" altLang="ko-KR" sz="1400" b="1" dirty="0">
              <a:effectLst/>
              <a:latin typeface="+mn-e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0CDAB86-61EA-F351-784E-E59DB8A713FD}"/>
              </a:ext>
            </a:extLst>
          </p:cNvPr>
          <p:cNvSpPr txBox="1"/>
          <p:nvPr/>
        </p:nvSpPr>
        <p:spPr>
          <a:xfrm>
            <a:off x="2901056" y="3628652"/>
            <a:ext cx="173451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ko-KR" altLang="en-US" sz="1400" b="1" dirty="0">
                <a:latin typeface="+mn-ea"/>
              </a:rPr>
              <a:t>제조</a:t>
            </a:r>
            <a:r>
              <a:rPr lang="ko-KR" altLang="en-US" sz="1400" b="1" dirty="0">
                <a:effectLst/>
                <a:latin typeface="+mn-ea"/>
              </a:rPr>
              <a:t>판매업자 선임</a:t>
            </a:r>
            <a:endParaRPr lang="ko-KR" altLang="ko-KR" sz="1400" b="1" dirty="0">
              <a:effectLst/>
              <a:latin typeface="+mn-ea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F365672-D904-EADB-9341-30664BA180F8}"/>
              </a:ext>
            </a:extLst>
          </p:cNvPr>
          <p:cNvSpPr txBox="1"/>
          <p:nvPr/>
        </p:nvSpPr>
        <p:spPr>
          <a:xfrm>
            <a:off x="7526648" y="3626293"/>
            <a:ext cx="153717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ko-KR" altLang="en-US" sz="1400" b="1" dirty="0">
                <a:effectLst/>
                <a:latin typeface="+mn-ea"/>
              </a:rPr>
              <a:t>수출통관</a:t>
            </a:r>
            <a:r>
              <a:rPr lang="en-US" altLang="ko-KR" sz="1400" b="1" dirty="0">
                <a:effectLst/>
                <a:latin typeface="+mn-ea"/>
              </a:rPr>
              <a:t>/</a:t>
            </a:r>
            <a:r>
              <a:rPr lang="ko-KR" altLang="en-US" sz="1400" b="1" dirty="0">
                <a:effectLst/>
                <a:latin typeface="+mn-ea"/>
              </a:rPr>
              <a:t>선적</a:t>
            </a:r>
            <a:endParaRPr lang="ko-KR" altLang="ko-KR" sz="1400" b="1" dirty="0">
              <a:effectLst/>
              <a:latin typeface="+mn-ea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C756D04-CF8D-4AB2-C8E0-9F763C78BC3F}"/>
              </a:ext>
            </a:extLst>
          </p:cNvPr>
          <p:cNvSpPr txBox="1"/>
          <p:nvPr/>
        </p:nvSpPr>
        <p:spPr>
          <a:xfrm>
            <a:off x="9420330" y="3626292"/>
            <a:ext cx="227567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ko-KR" altLang="en-US" sz="1400" b="1" dirty="0">
                <a:effectLst/>
                <a:latin typeface="+mn-ea"/>
              </a:rPr>
              <a:t>현지통관</a:t>
            </a:r>
            <a:br>
              <a:rPr lang="en-US" altLang="ko-KR" sz="1400" b="1" dirty="0">
                <a:effectLst/>
                <a:latin typeface="+mn-ea"/>
              </a:rPr>
            </a:br>
            <a:r>
              <a:rPr lang="ko-KR" altLang="en-US" sz="1400" b="1" dirty="0" err="1">
                <a:effectLst/>
                <a:latin typeface="+mn-ea"/>
              </a:rPr>
              <a:t>라벨링</a:t>
            </a:r>
            <a:r>
              <a:rPr lang="ko-KR" altLang="en-US" sz="1400" b="1" dirty="0">
                <a:effectLst/>
                <a:latin typeface="+mn-ea"/>
              </a:rPr>
              <a:t> 규정</a:t>
            </a:r>
            <a:endParaRPr lang="ko-KR" altLang="ko-KR" sz="1400" b="1" dirty="0">
              <a:effectLst/>
              <a:latin typeface="+mn-ea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A2910FD-CA97-52E3-FA19-94F1D0542DA8}"/>
              </a:ext>
            </a:extLst>
          </p:cNvPr>
          <p:cNvSpPr txBox="1"/>
          <p:nvPr/>
        </p:nvSpPr>
        <p:spPr>
          <a:xfrm>
            <a:off x="5077160" y="3634313"/>
            <a:ext cx="190771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ko-KR" altLang="en-US" sz="1400" b="1" dirty="0">
                <a:latin typeface="+mn-ea"/>
              </a:rPr>
              <a:t>화장품 제조판매 신고 성분 심사</a:t>
            </a:r>
            <a:endParaRPr lang="ko-KR" altLang="ko-KR" sz="1400" b="1" dirty="0">
              <a:effectLst/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798030761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CF7ACC-B461-3E59-D2A7-855FA514DA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02105134-4194-C6D1-D94E-2778D40821A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009443"/>
              </p:ext>
            </p:extLst>
          </p:nvPr>
        </p:nvGraphicFramePr>
        <p:xfrm>
          <a:off x="405898" y="1308380"/>
          <a:ext cx="11178501" cy="456712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74093">
                  <a:extLst>
                    <a:ext uri="{9D8B030D-6E8A-4147-A177-3AD203B41FA5}">
                      <a16:colId xmlns:a16="http://schemas.microsoft.com/office/drawing/2014/main" val="3376188853"/>
                    </a:ext>
                  </a:extLst>
                </a:gridCol>
                <a:gridCol w="9604408">
                  <a:extLst>
                    <a:ext uri="{9D8B030D-6E8A-4147-A177-3AD203B41FA5}">
                      <a16:colId xmlns:a16="http://schemas.microsoft.com/office/drawing/2014/main" val="4224328845"/>
                    </a:ext>
                  </a:extLst>
                </a:gridCol>
              </a:tblGrid>
              <a:tr h="80643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설명 또는 정의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0"/>
                      <a:r>
                        <a:rPr lang="ko-KR" altLang="en-US" sz="1000" dirty="0"/>
                        <a:t>한국 수출자와 일본 </a:t>
                      </a:r>
                      <a:r>
                        <a:rPr lang="ko-KR" altLang="en-US" sz="1000" dirty="0" err="1"/>
                        <a:t>수입자</a:t>
                      </a:r>
                      <a:r>
                        <a:rPr lang="ko-KR" altLang="en-US" sz="1000" dirty="0"/>
                        <a:t> 간의 국제매매계약 </a:t>
                      </a:r>
                      <a:r>
                        <a:rPr lang="en-US" altLang="ko-KR" sz="1000" dirty="0"/>
                        <a:t>(</a:t>
                      </a:r>
                      <a:r>
                        <a:rPr lang="ko-KR" altLang="en-US" sz="1000" dirty="0"/>
                        <a:t>화장품 및 </a:t>
                      </a:r>
                      <a:r>
                        <a:rPr lang="ko-KR" altLang="en-US" sz="1000" dirty="0" err="1"/>
                        <a:t>의약부외품의</a:t>
                      </a:r>
                      <a:r>
                        <a:rPr lang="ko-KR" altLang="en-US" sz="1000" dirty="0"/>
                        <a:t> 수출 목적</a:t>
                      </a:r>
                      <a:r>
                        <a:rPr lang="en-US" altLang="ko-KR" sz="1000" dirty="0"/>
                        <a:t>)</a:t>
                      </a:r>
                      <a:endParaRPr lang="en-US" altLang="ko-KR" sz="1000" b="0" i="1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29518004"/>
                  </a:ext>
                </a:extLst>
              </a:tr>
              <a:tr h="80643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계약 방식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0">
                        <a:lnSpc>
                          <a:spcPct val="150000"/>
                        </a:lnSpc>
                      </a:pP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계약 전 제품 전성분표 정리 및 </a:t>
                      </a:r>
                      <a:r>
                        <a:rPr lang="ko-KR" altLang="en-US" sz="10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스크리닝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필요서류들을 준비하여 수입업체 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또는 제조판매업자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(MAH; Marketing Authorization Holder))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와 계약</a:t>
                      </a:r>
                      <a:endParaRPr lang="en-US" altLang="ko-KR" sz="10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49504629"/>
                  </a:ext>
                </a:extLst>
              </a:tr>
              <a:tr h="80643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계약서 서식 참고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0">
                        <a:lnSpc>
                          <a:spcPct val="150000"/>
                        </a:lnSpc>
                      </a:pP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*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한국무역협회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4"/>
                        </a:rPr>
                        <a:t>통합무역정보서비스 수출대행계약서 국문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4"/>
                        </a:rPr>
                        <a:t>,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4"/>
                        </a:rPr>
                        <a:t>영문</a:t>
                      </a:r>
                      <a:endParaRPr lang="en-US" altLang="ko-KR" sz="10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71127830"/>
                  </a:ext>
                </a:extLst>
              </a:tr>
              <a:tr h="131255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절차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0"/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전체 과정 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</a:p>
                    <a:p>
                      <a:pPr latinLnBrk="0"/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계약 전 성분 및 서류 준비 → 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MAH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허가 취득 → 수출대행계약 → 외국제조업자 신고 → 품목별 제조판매 신고 및 승인 → 수입 신고 → 현지 통관 및 </a:t>
                      </a:r>
                      <a:r>
                        <a:rPr lang="ko-KR" altLang="en-US" sz="10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라벨링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검토</a:t>
                      </a:r>
                      <a:endParaRPr lang="en-US" altLang="ko-KR" sz="10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atinLnBrk="0"/>
                      <a:endParaRPr lang="en-US" altLang="ko-KR" sz="10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atinLnBrk="0"/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(1)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수출의뢰인 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수출대행계약서 작성 → 외국제조업자 신청 </a:t>
                      </a:r>
                      <a:endParaRPr lang="en-US" altLang="ko-KR" sz="10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atinLnBrk="0"/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(2)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수출대행인 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수출대행계약서 작성 → 수출수입 및 현지통관</a:t>
                      </a:r>
                      <a:endParaRPr lang="en-US" altLang="ko-KR" sz="10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atinLnBrk="0"/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(3)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일본 내 제품유통업자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(MAH)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제조판매업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제조업 허가 신청 →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허가증 교부 →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품목별 제조판매 신고 → 승인 신청</a:t>
                      </a:r>
                      <a:endParaRPr lang="en-US" altLang="ko-KR" sz="10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04222730"/>
                  </a:ext>
                </a:extLst>
              </a:tr>
              <a:tr h="83526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주의사항</a:t>
                      </a:r>
                      <a:endParaRPr lang="en-US" altLang="ko-KR" sz="1200" b="1" dirty="0"/>
                    </a:p>
                    <a:p>
                      <a:pPr algn="ctr" latinLnBrk="1"/>
                      <a:r>
                        <a:rPr lang="ko-KR" altLang="en-US" sz="1200" b="1" dirty="0"/>
                        <a:t>또는</a:t>
                      </a:r>
                      <a:endParaRPr lang="en-US" altLang="ko-KR" sz="1200" b="1" dirty="0"/>
                    </a:p>
                    <a:p>
                      <a:pPr algn="ctr" latinLnBrk="1"/>
                      <a:r>
                        <a:rPr lang="ko-KR" altLang="en-US" sz="1200" b="1" dirty="0"/>
                        <a:t>확인사항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28600" indent="-228600" latinLnBrk="0">
                        <a:buAutoNum type="arabicParenBoth"/>
                      </a:pPr>
                      <a:r>
                        <a:rPr lang="ko-KR" altLang="ko-KR" sz="1000" b="0" dirty="0">
                          <a:solidFill>
                            <a:schemeClr val="tx1"/>
                          </a:solidFill>
                        </a:rPr>
                        <a:t>수출대행인을 통해 나가더라도, 일본 측에 반드시 별도의 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제조</a:t>
                      </a:r>
                      <a:r>
                        <a:rPr lang="ko-KR" altLang="ko-KR" sz="1000" b="0" dirty="0">
                          <a:solidFill>
                            <a:schemeClr val="tx1"/>
                          </a:solidFill>
                        </a:rPr>
                        <a:t>판매업자(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MAH</a:t>
                      </a:r>
                      <a:r>
                        <a:rPr lang="ko-KR" altLang="ko-KR" sz="1000" b="0" dirty="0">
                          <a:solidFill>
                            <a:schemeClr val="tx1"/>
                          </a:solidFill>
                        </a:rPr>
                        <a:t>)를 확보</a:t>
                      </a:r>
                      <a:endParaRPr lang="en-US" altLang="ko-KR" sz="1000" b="0" dirty="0">
                        <a:solidFill>
                          <a:schemeClr val="tx1"/>
                        </a:solidFill>
                      </a:endParaRPr>
                    </a:p>
                    <a:p>
                      <a:pPr marL="228600" indent="-228600" latinLnBrk="0">
                        <a:buAutoNum type="arabicParenBoth"/>
                      </a:pP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MAH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는 제조판매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제조업 허가증을 보유하고 있어야 함</a:t>
                      </a:r>
                      <a:endParaRPr lang="en-US" altLang="ko-KR" sz="10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73776228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13B3C984-187A-EB7A-B445-0267D5A65D12}"/>
              </a:ext>
            </a:extLst>
          </p:cNvPr>
          <p:cNvSpPr txBox="1"/>
          <p:nvPr/>
        </p:nvSpPr>
        <p:spPr>
          <a:xfrm>
            <a:off x="325826" y="339047"/>
            <a:ext cx="87212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solidFill>
                  <a:srgbClr val="0070C0"/>
                </a:solidFill>
                <a:latin typeface="+mn-ea"/>
              </a:rPr>
              <a:t>01. </a:t>
            </a:r>
            <a:r>
              <a:rPr lang="ko-KR" altLang="en-US" sz="2000" b="1" dirty="0">
                <a:solidFill>
                  <a:srgbClr val="0070C0"/>
                </a:solidFill>
                <a:latin typeface="+mn-ea"/>
              </a:rPr>
              <a:t>수출계약 및 상표등록</a:t>
            </a:r>
            <a:endParaRPr lang="en-US" altLang="ko-KR" sz="2000" b="1" dirty="0">
              <a:solidFill>
                <a:srgbClr val="0070C0"/>
              </a:solidFill>
              <a:latin typeface="+mn-ea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044B3D0-2B7F-A332-CBAF-727D49FC2487}"/>
              </a:ext>
            </a:extLst>
          </p:cNvPr>
          <p:cNvSpPr txBox="1"/>
          <p:nvPr/>
        </p:nvSpPr>
        <p:spPr>
          <a:xfrm>
            <a:off x="325825" y="869880"/>
            <a:ext cx="87212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 dirty="0">
                <a:latin typeface="+mn-ea"/>
              </a:rPr>
              <a:t>수출계약</a:t>
            </a:r>
            <a:endParaRPr lang="en-US" altLang="ko-KR" sz="1400" b="1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564569654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D12D1C-72C7-2F9F-69D2-6428976205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CB5007DA-8D58-5901-4860-32FB3594DA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7863041"/>
              </p:ext>
            </p:extLst>
          </p:nvPr>
        </p:nvGraphicFramePr>
        <p:xfrm>
          <a:off x="405898" y="1341838"/>
          <a:ext cx="11178501" cy="397133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74093">
                  <a:extLst>
                    <a:ext uri="{9D8B030D-6E8A-4147-A177-3AD203B41FA5}">
                      <a16:colId xmlns:a16="http://schemas.microsoft.com/office/drawing/2014/main" val="3376188853"/>
                    </a:ext>
                  </a:extLst>
                </a:gridCol>
                <a:gridCol w="4802204">
                  <a:extLst>
                    <a:ext uri="{9D8B030D-6E8A-4147-A177-3AD203B41FA5}">
                      <a16:colId xmlns:a16="http://schemas.microsoft.com/office/drawing/2014/main" val="4224328845"/>
                    </a:ext>
                  </a:extLst>
                </a:gridCol>
                <a:gridCol w="4802204">
                  <a:extLst>
                    <a:ext uri="{9D8B030D-6E8A-4147-A177-3AD203B41FA5}">
                      <a16:colId xmlns:a16="http://schemas.microsoft.com/office/drawing/2014/main" val="1913226920"/>
                    </a:ext>
                  </a:extLst>
                </a:gridCol>
              </a:tblGrid>
              <a:tr h="72527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설명 또는 정의</a:t>
                      </a: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latinLnBrk="0"/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일본은 한국과 동일하게 권리를 먼저 등록한 자에게 독점권을 부여하는 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‘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선출원주의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’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국가이며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먼저 사용한 자보다 먼저 출원한 자가 그 상표에 대한 독점권을 확보</a:t>
                      </a:r>
                      <a:b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*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유통사와의 무역 계약 조율 및 유통 전에 브랜드 자산 보호와 현지 유통업자에 의한 상표 무단 선점 방지를 위해 사전에 일본 특허청에 상표권 확보가 중요</a:t>
                      </a:r>
                      <a:endParaRPr lang="en-US" altLang="ko-KR" sz="10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9518004"/>
                  </a:ext>
                </a:extLst>
              </a:tr>
              <a:tr h="46418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방식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0">
                        <a:lnSpc>
                          <a:spcPct val="150000"/>
                        </a:lnSpc>
                      </a:pP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일본 내 상표 출원</a:t>
                      </a:r>
                      <a:endParaRPr lang="en-US" altLang="ko-KR" sz="10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0">
                        <a:lnSpc>
                          <a:spcPct val="150000"/>
                        </a:lnSpc>
                      </a:pP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국제 상표 출원</a:t>
                      </a:r>
                      <a:endParaRPr lang="en-US" altLang="ko-KR" sz="10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49504629"/>
                  </a:ext>
                </a:extLst>
              </a:tr>
              <a:tr h="44117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기관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0">
                        <a:lnSpc>
                          <a:spcPct val="150000"/>
                        </a:lnSpc>
                      </a:pP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일본 특허청</a:t>
                      </a:r>
                      <a:endParaRPr lang="en-US" altLang="ko-KR" sz="10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0">
                        <a:lnSpc>
                          <a:spcPct val="150000"/>
                        </a:lnSpc>
                      </a:pP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마드리드 시스템에 의한 출원</a:t>
                      </a:r>
                      <a:endParaRPr lang="en-US" altLang="ko-KR" sz="10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17785727"/>
                  </a:ext>
                </a:extLst>
              </a:tr>
              <a:tr h="72527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참고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0"/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4"/>
                        </a:rPr>
                        <a:t>상표 등록 가이드</a:t>
                      </a:r>
                      <a:endParaRPr lang="en-US" altLang="ko-KR" sz="10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0"/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국제출원의 경우 단일한 언어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우리나라 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영어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로 출원서를 작성할 수 있고 여러 국가에 대한 상표 등록 및 관리가 편리하다는 장점이 있으나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집중 공격의 위험이 있어 외국에 비해 국내에서는 활용도가 낮은 편</a:t>
                      </a:r>
                      <a:endParaRPr lang="en-US" altLang="ko-KR" sz="10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71127830"/>
                  </a:ext>
                </a:extLst>
              </a:tr>
              <a:tr h="100158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절차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①일본 내 대리인 선임</a:t>
                      </a:r>
                      <a:endParaRPr lang="en-US" altLang="ko-KR" sz="10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②상표 동일성 및 유사성 검색 </a:t>
                      </a:r>
                      <a:endParaRPr lang="en-US" altLang="ko-KR" sz="10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5"/>
                        </a:rPr>
                        <a:t>https://www.j-platpat.inpit.go.jp/t0100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③</a:t>
                      </a:r>
                      <a:r>
                        <a:rPr lang="ko-KR" altLang="en-US" sz="10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지정상품</a:t>
                      </a:r>
                      <a:r>
                        <a:rPr lang="ko-KR" altLang="ko-KR" sz="1000" dirty="0" err="1"/>
                        <a:t>·</a:t>
                      </a:r>
                      <a:r>
                        <a:rPr lang="ko-KR" altLang="en-US" sz="1000" dirty="0" err="1"/>
                        <a:t>서비스</a:t>
                      </a:r>
                      <a:r>
                        <a:rPr lang="ko-KR" altLang="en-US" sz="1000" dirty="0"/>
                        <a:t> 검색 </a:t>
                      </a:r>
                      <a:endParaRPr lang="en-US" altLang="ko-KR" sz="1000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en-US" altLang="ko-KR" sz="1000" dirty="0">
                          <a:hlinkClick r:id="rId6"/>
                        </a:rPr>
                        <a:t>https://www.j-platpat.inpit.go.jp/t1201</a:t>
                      </a:r>
                      <a:r>
                        <a:rPr lang="en-US" altLang="ko-KR" sz="1000" dirty="0"/>
                        <a:t>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④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출원서 접수 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상표등록 신청서 양식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⑤ JPO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방식 및 실질심사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(6~8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개월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⑥</a:t>
                      </a:r>
                      <a:r>
                        <a:rPr lang="ko-KR" altLang="ko-KR" sz="1000" dirty="0"/>
                        <a:t>등록결정 및 등록료 납부</a:t>
                      </a:r>
                      <a:r>
                        <a:rPr lang="en-US" altLang="ko-KR" sz="1000" dirty="0"/>
                        <a:t>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⑦</a:t>
                      </a:r>
                      <a:r>
                        <a:rPr lang="ko-KR" altLang="ko-KR" sz="1000" dirty="0"/>
                        <a:t>상표권 </a:t>
                      </a:r>
                      <a:r>
                        <a:rPr lang="ko-KR" altLang="ko-KR" sz="1000" dirty="0" err="1"/>
                        <a:t>설정등록·등록증</a:t>
                      </a:r>
                      <a:r>
                        <a:rPr lang="ko-KR" altLang="ko-KR" sz="1000" dirty="0"/>
                        <a:t> 발급</a:t>
                      </a:r>
                      <a:r>
                        <a:rPr lang="en-US" altLang="ko-KR" sz="1000" dirty="0"/>
                        <a:t>(10</a:t>
                      </a:r>
                      <a:r>
                        <a:rPr lang="ko-KR" altLang="en-US" sz="1000" dirty="0"/>
                        <a:t>년 유효</a:t>
                      </a:r>
                      <a:r>
                        <a:rPr lang="en-US" altLang="ko-KR" sz="1000" dirty="0"/>
                        <a:t>)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endParaRPr lang="en-US" altLang="ko-KR" sz="10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atinLnBrk="0"/>
                      <a:endParaRPr lang="en-US" altLang="ko-KR" sz="10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0"/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*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7"/>
                        </a:rPr>
                        <a:t>일본 마드리드 시스템 절차</a:t>
                      </a:r>
                      <a:endParaRPr lang="en-US" altLang="ko-KR" sz="10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atinLnBrk="0"/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①</a:t>
                      </a:r>
                      <a:r>
                        <a:rPr lang="ko-KR" altLang="en-US" sz="10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선등록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검색 </a:t>
                      </a:r>
                      <a:endParaRPr lang="en-US" altLang="ko-KR" sz="10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atinLnBrk="0"/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②국내상표 출원 </a:t>
                      </a:r>
                      <a:endParaRPr lang="en-US" altLang="ko-KR" sz="10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atinLnBrk="0"/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③국제출원서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영문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작성 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–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특허청 제출 </a:t>
                      </a:r>
                      <a:endParaRPr lang="en-US" altLang="ko-KR" sz="10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atinLnBrk="0"/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④</a:t>
                      </a:r>
                      <a:r>
                        <a:rPr lang="ko-KR" altLang="en-US" sz="10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지식재산처</a:t>
                      </a:r>
                      <a:r>
                        <a:rPr lang="en-US" altLang="ko-KR" sz="10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(MOIP)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심사 서류 형식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상표 합치 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국내등록 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–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해외출원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등 </a:t>
                      </a:r>
                      <a:endParaRPr lang="en-US" altLang="ko-KR" sz="10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atinLnBrk="0"/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⑤국제 사무국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(WIPO)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심사 상품분류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수수료 납부 </a:t>
                      </a:r>
                      <a:endParaRPr lang="en-US" altLang="ko-KR" sz="10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atinLnBrk="0"/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⑥국제등록부 등록 및 국제공고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지정국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통지 </a:t>
                      </a:r>
                      <a:endParaRPr lang="en-US" altLang="ko-KR" sz="10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atinLnBrk="0"/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⑦</a:t>
                      </a:r>
                      <a:r>
                        <a:rPr lang="ko-KR" altLang="en-US" sz="10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지정국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실체 심사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(12~14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개월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latinLnBrk="0"/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⑧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등록 통지 </a:t>
                      </a:r>
                      <a:endParaRPr lang="en-US" altLang="ko-KR" sz="10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atinLnBrk="0"/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⑨이의 신청</a:t>
                      </a:r>
                      <a:endParaRPr lang="en-US" altLang="ko-KR" sz="10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04222730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3FFBA179-B4E9-107F-9436-35469F44C353}"/>
              </a:ext>
            </a:extLst>
          </p:cNvPr>
          <p:cNvSpPr txBox="1"/>
          <p:nvPr/>
        </p:nvSpPr>
        <p:spPr>
          <a:xfrm>
            <a:off x="325826" y="339047"/>
            <a:ext cx="87212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solidFill>
                  <a:srgbClr val="0070C0"/>
                </a:solidFill>
                <a:latin typeface="+mn-ea"/>
              </a:rPr>
              <a:t>01. </a:t>
            </a:r>
            <a:r>
              <a:rPr lang="ko-KR" altLang="en-US" sz="2000" b="1" dirty="0">
                <a:solidFill>
                  <a:srgbClr val="0070C0"/>
                </a:solidFill>
                <a:latin typeface="+mn-ea"/>
              </a:rPr>
              <a:t>수출계약 및 상표등록</a:t>
            </a:r>
            <a:endParaRPr lang="en-US" altLang="ko-KR" sz="2000" b="1" dirty="0">
              <a:solidFill>
                <a:srgbClr val="0070C0"/>
              </a:solidFill>
              <a:latin typeface="+mn-ea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F5B7F30-E5F2-A70D-64CF-24CF730C9764}"/>
              </a:ext>
            </a:extLst>
          </p:cNvPr>
          <p:cNvSpPr txBox="1"/>
          <p:nvPr/>
        </p:nvSpPr>
        <p:spPr>
          <a:xfrm>
            <a:off x="325826" y="886609"/>
            <a:ext cx="87212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>
                <a:latin typeface="+mn-ea"/>
              </a:rPr>
              <a:t>상표등록</a:t>
            </a:r>
            <a:endParaRPr lang="en-US" altLang="ko-KR" sz="1400" b="1" dirty="0">
              <a:latin typeface="+mn-e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57D87C4-DEE4-5BFB-D94D-9D730FC8DB87}"/>
              </a:ext>
            </a:extLst>
          </p:cNvPr>
          <p:cNvSpPr txBox="1"/>
          <p:nvPr/>
        </p:nvSpPr>
        <p:spPr>
          <a:xfrm>
            <a:off x="0" y="6596390"/>
            <a:ext cx="1634308" cy="261610"/>
          </a:xfrm>
          <a:prstGeom prst="rect">
            <a:avLst/>
          </a:prstGeom>
          <a:solidFill>
            <a:srgbClr val="FFFF00"/>
          </a:solidFill>
          <a:ln>
            <a:noFill/>
            <a:prstDash val="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ko-KR" altLang="en-US" sz="1100" b="1" dirty="0"/>
              <a:t>다음 페이지에 이어서</a:t>
            </a:r>
            <a:endParaRPr lang="ko-KR" altLang="en-US" sz="1100" dirty="0"/>
          </a:p>
        </p:txBody>
      </p:sp>
    </p:spTree>
    <p:extLst>
      <p:ext uri="{BB962C8B-B14F-4D97-AF65-F5344CB8AC3E}">
        <p14:creationId xmlns:p14="http://schemas.microsoft.com/office/powerpoint/2010/main" val="1375480985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80EFAA-27F7-3715-A7AB-43A9FE3E40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97B2948-C97C-0D7C-2353-1E2E88BE5D06}"/>
              </a:ext>
            </a:extLst>
          </p:cNvPr>
          <p:cNvSpPr txBox="1"/>
          <p:nvPr/>
        </p:nvSpPr>
        <p:spPr>
          <a:xfrm>
            <a:off x="325826" y="339047"/>
            <a:ext cx="87212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solidFill>
                  <a:srgbClr val="0070C0"/>
                </a:solidFill>
                <a:latin typeface="+mn-ea"/>
              </a:rPr>
              <a:t>01. </a:t>
            </a:r>
            <a:r>
              <a:rPr lang="ko-KR" altLang="en-US" sz="2000" b="1" dirty="0">
                <a:solidFill>
                  <a:srgbClr val="0070C0"/>
                </a:solidFill>
                <a:latin typeface="+mn-ea"/>
              </a:rPr>
              <a:t>수출계약 및 상표등록</a:t>
            </a:r>
            <a:endParaRPr lang="en-US" altLang="ko-KR" sz="2000" b="1" dirty="0">
              <a:solidFill>
                <a:srgbClr val="0070C0"/>
              </a:solidFill>
              <a:latin typeface="+mn-ea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7288363-DD84-D6BB-7806-66E8DFB6031D}"/>
              </a:ext>
            </a:extLst>
          </p:cNvPr>
          <p:cNvSpPr txBox="1"/>
          <p:nvPr/>
        </p:nvSpPr>
        <p:spPr>
          <a:xfrm>
            <a:off x="325826" y="886609"/>
            <a:ext cx="87212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>
                <a:latin typeface="+mn-ea"/>
              </a:rPr>
              <a:t>상표등록</a:t>
            </a:r>
            <a:endParaRPr lang="en-US" altLang="ko-KR" sz="1400" b="1" dirty="0">
              <a:latin typeface="+mn-ea"/>
            </a:endParaRP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F79A7933-EAAE-FD32-9DB6-A0A5CEDA71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1271117"/>
              </p:ext>
            </p:extLst>
          </p:nvPr>
        </p:nvGraphicFramePr>
        <p:xfrm>
          <a:off x="392501" y="1341838"/>
          <a:ext cx="11178501" cy="357740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74093">
                  <a:extLst>
                    <a:ext uri="{9D8B030D-6E8A-4147-A177-3AD203B41FA5}">
                      <a16:colId xmlns:a16="http://schemas.microsoft.com/office/drawing/2014/main" val="3622888865"/>
                    </a:ext>
                  </a:extLst>
                </a:gridCol>
                <a:gridCol w="4802204">
                  <a:extLst>
                    <a:ext uri="{9D8B030D-6E8A-4147-A177-3AD203B41FA5}">
                      <a16:colId xmlns:a16="http://schemas.microsoft.com/office/drawing/2014/main" val="493221402"/>
                    </a:ext>
                  </a:extLst>
                </a:gridCol>
                <a:gridCol w="4802204">
                  <a:extLst>
                    <a:ext uri="{9D8B030D-6E8A-4147-A177-3AD203B41FA5}">
                      <a16:colId xmlns:a16="http://schemas.microsoft.com/office/drawing/2014/main" val="3801874156"/>
                    </a:ext>
                  </a:extLst>
                </a:gridCol>
              </a:tblGrid>
              <a:tr h="357740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주의사항</a:t>
                      </a:r>
                      <a:endParaRPr lang="en-US" altLang="ko-KR" sz="1200" b="1" dirty="0"/>
                    </a:p>
                    <a:p>
                      <a:pPr algn="ctr" latinLnBrk="1"/>
                      <a:r>
                        <a:rPr lang="ko-KR" altLang="en-US" sz="1200" b="1" dirty="0"/>
                        <a:t>또는</a:t>
                      </a:r>
                      <a:endParaRPr lang="en-US" altLang="ko-KR" sz="1200" b="1" dirty="0"/>
                    </a:p>
                    <a:p>
                      <a:pPr algn="ctr" latinLnBrk="1"/>
                      <a:r>
                        <a:rPr lang="ko-KR" altLang="en-US" sz="1200" b="1" dirty="0"/>
                        <a:t>확인사항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latinLnBrk="0">
                        <a:buNone/>
                      </a:pPr>
                      <a:r>
                        <a:rPr lang="en-US" altLang="ko-KR" sz="1000" dirty="0"/>
                        <a:t>1. </a:t>
                      </a:r>
                      <a:r>
                        <a:rPr lang="ko-KR" altLang="ko-KR" sz="1000" dirty="0"/>
                        <a:t>일본에 직접 상표 출원을 하고자 하는 경우, 일본에 주소 또는 거소를 둔 대리인을 선임해야 </a:t>
                      </a:r>
                      <a:r>
                        <a:rPr lang="ko-KR" altLang="en-US" sz="1000" dirty="0"/>
                        <a:t>함</a:t>
                      </a:r>
                      <a:endParaRPr lang="en-US" altLang="ko-KR" sz="1000" dirty="0"/>
                    </a:p>
                    <a:p>
                      <a:pPr marL="228600" indent="-228600" latinLnBrk="0">
                        <a:buAutoNum type="arabicPeriod"/>
                      </a:pPr>
                      <a:endParaRPr lang="en-US" altLang="ko-KR" sz="1000" dirty="0"/>
                    </a:p>
                    <a:p>
                      <a:pPr marL="0" indent="0" latinLnBrk="0">
                        <a:buNone/>
                      </a:pPr>
                      <a:endParaRPr lang="en-US" altLang="ko-KR" sz="1000" dirty="0"/>
                    </a:p>
                    <a:p>
                      <a:pPr marL="0" indent="0" latinLnBrk="0">
                        <a:buNone/>
                      </a:pPr>
                      <a:r>
                        <a:rPr lang="en-US" altLang="ko-KR" sz="1000" dirty="0"/>
                        <a:t>2. </a:t>
                      </a:r>
                      <a:r>
                        <a:rPr lang="ko-KR" altLang="ko-KR" sz="1000" dirty="0"/>
                        <a:t>상표를 출원할 때는 상표 </a:t>
                      </a:r>
                      <a:r>
                        <a:rPr lang="ko-KR" altLang="ko-KR" sz="1000" dirty="0" err="1"/>
                        <a:t>자체뿐만</a:t>
                      </a:r>
                      <a:r>
                        <a:rPr lang="ko-KR" altLang="ko-KR" sz="1000" dirty="0"/>
                        <a:t> 아니라, 해당 상표를 사용할 상품 또는 서비스도 지정해야 </a:t>
                      </a:r>
                      <a:r>
                        <a:rPr lang="ko-KR" altLang="en-US" sz="1000" dirty="0"/>
                        <a:t>함</a:t>
                      </a:r>
                      <a:endParaRPr lang="en-US" altLang="ko-KR" sz="1000" dirty="0"/>
                    </a:p>
                    <a:p>
                      <a:pPr marL="0" indent="0" latinLnBrk="0">
                        <a:buNone/>
                      </a:pPr>
                      <a:endParaRPr lang="en-US" altLang="ko-KR" sz="1000" dirty="0"/>
                    </a:p>
                    <a:p>
                      <a:pPr marL="0" indent="0" latinLnBrk="0">
                        <a:buNone/>
                      </a:pP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3.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한글 브랜드 이미지나 중국식 간체자를 그대로 출원 시 현지 식별력 부족으로 거절될 수 있으므로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일본 유통용 영문 및 </a:t>
                      </a:r>
                      <a:r>
                        <a:rPr lang="ko-KR" altLang="en-US" sz="10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카타카나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(katakana)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병기 상표 디자인을 사전에 정비</a:t>
                      </a:r>
                      <a:endParaRPr lang="en-US" altLang="ko-KR" sz="10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indent="0" latinLnBrk="0">
                        <a:buNone/>
                      </a:pPr>
                      <a:endParaRPr lang="en-US" altLang="ko-KR" sz="10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indent="0" latinLnBrk="0">
                        <a:buNone/>
                      </a:pP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4. </a:t>
                      </a:r>
                      <a:r>
                        <a:rPr lang="ko-KR" altLang="en-US" sz="10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신청비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심사비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연회비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등록비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이의제기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항소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재판 등 발생하는 수수료 참고</a:t>
                      </a:r>
                      <a:endParaRPr lang="en-US" altLang="ko-KR" sz="10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indent="0" latinLnBrk="0">
                        <a:buNone/>
                      </a:pP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3"/>
                        </a:rPr>
                        <a:t>   https://www.jpo.go.jp/e/system/process/tesuryo/hyou.html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0"/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국제출원서의 포장 이미지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폰트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색상 등이 국내 상표와 동일하고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상표 적용 범위는 국내상표권 범위보다 같거나 작아야 함</a:t>
                      </a:r>
                    </a:p>
                    <a:p>
                      <a:pPr marL="0" indent="0" latinLnBrk="0">
                        <a:buFont typeface="Arial" panose="020B0604020202020204" pitchFamily="34" charset="0"/>
                        <a:buNone/>
                      </a:pP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*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특허청 ‘합치심사’ 에서 국내상표와 국제출원상표 일치 여부 판단</a:t>
                      </a:r>
                      <a:endParaRPr lang="en-US" altLang="ko-KR" sz="10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indent="0" latinLnBrk="0">
                        <a:buFont typeface="Arial" panose="020B0604020202020204" pitchFamily="34" charset="0"/>
                        <a:buNone/>
                      </a:pPr>
                      <a:endParaRPr lang="ko-KR" altLang="en-US" sz="10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atinLnBrk="0"/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한국 </a:t>
                      </a:r>
                      <a:r>
                        <a:rPr lang="ko-KR" altLang="en-US" sz="10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지식재산처</a:t>
                      </a:r>
                      <a:r>
                        <a:rPr lang="en-US" altLang="ko-KR" sz="10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(MOIP)</a:t>
                      </a:r>
                      <a:r>
                        <a:rPr lang="ko-KR" altLang="en-US" sz="10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수수료와 별도로 국제사무국 수수료를 따로 납부</a:t>
                      </a:r>
                    </a:p>
                    <a:p>
                      <a:pPr marL="0" indent="0" latinLnBrk="0">
                        <a:buFont typeface="Arial" panose="020B0604020202020204" pitchFamily="34" charset="0"/>
                        <a:buNone/>
                      </a:pP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4"/>
                        </a:rPr>
                        <a:t>* WIPO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4"/>
                        </a:rPr>
                        <a:t>마드리드 홈페이지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수수료자동계산기에서 확인</a:t>
                      </a:r>
                      <a:endParaRPr lang="en-US" altLang="ko-KR" sz="10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indent="0" latinLnBrk="0">
                        <a:buFont typeface="Arial" panose="020B0604020202020204" pitchFamily="34" charset="0"/>
                        <a:buNone/>
                      </a:pP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*</a:t>
                      </a:r>
                      <a:r>
                        <a:rPr lang="ko-KR" altLang="ko-KR" sz="1000" dirty="0"/>
                        <a:t>출원 시 1부 수수료(First </a:t>
                      </a:r>
                      <a:r>
                        <a:rPr lang="ko-KR" altLang="ko-KR" sz="1000" dirty="0" err="1"/>
                        <a:t>part</a:t>
                      </a:r>
                      <a:r>
                        <a:rPr lang="ko-KR" altLang="ko-KR" sz="1000" dirty="0"/>
                        <a:t>)를 내고, 향후 일본 특허청 심사를 통과하여 최종 등록될 때 2부 수수료(</a:t>
                      </a:r>
                      <a:r>
                        <a:rPr lang="ko-KR" altLang="ko-KR" sz="1000" dirty="0" err="1"/>
                        <a:t>Second</a:t>
                      </a:r>
                      <a:r>
                        <a:rPr lang="ko-KR" altLang="ko-KR" sz="1000" dirty="0"/>
                        <a:t> </a:t>
                      </a:r>
                      <a:r>
                        <a:rPr lang="ko-KR" altLang="ko-KR" sz="1000" dirty="0" err="1"/>
                        <a:t>part</a:t>
                      </a:r>
                      <a:r>
                        <a:rPr lang="ko-KR" altLang="ko-KR" sz="1000" dirty="0"/>
                        <a:t>)를 </a:t>
                      </a:r>
                      <a:r>
                        <a:rPr lang="ko-KR" altLang="ko-KR" sz="1000" dirty="0" err="1"/>
                        <a:t>WIPO를</a:t>
                      </a:r>
                      <a:r>
                        <a:rPr lang="ko-KR" altLang="ko-KR" sz="1000" dirty="0"/>
                        <a:t> 통해 추가 납부</a:t>
                      </a:r>
                      <a:endParaRPr lang="en-US" altLang="ko-KR" sz="1000" dirty="0"/>
                    </a:p>
                    <a:p>
                      <a:pPr marL="0" indent="0" latinLnBrk="0">
                        <a:buFont typeface="Arial" panose="020B0604020202020204" pitchFamily="34" charset="0"/>
                        <a:buNone/>
                      </a:pPr>
                      <a:endParaRPr lang="ko-KR" altLang="en-US" sz="10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atinLnBrk="0"/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3.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국제 등록일로부터 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년 내 국내 기초출원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등록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의 효력이 소멸*하는 경우 국제 상표출원까지 효력 상실</a:t>
                      </a:r>
                    </a:p>
                    <a:p>
                      <a:pPr marL="0" indent="0" latinLnBrk="0">
                        <a:buFont typeface="Arial" panose="020B0604020202020204" pitchFamily="34" charset="0"/>
                        <a:buNone/>
                      </a:pP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*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자가 본국관청의 기초 출원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등록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을 소멸시켜 국제출원을 </a:t>
                      </a:r>
                      <a:r>
                        <a:rPr lang="ko-KR" altLang="en-US" sz="10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무효화시키는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‘집중공격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’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에 대한 주의 필요</a:t>
                      </a:r>
                      <a:endParaRPr lang="en-US" altLang="ko-KR" sz="10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71450" indent="-171450" latinLnBrk="0">
                        <a:buFont typeface="Arial" panose="020B0604020202020204" pitchFamily="34" charset="0"/>
                        <a:buChar char="•"/>
                      </a:pPr>
                      <a:endParaRPr lang="ko-KR" altLang="en-US" sz="10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atinLnBrk="0"/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4.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한국 </a:t>
                      </a:r>
                      <a:r>
                        <a:rPr lang="ko-KR" altLang="en-US" sz="10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지식재산처</a:t>
                      </a:r>
                      <a:r>
                        <a:rPr lang="en-US" altLang="ko-KR" sz="10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(MOIP)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의 국제출원서 접수 후 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개월 내에 국제사무국이 국제출원서를 접수할 때 한국 </a:t>
                      </a:r>
                      <a:r>
                        <a:rPr lang="ko-KR" altLang="en-US" sz="10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지식재산처</a:t>
                      </a:r>
                      <a:r>
                        <a:rPr lang="en-US" altLang="ko-KR" sz="10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(MOIP)</a:t>
                      </a:r>
                      <a:r>
                        <a:rPr lang="ko-KR" altLang="en-US" sz="10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접수 시점에 국제등록이 된 것으로 간주</a:t>
                      </a:r>
                      <a:endParaRPr lang="en-US" altLang="ko-KR" sz="10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atinLnBrk="0"/>
                      <a:endParaRPr lang="en-US" altLang="ko-KR" sz="10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atinLnBrk="0"/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5. </a:t>
                      </a:r>
                      <a:r>
                        <a:rPr lang="ko-KR" altLang="en-US" sz="10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지정국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실체 </a:t>
                      </a:r>
                      <a:r>
                        <a:rPr lang="ko-KR" altLang="ko-KR" sz="1000" dirty="0"/>
                        <a:t>심사 합격 후 상표 등록 공고가 난 날로부터 </a:t>
                      </a:r>
                      <a:r>
                        <a:rPr lang="ko-KR" altLang="ko-KR" sz="1000" b="0" dirty="0"/>
                        <a:t>2개월 이내에 </a:t>
                      </a:r>
                      <a:r>
                        <a:rPr lang="ko-KR" altLang="ko-KR" sz="1000" dirty="0"/>
                        <a:t>제3자의 이의신청을 접</a:t>
                      </a:r>
                      <a:r>
                        <a:rPr lang="ko-KR" altLang="en-US" sz="1000" dirty="0"/>
                        <a:t>수</a:t>
                      </a:r>
                      <a:endParaRPr lang="en-US" altLang="ko-KR" sz="10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750706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134144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A3A4E2-5739-691A-1A07-C73AF0917B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DC6E0229-3686-5145-6220-2CDA9B3FEF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048990"/>
              </p:ext>
            </p:extLst>
          </p:nvPr>
        </p:nvGraphicFramePr>
        <p:xfrm>
          <a:off x="325826" y="739157"/>
          <a:ext cx="11175294" cy="527888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979084">
                  <a:extLst>
                    <a:ext uri="{9D8B030D-6E8A-4147-A177-3AD203B41FA5}">
                      <a16:colId xmlns:a16="http://schemas.microsoft.com/office/drawing/2014/main" val="4224328845"/>
                    </a:ext>
                  </a:extLst>
                </a:gridCol>
                <a:gridCol w="8196210">
                  <a:extLst>
                    <a:ext uri="{9D8B030D-6E8A-4147-A177-3AD203B41FA5}">
                      <a16:colId xmlns:a16="http://schemas.microsoft.com/office/drawing/2014/main" val="1944886688"/>
                    </a:ext>
                  </a:extLst>
                </a:gridCol>
              </a:tblGrid>
              <a:tr h="757313">
                <a:tc>
                  <a:txBody>
                    <a:bodyPr/>
                    <a:lstStyle/>
                    <a:p>
                      <a:pPr algn="l" latinLnBrk="0"/>
                      <a:r>
                        <a:rPr lang="ko-KR" altLang="en-US" sz="14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제조판매업자 역할</a:t>
                      </a:r>
                      <a:endParaRPr lang="ko-KR" altLang="ko-KR" sz="1400" b="1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0">
                        <a:lnSpc>
                          <a:spcPct val="150000"/>
                        </a:lnSpc>
                      </a:pP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➀ 화장품 안전성 평가 후 출하 승인 및 시장 출시</a:t>
                      </a:r>
                    </a:p>
                    <a:p>
                      <a:pPr latinLnBrk="0">
                        <a:lnSpc>
                          <a:spcPct val="150000"/>
                        </a:lnSpc>
                      </a:pP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➁ 품질관리 수행</a:t>
                      </a:r>
                      <a:endParaRPr lang="en-US" altLang="ko-KR" sz="10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atinLnBrk="0">
                        <a:lnSpc>
                          <a:spcPct val="150000"/>
                        </a:lnSpc>
                      </a:pP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➂ 안전관리 및 부작용 정보 관리</a:t>
                      </a:r>
                      <a:endParaRPr lang="en-US" altLang="ko-KR" sz="10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atinLnBrk="0">
                        <a:lnSpc>
                          <a:spcPct val="150000"/>
                        </a:lnSpc>
                      </a:pP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➃ 제품 회수 및 시정조치 수행 </a:t>
                      </a:r>
                      <a:endParaRPr lang="en-US" altLang="ko-KR" sz="10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atinLnBrk="0">
                        <a:lnSpc>
                          <a:spcPct val="150000"/>
                        </a:lnSpc>
                      </a:pP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➄ 일본 규제기관 대응</a:t>
                      </a:r>
                      <a:endParaRPr lang="en-US" altLang="ko-KR" sz="10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29518004"/>
                  </a:ext>
                </a:extLst>
              </a:tr>
              <a:tr h="757313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 b="1" dirty="0"/>
                        <a:t>제조판매업자 자격 요건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0">
                        <a:lnSpc>
                          <a:spcPct val="150000"/>
                        </a:lnSpc>
                      </a:pP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➀ 일본 내 사업장 보유</a:t>
                      </a:r>
                    </a:p>
                    <a:p>
                      <a:pPr latinLnBrk="0">
                        <a:lnSpc>
                          <a:spcPct val="150000"/>
                        </a:lnSpc>
                      </a:pP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➁ 화장품제조판매업 및 제조업 허가 보유 </a:t>
                      </a:r>
                      <a:endParaRPr lang="en-US" altLang="ko-KR" sz="10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atinLnBrk="0">
                        <a:lnSpc>
                          <a:spcPct val="150000"/>
                        </a:lnSpc>
                      </a:pP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➂ 총괄제조판매책임자 선임</a:t>
                      </a:r>
                      <a:endParaRPr lang="en-US" altLang="ko-KR" sz="10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atinLnBrk="0">
                        <a:lnSpc>
                          <a:spcPct val="150000"/>
                        </a:lnSpc>
                      </a:pP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➃ 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GQP(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품질관리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체계 구축</a:t>
                      </a:r>
                      <a:endParaRPr lang="en-US" altLang="ko-KR" sz="10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atinLnBrk="0">
                        <a:lnSpc>
                          <a:spcPct val="150000"/>
                        </a:lnSpc>
                      </a:pP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➄ 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GVP(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안전관리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체계 구축</a:t>
                      </a:r>
                      <a:endParaRPr lang="en-US" altLang="ko-KR" sz="1000" b="0" i="0" kern="1200" dirty="0">
                        <a:solidFill>
                          <a:srgbClr val="FF0000"/>
                        </a:solidFill>
                        <a:effectLst/>
                        <a:highlight>
                          <a:srgbClr val="FFFF00"/>
                        </a:highlight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49504629"/>
                  </a:ext>
                </a:extLst>
              </a:tr>
              <a:tr h="757313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 b="1" dirty="0"/>
                        <a:t>선정 요령</a:t>
                      </a:r>
                      <a:r>
                        <a:rPr lang="en-US" altLang="ko-KR" sz="1400" b="1" dirty="0"/>
                        <a:t>/</a:t>
                      </a:r>
                      <a:r>
                        <a:rPr lang="ko-KR" altLang="en-US" sz="1400" b="1" dirty="0"/>
                        <a:t>체크포인트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0">
                        <a:lnSpc>
                          <a:spcPct val="150000"/>
                        </a:lnSpc>
                      </a:pP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일본지사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]</a:t>
                      </a:r>
                      <a:endParaRPr lang="ko-KR" altLang="en-US" sz="10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atinLnBrk="0">
                        <a:lnSpc>
                          <a:spcPct val="150000"/>
                        </a:lnSpc>
                      </a:pP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품질관리 및 안전관리 통제권을 본사가 직접 확보하여 수입 유통사를 다변화하기에 용이</a:t>
                      </a:r>
                      <a:endParaRPr lang="en-US" altLang="ko-KR" sz="10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indent="0" latinLnBrk="0">
                        <a:lnSpc>
                          <a:spcPct val="150000"/>
                        </a:lnSpc>
                        <a:buFontTx/>
                        <a:buNone/>
                      </a:pP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일본 현지 허가 인력 채용 및 법인 유지 비용이 높음</a:t>
                      </a:r>
                      <a:endParaRPr lang="en-US" altLang="ko-KR" sz="10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atinLnBrk="0">
                        <a:lnSpc>
                          <a:spcPct val="150000"/>
                        </a:lnSpc>
                      </a:pP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en-US" sz="10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유통사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]</a:t>
                      </a:r>
                      <a:endParaRPr lang="ko-KR" altLang="en-US" sz="10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atinLnBrk="0">
                        <a:lnSpc>
                          <a:spcPct val="150000"/>
                        </a:lnSpc>
                      </a:pP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별도 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MAH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대행 수수료 없이 현지 유통망과 신속하게 연계 가능</a:t>
                      </a:r>
                      <a:endParaRPr lang="en-US" altLang="ko-KR" sz="10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indent="0" latinLnBrk="0">
                        <a:lnSpc>
                          <a:spcPct val="150000"/>
                        </a:lnSpc>
                        <a:buFontTx/>
                        <a:buNone/>
                      </a:pP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</a:t>
                      </a:r>
                      <a:r>
                        <a:rPr lang="ko-KR" altLang="en-US" sz="10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유통사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교체 시 제품 권한 이관 거부 등 독점권 분쟁 리스크가 큼</a:t>
                      </a:r>
                      <a:endParaRPr lang="en-US" altLang="ko-KR" sz="10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atinLnBrk="0">
                        <a:lnSpc>
                          <a:spcPct val="150000"/>
                        </a:lnSpc>
                      </a:pP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전문 대행업체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]</a:t>
                      </a:r>
                      <a:endParaRPr lang="ko-KR" altLang="en-US" sz="10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atinLnBrk="0">
                        <a:lnSpc>
                          <a:spcPct val="150000"/>
                        </a:lnSpc>
                      </a:pP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제품 등록 및 수입 권한을 본사가 유지할 수 있으며 처방 보안에 유리</a:t>
                      </a:r>
                      <a:endParaRPr lang="en-US" altLang="ko-KR" sz="10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atinLnBrk="0">
                        <a:lnSpc>
                          <a:spcPct val="150000"/>
                        </a:lnSpc>
                      </a:pP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</a:t>
                      </a:r>
                      <a:r>
                        <a:rPr lang="ko-KR" altLang="en-US" sz="10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대행료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유지 비용 및 제품당 관리 수수료 발생</a:t>
                      </a:r>
                      <a:endParaRPr lang="ko-KR" altLang="ko-KR" sz="10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17785727"/>
                  </a:ext>
                </a:extLst>
              </a:tr>
              <a:tr h="599440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 b="1" dirty="0"/>
                        <a:t>주의사항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000" dirty="0"/>
                        <a:t>* </a:t>
                      </a:r>
                      <a:r>
                        <a:rPr lang="ko-KR" altLang="ko-KR" sz="1000" dirty="0" err="1"/>
                        <a:t>Amazon이나</a:t>
                      </a:r>
                      <a:r>
                        <a:rPr lang="ko-KR" altLang="ko-KR" sz="1000" dirty="0"/>
                        <a:t> </a:t>
                      </a:r>
                      <a:r>
                        <a:rPr lang="ko-KR" altLang="ko-KR" sz="1000" dirty="0" err="1"/>
                        <a:t>Rakuten과</a:t>
                      </a:r>
                      <a:r>
                        <a:rPr lang="ko-KR" altLang="ko-KR" sz="1000" dirty="0"/>
                        <a:t> 같은 전자상거래 플랫폼을 통해 화장품을 수출하려면 2023년 10월에 개정된 일본의 세관세무관리인 제도</a:t>
                      </a:r>
                      <a:r>
                        <a:rPr lang="ko-KR" altLang="en-US" sz="1000" dirty="0"/>
                        <a:t>에 의해</a:t>
                      </a:r>
                      <a:r>
                        <a:rPr lang="ko-KR" altLang="ko-KR" sz="1000" dirty="0"/>
                        <a:t> 해외 판매자가 일본 내에서 직접 수입자로서 수입신고를 해야 하며, 일본 내에 거점이 없는 경우에는 수입신고와 세관 절차를 대행할 세관사무관리인을 지정</a:t>
                      </a:r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04222730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BC858135-E31B-B85E-F887-DBA2E2E7FBD3}"/>
              </a:ext>
            </a:extLst>
          </p:cNvPr>
          <p:cNvSpPr txBox="1"/>
          <p:nvPr/>
        </p:nvSpPr>
        <p:spPr>
          <a:xfrm>
            <a:off x="325826" y="339047"/>
            <a:ext cx="87212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solidFill>
                  <a:srgbClr val="0070C0"/>
                </a:solidFill>
                <a:latin typeface="+mn-ea"/>
              </a:rPr>
              <a:t>02. </a:t>
            </a:r>
            <a:r>
              <a:rPr lang="ko-KR" altLang="en-US" sz="2000" b="1" dirty="0">
                <a:solidFill>
                  <a:srgbClr val="0070C0"/>
                </a:solidFill>
                <a:latin typeface="+mn-ea"/>
              </a:rPr>
              <a:t>제조판매업자</a:t>
            </a:r>
            <a:r>
              <a:rPr lang="en-US" altLang="ko-KR" sz="2000" b="1" dirty="0">
                <a:solidFill>
                  <a:srgbClr val="0070C0"/>
                </a:solidFill>
                <a:latin typeface="+mn-ea"/>
              </a:rPr>
              <a:t>(MAH)</a:t>
            </a:r>
            <a:r>
              <a:rPr lang="ko-KR" altLang="en-US" sz="2000" b="1" dirty="0">
                <a:solidFill>
                  <a:srgbClr val="0070C0"/>
                </a:solidFill>
                <a:latin typeface="+mn-ea"/>
              </a:rPr>
              <a:t> 선임</a:t>
            </a:r>
            <a:endParaRPr lang="en-US" altLang="ko-KR" sz="2000" b="1" dirty="0">
              <a:solidFill>
                <a:srgbClr val="0070C0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0201614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CDDB79-7145-5424-2FB3-A7D48666F9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A72903B-199B-AD2E-95B0-0280D9C14379}"/>
              </a:ext>
            </a:extLst>
          </p:cNvPr>
          <p:cNvSpPr txBox="1"/>
          <p:nvPr/>
        </p:nvSpPr>
        <p:spPr>
          <a:xfrm>
            <a:off x="325826" y="339047"/>
            <a:ext cx="87212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solidFill>
                  <a:srgbClr val="0070C0"/>
                </a:solidFill>
                <a:latin typeface="+mn-ea"/>
              </a:rPr>
              <a:t>03. </a:t>
            </a:r>
            <a:r>
              <a:rPr lang="ko-KR" altLang="en-US" sz="2000" b="1" dirty="0">
                <a:solidFill>
                  <a:srgbClr val="0070C0"/>
                </a:solidFill>
                <a:latin typeface="+mn-ea"/>
              </a:rPr>
              <a:t>화장품 제조판매 신고 및 성분 심사</a:t>
            </a:r>
            <a:endParaRPr lang="en-US" altLang="ko-KR" sz="2000" b="1" dirty="0">
              <a:solidFill>
                <a:srgbClr val="0070C0"/>
              </a:solidFill>
              <a:latin typeface="+mn-ea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C1C831B-E7D6-4604-2C27-F532A24B0403}"/>
              </a:ext>
            </a:extLst>
          </p:cNvPr>
          <p:cNvSpPr txBox="1"/>
          <p:nvPr/>
        </p:nvSpPr>
        <p:spPr>
          <a:xfrm>
            <a:off x="325826" y="886609"/>
            <a:ext cx="87212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 dirty="0">
                <a:latin typeface="+mn-ea"/>
              </a:rPr>
              <a:t>화장품 제조판매 신고</a:t>
            </a:r>
            <a:endParaRPr lang="en-US" altLang="ko-KR" sz="1400" b="1" dirty="0">
              <a:latin typeface="+mn-ea"/>
            </a:endParaRP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E58BE641-8A71-9769-BD56-6DD91C7FDE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1959651"/>
              </p:ext>
            </p:extLst>
          </p:nvPr>
        </p:nvGraphicFramePr>
        <p:xfrm>
          <a:off x="405898" y="1341839"/>
          <a:ext cx="11178501" cy="48818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74093">
                  <a:extLst>
                    <a:ext uri="{9D8B030D-6E8A-4147-A177-3AD203B41FA5}">
                      <a16:colId xmlns:a16="http://schemas.microsoft.com/office/drawing/2014/main" val="3376188853"/>
                    </a:ext>
                  </a:extLst>
                </a:gridCol>
                <a:gridCol w="3201469">
                  <a:extLst>
                    <a:ext uri="{9D8B030D-6E8A-4147-A177-3AD203B41FA5}">
                      <a16:colId xmlns:a16="http://schemas.microsoft.com/office/drawing/2014/main" val="4224328845"/>
                    </a:ext>
                  </a:extLst>
                </a:gridCol>
                <a:gridCol w="3201470">
                  <a:extLst>
                    <a:ext uri="{9D8B030D-6E8A-4147-A177-3AD203B41FA5}">
                      <a16:colId xmlns:a16="http://schemas.microsoft.com/office/drawing/2014/main" val="3874952418"/>
                    </a:ext>
                  </a:extLst>
                </a:gridCol>
                <a:gridCol w="3201469">
                  <a:extLst>
                    <a:ext uri="{9D8B030D-6E8A-4147-A177-3AD203B41FA5}">
                      <a16:colId xmlns:a16="http://schemas.microsoft.com/office/drawing/2014/main" val="24071554"/>
                    </a:ext>
                  </a:extLst>
                </a:gridCol>
              </a:tblGrid>
              <a:tr h="22084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설명 또는 정의</a:t>
                      </a:r>
                    </a:p>
                  </a:txBody>
                  <a:tcPr anchor="ctr"/>
                </a:tc>
                <a:tc gridSpan="3">
                  <a:txBody>
                    <a:bodyPr/>
                    <a:lstStyle/>
                    <a:p>
                      <a:pPr latinLnBrk="0">
                        <a:lnSpc>
                          <a:spcPct val="150000"/>
                        </a:lnSpc>
                      </a:pPr>
                      <a:r>
                        <a:rPr lang="ko-KR" altLang="ko-KR" sz="1000" dirty="0"/>
                        <a:t>화장품</a:t>
                      </a:r>
                      <a:r>
                        <a:rPr lang="en-US" altLang="ko-KR" sz="1000" dirty="0"/>
                        <a:t> </a:t>
                      </a:r>
                      <a:r>
                        <a:rPr lang="ko-KR" altLang="en-US" sz="1000" dirty="0"/>
                        <a:t>및 </a:t>
                      </a:r>
                      <a:r>
                        <a:rPr lang="ko-KR" altLang="en-US" sz="1000" dirty="0" err="1"/>
                        <a:t>의약부외품</a:t>
                      </a:r>
                      <a:r>
                        <a:rPr lang="ko-KR" altLang="en-US" sz="1000" dirty="0"/>
                        <a:t> </a:t>
                      </a:r>
                      <a:r>
                        <a:rPr lang="ko-KR" altLang="ko-KR" sz="1000" dirty="0"/>
                        <a:t>을 일본으로 수입</a:t>
                      </a:r>
                      <a:r>
                        <a:rPr lang="en-US" altLang="ko-KR" sz="1000" dirty="0"/>
                        <a:t> </a:t>
                      </a:r>
                      <a:r>
                        <a:rPr lang="ko-KR" altLang="en-US" sz="1000" dirty="0"/>
                        <a:t>및 </a:t>
                      </a:r>
                      <a:r>
                        <a:rPr lang="ko-KR" altLang="ko-KR" sz="1000" dirty="0"/>
                        <a:t>판매하기</a:t>
                      </a:r>
                      <a:r>
                        <a:rPr lang="ko-KR" altLang="en-US" sz="1000" dirty="0"/>
                        <a:t> 위한 신고 및 허가</a:t>
                      </a:r>
                      <a:r>
                        <a:rPr lang="en-US" altLang="ko-KR" sz="1000" dirty="0"/>
                        <a:t>/</a:t>
                      </a:r>
                      <a:r>
                        <a:rPr lang="ko-KR" altLang="en-US" sz="1000" dirty="0"/>
                        <a:t>승인 절차</a:t>
                      </a:r>
                      <a:endParaRPr lang="en-US" altLang="ko-KR" sz="10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9518004"/>
                  </a:ext>
                </a:extLst>
              </a:tr>
              <a:tr h="108957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방식</a:t>
                      </a:r>
                    </a:p>
                  </a:txBody>
                  <a:tcPr anchor="ctr"/>
                </a:tc>
                <a:tc gridSpan="3">
                  <a:txBody>
                    <a:bodyPr/>
                    <a:lstStyle/>
                    <a:p>
                      <a:pPr latinLnBrk="0">
                        <a:lnSpc>
                          <a:spcPct val="150000"/>
                        </a:lnSpc>
                      </a:pP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[FD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전자 신청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]</a:t>
                      </a:r>
                    </a:p>
                    <a:p>
                      <a:pPr latinLnBrk="0">
                        <a:lnSpc>
                          <a:spcPct val="150000"/>
                        </a:lnSpc>
                      </a:pP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</a:t>
                      </a:r>
                      <a:r>
                        <a:rPr lang="ko-KR" altLang="ko-KR" sz="1000" dirty="0">
                          <a:solidFill>
                            <a:schemeClr val="tx1"/>
                          </a:solidFill>
                        </a:rPr>
                        <a:t> 후생노동성 FD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ko-KR" sz="1000" dirty="0">
                          <a:solidFill>
                            <a:schemeClr val="tx1"/>
                          </a:solidFill>
                        </a:rPr>
                        <a:t>신청 홈페이지에서 전자신청소프트웨어 무료 </a:t>
                      </a:r>
                      <a:r>
                        <a:rPr lang="ko-KR" altLang="ko-KR" sz="1000" dirty="0" err="1">
                          <a:solidFill>
                            <a:schemeClr val="tx1"/>
                          </a:solidFill>
                          <a:hlinkClick r:id="rId4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다운로드·설치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 (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hlinkClick r:id="rId4"/>
                        </a:rPr>
                        <a:t>https://web.fd-shinsei.mhlw.go.jp/download/index.html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en-US" altLang="ko-KR" sz="10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atinLnBrk="0">
                        <a:lnSpc>
                          <a:spcPct val="150000"/>
                        </a:lnSpc>
                      </a:pP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 </a:t>
                      </a:r>
                      <a:r>
                        <a:rPr lang="ko-KR" altLang="ko-KR" sz="1000" dirty="0" err="1">
                          <a:solidFill>
                            <a:schemeClr val="tx1"/>
                          </a:solidFill>
                        </a:rPr>
                        <a:t>FD신청</a:t>
                      </a:r>
                      <a:r>
                        <a:rPr lang="ko-KR" altLang="ko-KR" sz="1000" dirty="0">
                          <a:solidFill>
                            <a:schemeClr val="tx1"/>
                          </a:solidFill>
                        </a:rPr>
                        <a:t> 소프트웨어로 화면상 항목 입력 (제조판매업 허가신청서, 제조판매신고서, 외국제조업자 인정신청서 등) </a:t>
                      </a:r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  <a:p>
                      <a:pPr latinLnBrk="0">
                        <a:lnSpc>
                          <a:spcPct val="150000"/>
                        </a:lnSpc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3. </a:t>
                      </a:r>
                      <a:r>
                        <a:rPr lang="ko-KR" altLang="ko-KR" sz="1000" dirty="0">
                          <a:solidFill>
                            <a:schemeClr val="tx1"/>
                          </a:solidFill>
                        </a:rPr>
                        <a:t>신고 대상별로 정해진 양식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ko-KR" sz="1000" dirty="0">
                          <a:solidFill>
                            <a:schemeClr val="tx1"/>
                          </a:solidFill>
                        </a:rPr>
                        <a:t>번호에 맞춰 작성</a:t>
                      </a:r>
                      <a:endParaRPr lang="en-US" altLang="ko-KR" sz="10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atinLnBrk="0">
                        <a:lnSpc>
                          <a:spcPct val="150000"/>
                        </a:lnSpc>
                      </a:pP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4, </a:t>
                      </a:r>
                      <a:r>
                        <a:rPr lang="ko-KR" altLang="ko-KR" sz="1000" dirty="0">
                          <a:solidFill>
                            <a:schemeClr val="tx1"/>
                          </a:solidFill>
                        </a:rPr>
                        <a:t>작성 완료된 신청데이터를 CD-R 등 전자매체에 저장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ko-KR" sz="1000" dirty="0" err="1">
                          <a:solidFill>
                            <a:schemeClr val="tx1"/>
                          </a:solidFill>
                        </a:rPr>
                        <a:t>신청서·첨부서류는</a:t>
                      </a:r>
                      <a:r>
                        <a:rPr lang="ko-KR" altLang="ko-KR" sz="1000" dirty="0">
                          <a:solidFill>
                            <a:schemeClr val="tx1"/>
                          </a:solidFill>
                        </a:rPr>
                        <a:t> 정본 1통 + 부본 2통 인쇄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en-US" altLang="ko-KR" sz="10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5939244"/>
                  </a:ext>
                </a:extLst>
              </a:tr>
              <a:tr h="39459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차이</a:t>
                      </a:r>
                    </a:p>
                  </a:txBody>
                  <a:tcPr anchor="ctr"/>
                </a:tc>
                <a:tc gridSpan="3">
                  <a:txBody>
                    <a:bodyPr/>
                    <a:lstStyle/>
                    <a:p>
                      <a:pPr latinLnBrk="0">
                        <a:lnSpc>
                          <a:spcPct val="150000"/>
                        </a:lnSpc>
                      </a:pP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*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일반화장품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보습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세정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메이크업 등 신체에 대한 작용이 완화한 일반 기초 제품군 등 </a:t>
                      </a:r>
                      <a:endParaRPr lang="en-US" altLang="ko-KR" sz="10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* </a:t>
                      </a:r>
                      <a:r>
                        <a:rPr lang="ko-KR" altLang="en-US" sz="10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의약부외품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미백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주름개선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탈모방지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약용 여드름 케어 등 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‘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유효성분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’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함유 제품</a:t>
                      </a:r>
                      <a:endParaRPr lang="en-US" altLang="ko-KR" sz="10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9504629"/>
                  </a:ext>
                </a:extLst>
              </a:tr>
              <a:tr h="39459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기관</a:t>
                      </a:r>
                    </a:p>
                  </a:txBody>
                  <a:tcPr anchor="ctr"/>
                </a:tc>
                <a:tc gridSpan="3">
                  <a:txBody>
                    <a:bodyPr/>
                    <a:lstStyle/>
                    <a:p>
                      <a:pPr latinLnBrk="0">
                        <a:lnSpc>
                          <a:spcPct val="150000"/>
                        </a:lnSpc>
                      </a:pP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*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일반화장품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 MAH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소재지 관할 </a:t>
                      </a:r>
                      <a:r>
                        <a:rPr lang="ko-KR" altLang="en-US" sz="10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도도부현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0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약무과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및 후생노동성</a:t>
                      </a:r>
                      <a:endParaRPr lang="en-US" altLang="ko-KR" sz="10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atinLnBrk="0">
                        <a:lnSpc>
                          <a:spcPct val="150000"/>
                        </a:lnSpc>
                      </a:pP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* </a:t>
                      </a:r>
                      <a:r>
                        <a:rPr lang="ko-KR" altLang="en-US" sz="10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의약부외품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일본 후생노동성 및 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PMDA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본부</a:t>
                      </a:r>
                      <a:endParaRPr lang="en-US" altLang="ko-KR" sz="10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7785727"/>
                  </a:ext>
                </a:extLst>
              </a:tr>
              <a:tr h="21320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참고 또는</a:t>
                      </a:r>
                      <a:endParaRPr lang="en-US" altLang="ko-KR" sz="1200" b="1" dirty="0"/>
                    </a:p>
                    <a:p>
                      <a:pPr algn="ctr" latinLnBrk="1"/>
                      <a:r>
                        <a:rPr lang="ko-KR" altLang="en-US" sz="1200" b="1" dirty="0"/>
                        <a:t>필요서류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0">
                        <a:lnSpc>
                          <a:spcPct val="150000"/>
                        </a:lnSpc>
                      </a:pP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화장품 제조판매업 신고 필요서류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]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①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5"/>
                        </a:rPr>
                        <a:t>제조판매업 허가 신청서</a:t>
                      </a:r>
                      <a:endParaRPr lang="en-US" altLang="ko-KR" sz="10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atinLnBrk="0">
                        <a:lnSpc>
                          <a:spcPct val="150000"/>
                        </a:lnSpc>
                      </a:pP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②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6"/>
                        </a:rPr>
                        <a:t>총괄제조판매책임자 증서</a:t>
                      </a:r>
                      <a:endParaRPr lang="en-US" altLang="ko-KR" sz="10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atinLnBrk="0">
                        <a:lnSpc>
                          <a:spcPct val="150000"/>
                        </a:lnSpc>
                      </a:pP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③ 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7"/>
                        </a:rPr>
                        <a:t>GQP/GVP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7"/>
                        </a:rPr>
                        <a:t>체제도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7"/>
                        </a:rPr>
                        <a:t>(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7"/>
                        </a:rPr>
                        <a:t>예시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7"/>
                        </a:rPr>
                        <a:t>)</a:t>
                      </a:r>
                      <a:endParaRPr lang="en-US" altLang="ko-KR" sz="10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④ </a:t>
                      </a:r>
                      <a:r>
                        <a:rPr lang="ko-KR" altLang="ko-KR" sz="1000" dirty="0">
                          <a:hlinkClick r:id="rId8"/>
                        </a:rPr>
                        <a:t>화장품 제조판매 </a:t>
                      </a:r>
                      <a:r>
                        <a:rPr lang="ko-KR" altLang="en-US" sz="1000" dirty="0">
                          <a:hlinkClick r:id="rId8"/>
                        </a:rPr>
                        <a:t>신고서</a:t>
                      </a:r>
                      <a:endParaRPr lang="en-US" altLang="ko-KR" sz="1000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⑤ </a:t>
                      </a:r>
                      <a:r>
                        <a:rPr lang="ko-KR" altLang="ko-KR" sz="1000" dirty="0">
                          <a:hlinkClick r:id="rId9"/>
                        </a:rPr>
                        <a:t>외국 제조업자 </a:t>
                      </a:r>
                      <a:r>
                        <a:rPr lang="ko-KR" altLang="en-US" sz="1000" dirty="0">
                          <a:hlinkClick r:id="rId9"/>
                        </a:rPr>
                        <a:t>인정 신청서</a:t>
                      </a:r>
                      <a:endParaRPr lang="ko-KR" altLang="en-US" sz="1000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⑥ </a:t>
                      </a:r>
                      <a:r>
                        <a:rPr lang="ko-KR" altLang="ko-KR" sz="1000" dirty="0" err="1">
                          <a:hlinkClick r:id="rId10"/>
                        </a:rPr>
                        <a:t>업무분장표</a:t>
                      </a:r>
                      <a:endParaRPr lang="en-US" altLang="ko-KR" sz="1000" dirty="0"/>
                    </a:p>
                    <a:p>
                      <a:pPr latinLnBrk="0">
                        <a:lnSpc>
                          <a:spcPct val="150000"/>
                        </a:lnSpc>
                      </a:pP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⑦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사업 배치도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평면도</a:t>
                      </a:r>
                      <a:endParaRPr lang="en-US" altLang="ko-KR" sz="10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⑧ 보관 설비에 대한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도면</a:t>
                      </a:r>
                      <a:endParaRPr lang="en-US" altLang="ko-KR" sz="10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⑨ 법인 등기사항증명서</a:t>
                      </a:r>
                      <a:endParaRPr lang="en-US" altLang="ko-KR" sz="10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0">
                        <a:lnSpc>
                          <a:spcPct val="150000"/>
                        </a:lnSpc>
                      </a:pP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화장품 제조업 신고 필요서류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]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①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11"/>
                        </a:rPr>
                        <a:t>제조업 허가 신청서</a:t>
                      </a:r>
                      <a:endParaRPr lang="en-US" altLang="ko-KR" sz="10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atinLnBrk="0">
                        <a:lnSpc>
                          <a:spcPct val="150000"/>
                        </a:lnSpc>
                      </a:pP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② </a:t>
                      </a:r>
                      <a:r>
                        <a:rPr lang="ko-KR" altLang="ko-KR" sz="1000" dirty="0">
                          <a:hlinkClick r:id="rId6"/>
                        </a:rPr>
                        <a:t>책임기술자의 </a:t>
                      </a:r>
                      <a:r>
                        <a:rPr lang="ko-KR" altLang="en-US" sz="1000" dirty="0">
                          <a:hlinkClick r:id="rId6"/>
                        </a:rPr>
                        <a:t>증서</a:t>
                      </a:r>
                      <a:endParaRPr lang="en-US" altLang="ko-KR" sz="1000" dirty="0"/>
                    </a:p>
                    <a:p>
                      <a:pPr latinLnBrk="0">
                        <a:lnSpc>
                          <a:spcPct val="150000"/>
                        </a:lnSpc>
                      </a:pP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③ </a:t>
                      </a:r>
                      <a:r>
                        <a:rPr lang="ko-KR" altLang="ko-KR" sz="1000" dirty="0">
                          <a:hlinkClick r:id="rId12"/>
                        </a:rPr>
                        <a:t>구조설비의 개요 일람표</a:t>
                      </a:r>
                      <a:endParaRPr lang="en-US" altLang="ko-KR" sz="1000" dirty="0"/>
                    </a:p>
                    <a:p>
                      <a:pPr latinLnBrk="0">
                        <a:lnSpc>
                          <a:spcPct val="150000"/>
                        </a:lnSpc>
                      </a:pP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④ </a:t>
                      </a:r>
                      <a:r>
                        <a:rPr lang="ko-KR" altLang="ko-KR" sz="1000" dirty="0">
                          <a:hlinkClick r:id="rId13"/>
                        </a:rPr>
                        <a:t>시험검사기구 일람표</a:t>
                      </a:r>
                      <a:endParaRPr lang="en-US" altLang="ko-KR" sz="1000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⑤ </a:t>
                      </a:r>
                      <a:r>
                        <a:rPr lang="ko-KR" altLang="ko-KR" sz="1000" dirty="0">
                          <a:hlinkClick r:id="rId8"/>
                        </a:rPr>
                        <a:t>화장품 제조판매 </a:t>
                      </a:r>
                      <a:r>
                        <a:rPr lang="ko-KR" altLang="en-US" sz="1000" dirty="0">
                          <a:hlinkClick r:id="rId8"/>
                        </a:rPr>
                        <a:t>신고서</a:t>
                      </a:r>
                      <a:endParaRPr lang="en-US" altLang="ko-KR" sz="1000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⑥ </a:t>
                      </a:r>
                      <a:r>
                        <a:rPr lang="ko-KR" altLang="ko-KR" sz="1000" dirty="0">
                          <a:hlinkClick r:id="rId9"/>
                        </a:rPr>
                        <a:t>외국 제조업자 </a:t>
                      </a:r>
                      <a:r>
                        <a:rPr lang="ko-KR" altLang="en-US" sz="1000" dirty="0">
                          <a:hlinkClick r:id="rId9"/>
                        </a:rPr>
                        <a:t>인정 신청서</a:t>
                      </a:r>
                      <a:endParaRPr lang="ko-KR" altLang="en-US" sz="1000" dirty="0"/>
                    </a:p>
                    <a:p>
                      <a:pPr latinLnBrk="0">
                        <a:lnSpc>
                          <a:spcPct val="150000"/>
                        </a:lnSpc>
                      </a:pP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⑦ </a:t>
                      </a:r>
                      <a:r>
                        <a:rPr lang="ko-KR" altLang="ko-KR" sz="1000" dirty="0" err="1">
                          <a:hlinkClick r:id="rId10"/>
                        </a:rPr>
                        <a:t>업무분장표</a:t>
                      </a:r>
                      <a:endParaRPr lang="en-US" altLang="ko-KR" sz="1000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⑧ 사업 배치도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평면도</a:t>
                      </a:r>
                      <a:endParaRPr lang="en-US" altLang="ko-KR" sz="10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⑨ 법인 등기사항증명서</a:t>
                      </a:r>
                      <a:endParaRPr lang="en-US" altLang="ko-KR" sz="10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0">
                        <a:lnSpc>
                          <a:spcPct val="150000"/>
                        </a:lnSpc>
                      </a:pP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en-US" sz="1000" b="0" i="0" kern="1200" dirty="0" err="1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의약부외품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 필요서류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]</a:t>
                      </a:r>
                    </a:p>
                    <a:p>
                      <a:pPr latinLnBrk="0">
                        <a:lnSpc>
                          <a:spcPct val="150000"/>
                        </a:lnSpc>
                      </a:pP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①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14"/>
                        </a:rPr>
                        <a:t> </a:t>
                      </a:r>
                      <a:r>
                        <a:rPr lang="ko-KR" altLang="en-US" sz="10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14"/>
                        </a:rPr>
                        <a:t>업자코드등록표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14"/>
                        </a:rPr>
                        <a:t> </a:t>
                      </a:r>
                      <a:endParaRPr lang="en-US" altLang="ko-KR" sz="10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②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15"/>
                        </a:rPr>
                        <a:t>제조판매 승인 신청서</a:t>
                      </a:r>
                      <a:endParaRPr lang="en-US" altLang="ko-KR" sz="10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③ 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16"/>
                        </a:rPr>
                        <a:t>GMP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16"/>
                        </a:rPr>
                        <a:t> 적합성 조사 신청서</a:t>
                      </a:r>
                      <a:endParaRPr lang="en-US" altLang="ko-KR" sz="10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④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17"/>
                        </a:rPr>
                        <a:t>외국제조 제조판매 승인 신청서</a:t>
                      </a:r>
                      <a:endParaRPr lang="en-US" altLang="ko-KR" sz="10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⑤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9"/>
                        </a:rPr>
                        <a:t>외국 제조업자 인정 신청서</a:t>
                      </a:r>
                      <a:endParaRPr lang="en-US" altLang="ko-KR" sz="10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⑥ 제조판매업 허가 신청서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그 외 화장품 신고 필요서류와 동일</a:t>
                      </a:r>
                      <a:endParaRPr lang="en-US" altLang="ko-KR" sz="10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⑦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제조업 허가 신청서 그 외 화장품 신고 필요서류와 동일</a:t>
                      </a:r>
                      <a:endParaRPr lang="en-US" altLang="ko-KR" sz="10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71127830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D93AC760-FFBB-DA36-CBF3-8D8B5ED56E25}"/>
              </a:ext>
            </a:extLst>
          </p:cNvPr>
          <p:cNvSpPr txBox="1"/>
          <p:nvPr/>
        </p:nvSpPr>
        <p:spPr>
          <a:xfrm>
            <a:off x="0" y="6596390"/>
            <a:ext cx="1634308" cy="261610"/>
          </a:xfrm>
          <a:prstGeom prst="rect">
            <a:avLst/>
          </a:prstGeom>
          <a:solidFill>
            <a:srgbClr val="FFFF00"/>
          </a:solidFill>
          <a:ln>
            <a:noFill/>
            <a:prstDash val="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ko-KR" altLang="en-US" sz="1100" b="1" dirty="0"/>
              <a:t>다음 페이지에 이어서</a:t>
            </a:r>
            <a:endParaRPr lang="ko-KR" altLang="en-US" sz="1100" dirty="0"/>
          </a:p>
        </p:txBody>
      </p:sp>
    </p:spTree>
    <p:extLst>
      <p:ext uri="{BB962C8B-B14F-4D97-AF65-F5344CB8AC3E}">
        <p14:creationId xmlns:p14="http://schemas.microsoft.com/office/powerpoint/2010/main" val="3567434511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92E0D5-467C-B563-0EC5-513EF1493C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0E80B76-0105-F039-E1A2-0BE59EE0F21E}"/>
              </a:ext>
            </a:extLst>
          </p:cNvPr>
          <p:cNvSpPr txBox="1"/>
          <p:nvPr/>
        </p:nvSpPr>
        <p:spPr>
          <a:xfrm>
            <a:off x="325826" y="339047"/>
            <a:ext cx="87212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solidFill>
                  <a:srgbClr val="0070C0"/>
                </a:solidFill>
                <a:latin typeface="+mn-ea"/>
              </a:rPr>
              <a:t>03. </a:t>
            </a:r>
            <a:r>
              <a:rPr lang="ko-KR" altLang="en-US" sz="2000" b="1" dirty="0">
                <a:solidFill>
                  <a:srgbClr val="0070C0"/>
                </a:solidFill>
                <a:latin typeface="+mn-ea"/>
              </a:rPr>
              <a:t>화장품 제조판매 신고 및 성분 심사</a:t>
            </a:r>
            <a:endParaRPr lang="en-US" altLang="ko-KR" sz="2000" b="1" dirty="0">
              <a:solidFill>
                <a:srgbClr val="0070C0"/>
              </a:solidFill>
              <a:latin typeface="+mn-ea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585C6EB-9378-C7F7-2274-F71857DCFDF0}"/>
              </a:ext>
            </a:extLst>
          </p:cNvPr>
          <p:cNvSpPr txBox="1"/>
          <p:nvPr/>
        </p:nvSpPr>
        <p:spPr>
          <a:xfrm>
            <a:off x="325826" y="886609"/>
            <a:ext cx="87212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 dirty="0">
                <a:latin typeface="+mn-ea"/>
              </a:rPr>
              <a:t>화장품 제조판매 신고</a:t>
            </a:r>
            <a:endParaRPr lang="en-US" altLang="ko-KR" sz="1400" b="1" dirty="0">
              <a:latin typeface="+mn-ea"/>
            </a:endParaRP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F6913671-A383-B82E-A450-81053AB9B4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1065278"/>
              </p:ext>
            </p:extLst>
          </p:nvPr>
        </p:nvGraphicFramePr>
        <p:xfrm>
          <a:off x="418423" y="1341838"/>
          <a:ext cx="10450863" cy="282041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46455">
                  <a:extLst>
                    <a:ext uri="{9D8B030D-6E8A-4147-A177-3AD203B41FA5}">
                      <a16:colId xmlns:a16="http://schemas.microsoft.com/office/drawing/2014/main" val="3025485596"/>
                    </a:ext>
                  </a:extLst>
                </a:gridCol>
                <a:gridCol w="9604408">
                  <a:extLst>
                    <a:ext uri="{9D8B030D-6E8A-4147-A177-3AD203B41FA5}">
                      <a16:colId xmlns:a16="http://schemas.microsoft.com/office/drawing/2014/main" val="806010294"/>
                    </a:ext>
                  </a:extLst>
                </a:gridCol>
              </a:tblGrid>
              <a:tr h="69851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절차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latinLnBrk="0">
                        <a:buFont typeface="Arial" panose="020B0604020202020204" pitchFamily="34" charset="0"/>
                        <a:buNone/>
                      </a:pP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*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일반화장품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사전 </a:t>
                      </a:r>
                      <a:r>
                        <a:rPr lang="ko-KR" altLang="en-US" sz="10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신고제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승인 불필요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):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제조판매업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제조업 허가 신청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약 </a:t>
                      </a:r>
                      <a:r>
                        <a:rPr lang="ko-KR" altLang="ko-KR" sz="1000" dirty="0"/>
                        <a:t>35일</a:t>
                      </a:r>
                      <a:r>
                        <a:rPr lang="en-US" altLang="ko-KR" sz="1000" dirty="0"/>
                        <a:t>)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→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000" dirty="0"/>
                        <a:t>외국 제조업자 </a:t>
                      </a:r>
                      <a:r>
                        <a:rPr lang="ko-KR" altLang="en-US" sz="1000" dirty="0"/>
                        <a:t>인정 신청</a:t>
                      </a:r>
                      <a:r>
                        <a:rPr lang="en-US" altLang="ko-KR" sz="1000" dirty="0"/>
                        <a:t>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→</a:t>
                      </a:r>
                      <a:r>
                        <a:rPr lang="en-US" altLang="ko-KR" sz="1000" dirty="0"/>
                        <a:t>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제품 등록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(5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일 내 정보 반영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공시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→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수출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판매</a:t>
                      </a:r>
                      <a:endParaRPr lang="en-US" altLang="ko-KR" sz="10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71450" indent="-171450" latinLnBrk="0">
                        <a:buFont typeface="Arial" panose="020B0604020202020204" pitchFamily="34" charset="0"/>
                        <a:buChar char="•"/>
                      </a:pPr>
                      <a:endParaRPr lang="en-US" altLang="ko-KR" sz="10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indent="0" latinLnBrk="0">
                        <a:buFont typeface="Arial" panose="020B0604020202020204" pitchFamily="34" charset="0"/>
                        <a:buNone/>
                      </a:pP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* </a:t>
                      </a:r>
                      <a:r>
                        <a:rPr lang="ko-KR" altLang="en-US" sz="10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의약부외품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사전 </a:t>
                      </a:r>
                      <a:r>
                        <a:rPr lang="ko-KR" altLang="en-US" sz="10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승인제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승인 필요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):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업자 코드의 취득 → 제조판매업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제조업 허가 신청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약 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35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일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→ 외국제조업자 인정 신청 →제조판매 승인 신청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ko-KR" sz="1000" dirty="0">
                          <a:solidFill>
                            <a:schemeClr val="tx1"/>
                          </a:solidFill>
                        </a:rPr>
                        <a:t>유효성 및 안전성 등에 대한 </a:t>
                      </a:r>
                      <a:r>
                        <a:rPr lang="ko-KR" altLang="en-US" sz="1000" b="1" dirty="0">
                          <a:solidFill>
                            <a:schemeClr val="tx1"/>
                          </a:solidFill>
                        </a:rPr>
                        <a:t>성분 </a:t>
                      </a:r>
                      <a:r>
                        <a:rPr lang="ko-KR" altLang="ko-KR" sz="1000" b="1" dirty="0">
                          <a:solidFill>
                            <a:schemeClr val="tx1"/>
                          </a:solidFill>
                        </a:rPr>
                        <a:t>심사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)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→ 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GMP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적합성 조사 신청 → 승인 →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수출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판매</a:t>
                      </a:r>
                      <a:endParaRPr lang="en-US" altLang="ko-KR" sz="10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19342725"/>
                  </a:ext>
                </a:extLst>
              </a:tr>
              <a:tr h="188395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주의사항</a:t>
                      </a:r>
                      <a:endParaRPr lang="en-US" altLang="ko-KR" sz="1200" b="1" dirty="0"/>
                    </a:p>
                    <a:p>
                      <a:pPr algn="ctr" latinLnBrk="1"/>
                      <a:r>
                        <a:rPr lang="ko-KR" altLang="en-US" sz="1200" b="1" dirty="0"/>
                        <a:t>또는</a:t>
                      </a:r>
                      <a:endParaRPr lang="en-US" altLang="ko-KR" sz="1200" b="1" dirty="0"/>
                    </a:p>
                    <a:p>
                      <a:pPr algn="ctr" latinLnBrk="1"/>
                      <a:r>
                        <a:rPr lang="ko-KR" altLang="en-US" sz="1200" b="1" dirty="0"/>
                        <a:t>확인사항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latinLnBrk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(1)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화장품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및 </a:t>
                      </a:r>
                      <a:r>
                        <a:rPr lang="ko-KR" altLang="en-US" sz="10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의약부외품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의료기기 등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의 각종 인허가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신고의 전자신청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이를 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FD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신청이라고 부름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을 위해서는 후생노동성이 무료 배포하고 있는 소프트웨어 프로그램을 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PC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에 다운로드해야 함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3"/>
                        </a:rPr>
                        <a:t>FD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3"/>
                        </a:rPr>
                        <a:t>신청 사이트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(2)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4"/>
                        </a:rPr>
                        <a:t>각종 승인 신청서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4"/>
                        </a:rPr>
                        <a:t>/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4"/>
                        </a:rPr>
                        <a:t>통지 양식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4"/>
                        </a:rPr>
                        <a:t> </a:t>
                      </a:r>
                      <a:endParaRPr lang="en-US" altLang="ko-KR" sz="10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(3) </a:t>
                      </a:r>
                      <a:r>
                        <a:rPr lang="ko-KR" altLang="en-US" sz="10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업자코드등록은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5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e-Gov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5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전자신청서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를 통해 신청</a:t>
                      </a:r>
                      <a:endParaRPr lang="en-US" altLang="ko-KR" sz="10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(4)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일본에서 모든 의료기기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의약품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의약부외품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화장품은 후생노동성에서 관할</a:t>
                      </a:r>
                      <a:endParaRPr lang="en-US" altLang="ko-KR" sz="10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indent="0" latinLnBrk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(5) </a:t>
                      </a:r>
                      <a:r>
                        <a:rPr lang="ko-KR" altLang="en-US" sz="10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약기법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제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14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조 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 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조에 의해 </a:t>
                      </a:r>
                      <a:r>
                        <a:rPr lang="ko-KR" altLang="en-US" sz="10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제조판매업</a:t>
                      </a:r>
                      <a:r>
                        <a:rPr lang="en-US" altLang="ko-KR" sz="10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10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제조업 허가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와 </a:t>
                      </a:r>
                      <a:r>
                        <a:rPr lang="ko-KR" altLang="en-US" sz="10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외국제조업자 인정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없이 제조판매 승인을 신청할 수 없다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marL="0" indent="0" latinLnBrk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(6) </a:t>
                      </a:r>
                      <a:r>
                        <a:rPr lang="ko-KR" altLang="en-US" sz="10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약기법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제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14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조 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항에 의해 </a:t>
                      </a:r>
                      <a:r>
                        <a:rPr lang="ko-KR" altLang="ko-KR" sz="1000" dirty="0"/>
                        <a:t>화장품은</a:t>
                      </a:r>
                      <a:r>
                        <a:rPr lang="ko-KR" altLang="ko-KR" sz="1000" b="1" dirty="0"/>
                        <a:t> 승인 불필요</a:t>
                      </a:r>
                      <a:r>
                        <a:rPr lang="en-US" altLang="ko-KR" sz="1000" b="1" dirty="0"/>
                        <a:t>, </a:t>
                      </a:r>
                      <a:r>
                        <a:rPr lang="ko-KR" altLang="en-US" sz="1000" b="1" dirty="0"/>
                        <a:t>다만 </a:t>
                      </a:r>
                      <a:r>
                        <a:rPr lang="ko-KR" altLang="ko-KR" sz="1000" dirty="0"/>
                        <a:t>후생노동대신이 </a:t>
                      </a:r>
                      <a:r>
                        <a:rPr lang="ko-KR" altLang="ko-KR" sz="1000" b="1" dirty="0">
                          <a:hlinkClick r:id="rId6"/>
                        </a:rPr>
                        <a:t>지정하는 성분을 함유하는 화장품</a:t>
                      </a:r>
                      <a:r>
                        <a:rPr lang="ko-KR" altLang="ko-KR" sz="1000" dirty="0"/>
                        <a:t>의 제조판매를 하려는 자는 승인을 받아야 한다</a:t>
                      </a:r>
                      <a:endParaRPr lang="en-US" altLang="ko-KR" sz="10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indent="0" latinLnBrk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1000" dirty="0"/>
                        <a:t>(7) </a:t>
                      </a:r>
                      <a:r>
                        <a:rPr lang="ko-KR" altLang="en-US" sz="1000" dirty="0"/>
                        <a:t>제조소가 일본 국내의 경우 </a:t>
                      </a:r>
                      <a:r>
                        <a:rPr lang="en-US" altLang="ko-KR" sz="1000" dirty="0"/>
                        <a:t>'</a:t>
                      </a:r>
                      <a:r>
                        <a:rPr lang="ko-KR" altLang="en-US" sz="1000" dirty="0" err="1"/>
                        <a:t>의약부외품의</a:t>
                      </a:r>
                      <a:r>
                        <a:rPr lang="ko-KR" altLang="en-US" sz="1000" dirty="0"/>
                        <a:t> 제조관리</a:t>
                      </a:r>
                      <a:r>
                        <a:rPr lang="en-US" altLang="ko-KR" sz="1000" dirty="0"/>
                        <a:t>, </a:t>
                      </a:r>
                      <a:r>
                        <a:rPr lang="ko-KR" altLang="en-US" sz="1000" dirty="0"/>
                        <a:t>품질관리의 기준</a:t>
                      </a:r>
                      <a:r>
                        <a:rPr lang="en-US" altLang="ko-KR" sz="1000" dirty="0"/>
                        <a:t>'</a:t>
                      </a:r>
                      <a:r>
                        <a:rPr lang="ko-KR" altLang="en-US" sz="1000" dirty="0"/>
                        <a:t>에 적합함을 광역자치단체에 신청하여 조사</a:t>
                      </a:r>
                      <a:r>
                        <a:rPr lang="en-US" altLang="ko-KR" sz="1000" dirty="0"/>
                        <a:t>(GMP </a:t>
                      </a:r>
                      <a:r>
                        <a:rPr lang="ko-KR" altLang="en-US" sz="1000" dirty="0"/>
                        <a:t>적합성 조사</a:t>
                      </a:r>
                      <a:r>
                        <a:rPr lang="en-US" altLang="ko-KR" sz="1000" dirty="0"/>
                        <a:t>)</a:t>
                      </a:r>
                      <a:r>
                        <a:rPr lang="ko-KR" altLang="en-US" sz="1000" dirty="0"/>
                        <a:t>를 받아야 함</a:t>
                      </a:r>
                      <a:endParaRPr lang="en-US" altLang="ko-KR" sz="1000" dirty="0"/>
                    </a:p>
                    <a:p>
                      <a:pPr marL="0" indent="0" latinLnBrk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(8) </a:t>
                      </a:r>
                      <a:r>
                        <a:rPr lang="ko-KR" altLang="ko-KR" sz="1000" dirty="0"/>
                        <a:t>화장품은 </a:t>
                      </a:r>
                      <a:r>
                        <a:rPr lang="ko-KR" altLang="ko-KR" sz="1000" dirty="0" err="1"/>
                        <a:t>의약</a:t>
                      </a:r>
                      <a:r>
                        <a:rPr lang="ko-KR" altLang="en-US" sz="1000" dirty="0" err="1"/>
                        <a:t>부외</a:t>
                      </a:r>
                      <a:r>
                        <a:rPr lang="ko-KR" altLang="ko-KR" sz="1000" dirty="0" err="1"/>
                        <a:t>품과</a:t>
                      </a:r>
                      <a:r>
                        <a:rPr lang="ko-KR" altLang="ko-KR" sz="1000" dirty="0"/>
                        <a:t> 달리 제조 관리 및 품질 관리에 관한 기준(GMP)이 법적으로 정해져 있지 않음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다만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0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의약부외품은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GMP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적합성 조사까지 필요</a:t>
                      </a:r>
                      <a:endParaRPr lang="en-US" altLang="ko-KR" sz="10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327639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946609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607FCA-8D1C-5351-37C9-D95C22EA6E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D4D71391-DA32-647F-A34A-8BC2BFA091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8360407"/>
              </p:ext>
            </p:extLst>
          </p:nvPr>
        </p:nvGraphicFramePr>
        <p:xfrm>
          <a:off x="405898" y="1341838"/>
          <a:ext cx="11178502" cy="541151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36262">
                  <a:extLst>
                    <a:ext uri="{9D8B030D-6E8A-4147-A177-3AD203B41FA5}">
                      <a16:colId xmlns:a16="http://schemas.microsoft.com/office/drawing/2014/main" val="3376188853"/>
                    </a:ext>
                  </a:extLst>
                </a:gridCol>
                <a:gridCol w="4771120">
                  <a:extLst>
                    <a:ext uri="{9D8B030D-6E8A-4147-A177-3AD203B41FA5}">
                      <a16:colId xmlns:a16="http://schemas.microsoft.com/office/drawing/2014/main" val="4224328845"/>
                    </a:ext>
                  </a:extLst>
                </a:gridCol>
                <a:gridCol w="4771120">
                  <a:extLst>
                    <a:ext uri="{9D8B030D-6E8A-4147-A177-3AD203B41FA5}">
                      <a16:colId xmlns:a16="http://schemas.microsoft.com/office/drawing/2014/main" val="4203407880"/>
                    </a:ext>
                  </a:extLst>
                </a:gridCol>
              </a:tblGrid>
              <a:tr h="54792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설명 또는 정의</a:t>
                      </a: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latinLnBrk="0">
                        <a:lnSpc>
                          <a:spcPct val="150000"/>
                        </a:lnSpc>
                      </a:pPr>
                      <a:r>
                        <a:rPr lang="en-US" altLang="ko-KR" sz="1000" dirty="0"/>
                        <a:t>*</a:t>
                      </a:r>
                      <a:r>
                        <a:rPr lang="ko-KR" altLang="en-US" sz="1000" dirty="0"/>
                        <a:t>후생노동성 고시 화장품 기준의 배합금지</a:t>
                      </a:r>
                      <a:r>
                        <a:rPr lang="en-US" altLang="ko-KR" sz="1000" dirty="0"/>
                        <a:t>/</a:t>
                      </a:r>
                      <a:r>
                        <a:rPr lang="ko-KR" altLang="en-US" sz="1000" dirty="0"/>
                        <a:t>배합한도 성분 규격 준수 여부 사전 검토</a:t>
                      </a:r>
                      <a:endParaRPr lang="en-US" altLang="ko-KR" sz="1000" dirty="0"/>
                    </a:p>
                    <a:p>
                      <a:pPr latinLnBrk="0">
                        <a:lnSpc>
                          <a:spcPct val="150000"/>
                        </a:lnSpc>
                      </a:pPr>
                      <a:r>
                        <a:rPr lang="en-US" altLang="ko-KR" sz="1000" dirty="0"/>
                        <a:t>*</a:t>
                      </a:r>
                      <a:r>
                        <a:rPr lang="ko-KR" altLang="ko-KR" sz="1000" dirty="0"/>
                        <a:t>일본에서 </a:t>
                      </a:r>
                      <a:r>
                        <a:rPr lang="ko-KR" altLang="ko-KR" sz="1000" dirty="0" err="1"/>
                        <a:t>의약부외품을</a:t>
                      </a:r>
                      <a:r>
                        <a:rPr lang="ko-KR" altLang="ko-KR" sz="1000" dirty="0"/>
                        <a:t> 시장에 업으로서 출하(제조판매)하는 것은 「의약품, 의료기기 등의 품질, 유효성 및 안전성 확보 등에 관한 법률」(</a:t>
                      </a:r>
                      <a:r>
                        <a:rPr lang="ko-KR" altLang="ko-KR" sz="1000" dirty="0" err="1"/>
                        <a:t>의약품의료기기등법</a:t>
                      </a:r>
                      <a:r>
                        <a:rPr lang="ko-KR" altLang="ko-KR" sz="1000" dirty="0"/>
                        <a:t>)로 규제되어 있어 규제 당국의 허가</a:t>
                      </a:r>
                      <a:r>
                        <a:rPr lang="en-US" altLang="ko-KR" sz="1000" dirty="0"/>
                        <a:t> </a:t>
                      </a:r>
                      <a:r>
                        <a:rPr lang="ko-KR" altLang="en-US" sz="1000" dirty="0"/>
                        <a:t>및 </a:t>
                      </a:r>
                      <a:r>
                        <a:rPr lang="ko-KR" altLang="ko-KR" sz="1000" dirty="0"/>
                        <a:t>승인을 받아야 함</a:t>
                      </a:r>
                      <a:endParaRPr lang="en-US" altLang="ko-KR" sz="10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9518004"/>
                  </a:ext>
                </a:extLst>
              </a:tr>
              <a:tr h="37592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기관</a:t>
                      </a: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marL="0" indent="0" latinLnBrk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*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후생노동성</a:t>
                      </a:r>
                      <a:endParaRPr lang="en-US" altLang="ko-KR" sz="10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indent="0" latinLnBrk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* PMDA</a:t>
                      </a:r>
                    </a:p>
                    <a:p>
                      <a:pPr marL="0" indent="0" latinLnBrk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*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광역지방자치단체</a:t>
                      </a:r>
                      <a:endParaRPr lang="en-US" altLang="ko-KR" sz="10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7785727"/>
                  </a:ext>
                </a:extLst>
              </a:tr>
              <a:tr h="61799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참고 또는</a:t>
                      </a:r>
                      <a:endParaRPr lang="en-US" altLang="ko-KR" sz="1200" b="1" dirty="0"/>
                    </a:p>
                    <a:p>
                      <a:pPr algn="ctr" latinLnBrk="1"/>
                      <a:r>
                        <a:rPr lang="ko-KR" altLang="en-US" sz="1200" b="1" dirty="0"/>
                        <a:t>필요서류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0">
                        <a:lnSpc>
                          <a:spcPct val="150000"/>
                        </a:lnSpc>
                      </a:pP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en-US" sz="10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의약부외품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유효성분 및 첨가제 승인 신청 필요 서류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]</a:t>
                      </a:r>
                    </a:p>
                    <a:p>
                      <a:pPr latinLnBrk="0">
                        <a:lnSpc>
                          <a:spcPct val="150000"/>
                        </a:lnSpc>
                      </a:pP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① 표지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판매명칭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신청인명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신청일 등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latinLnBrk="0">
                        <a:lnSpc>
                          <a:spcPct val="150000"/>
                        </a:lnSpc>
                      </a:pP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②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개요 </a:t>
                      </a:r>
                      <a:r>
                        <a:rPr lang="ko-KR" altLang="en-US" sz="10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설명표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2014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년 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11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월 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21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일 약식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薬食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r>
                        <a:rPr lang="ko-KR" altLang="en-US" sz="1000" b="0" i="0" kern="1200" dirty="0" err="1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심사발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1121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제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15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호 과장통지 별지양식 참조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latinLnBrk="0">
                        <a:lnSpc>
                          <a:spcPct val="150000"/>
                        </a:lnSpc>
                      </a:pP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③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승인 신청서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사본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latinLnBrk="0">
                        <a:lnSpc>
                          <a:spcPct val="150000"/>
                        </a:lnSpc>
                      </a:pP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④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사용시 주의사항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안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latinLnBrk="0">
                        <a:lnSpc>
                          <a:spcPct val="150000"/>
                        </a:lnSpc>
                      </a:pP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⑤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제품 이미지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안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 (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용기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패키지 사진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제품 내용물 사진 등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latinLnBrk="0">
                        <a:lnSpc>
                          <a:spcPct val="150000"/>
                        </a:lnSpc>
                      </a:pP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⑥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증명서류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(GLP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관련서류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공동 개발에 관한 계약서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사본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등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latinLnBrk="0">
                        <a:lnSpc>
                          <a:spcPct val="150000"/>
                        </a:lnSpc>
                      </a:pP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⑦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시험시설 관련 자료</a:t>
                      </a:r>
                    </a:p>
                    <a:p>
                      <a:pPr latinLnBrk="0">
                        <a:lnSpc>
                          <a:spcPct val="150000"/>
                        </a:lnSpc>
                      </a:pP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⑧ 시험 실시자의 이력 관련 자료</a:t>
                      </a:r>
                    </a:p>
                    <a:p>
                      <a:pPr latinLnBrk="0">
                        <a:lnSpc>
                          <a:spcPct val="150000"/>
                        </a:lnSpc>
                      </a:pP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⑨ 승인 신청서 첨부자료 “자료 개요”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0">
                        <a:lnSpc>
                          <a:spcPct val="150000"/>
                        </a:lnSpc>
                      </a:pP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안전성 및 유효성에 관한 자료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]</a:t>
                      </a:r>
                    </a:p>
                    <a:p>
                      <a:pPr latinLnBrk="0">
                        <a:lnSpc>
                          <a:spcPct val="150000"/>
                        </a:lnSpc>
                      </a:pP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⑩ 첨부 자료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2014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년 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11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월 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21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일 </a:t>
                      </a:r>
                      <a:r>
                        <a:rPr lang="ko-KR" altLang="en-US" sz="1000" b="0" i="0" kern="1200" dirty="0" err="1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약식발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1121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제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7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호국장통지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별표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2)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에서 정한 자료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 </a:t>
                      </a:r>
                    </a:p>
                    <a:p>
                      <a:pPr latinLnBrk="0">
                        <a:lnSpc>
                          <a:spcPct val="150000"/>
                        </a:lnSpc>
                      </a:pP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가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기원 또는 발견의 경위 및 외국 사용 현황 등에 관한 자료</a:t>
                      </a:r>
                    </a:p>
                    <a:p>
                      <a:pPr latinLnBrk="0">
                        <a:lnSpc>
                          <a:spcPct val="150000"/>
                        </a:lnSpc>
                      </a:pP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나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물리적 화학적 성질 및 규격 및 시험 방법 등에 관한 자료 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128 </a:t>
                      </a:r>
                    </a:p>
                    <a:p>
                      <a:pPr latinLnBrk="0">
                        <a:lnSpc>
                          <a:spcPct val="150000"/>
                        </a:lnSpc>
                      </a:pP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다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안정성에 관한 자료</a:t>
                      </a:r>
                    </a:p>
                    <a:p>
                      <a:pPr latinLnBrk="0">
                        <a:lnSpc>
                          <a:spcPct val="150000"/>
                        </a:lnSpc>
                      </a:pP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라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안전성에 관한 자료</a:t>
                      </a:r>
                    </a:p>
                    <a:p>
                      <a:pPr latinLnBrk="0">
                        <a:lnSpc>
                          <a:spcPct val="150000"/>
                        </a:lnSpc>
                      </a:pP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마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효능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·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효과에 관한 자료</a:t>
                      </a:r>
                    </a:p>
                    <a:p>
                      <a:pPr latinLnBrk="0">
                        <a:lnSpc>
                          <a:spcPct val="150000"/>
                        </a:lnSpc>
                      </a:pPr>
                      <a:endParaRPr lang="ko-KR" altLang="en-US" sz="10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71127830"/>
                  </a:ext>
                </a:extLst>
              </a:tr>
              <a:tr h="36301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절차</a:t>
                      </a: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latinLnBrk="0">
                        <a:lnSpc>
                          <a:spcPct val="150000"/>
                        </a:lnSpc>
                      </a:pP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제조판매 승인 → 신청서 제출 → 심사 통지 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4222730"/>
                  </a:ext>
                </a:extLst>
              </a:tr>
              <a:tr h="526127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1200" b="1" dirty="0"/>
                        <a:t>주의사항</a:t>
                      </a:r>
                      <a:endParaRPr lang="en-US" altLang="ko-KR" sz="1200" b="1" dirty="0"/>
                    </a:p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1200" b="1" dirty="0"/>
                        <a:t>또는</a:t>
                      </a:r>
                      <a:endParaRPr lang="en-US" altLang="ko-KR" sz="1200" b="1" dirty="0"/>
                    </a:p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1200" b="1" dirty="0"/>
                        <a:t>확인사항</a:t>
                      </a: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/>
                        <a:t>(1) </a:t>
                      </a:r>
                      <a:r>
                        <a:rPr lang="ko-KR" altLang="en-US" sz="1000" dirty="0" err="1">
                          <a:hlinkClick r:id="rId4"/>
                        </a:rPr>
                        <a:t>의약부외품</a:t>
                      </a:r>
                      <a:r>
                        <a:rPr lang="ko-KR" altLang="en-US" sz="1000" dirty="0">
                          <a:hlinkClick r:id="rId4"/>
                        </a:rPr>
                        <a:t> 승인 신청 시행규칙</a:t>
                      </a:r>
                      <a:endParaRPr lang="en-US" altLang="ko-KR" sz="1000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/>
                        <a:t>(2) </a:t>
                      </a:r>
                      <a:r>
                        <a:rPr lang="ko-KR" altLang="ko-KR" sz="1000" dirty="0" err="1"/>
                        <a:t>의약부외품</a:t>
                      </a:r>
                      <a:r>
                        <a:rPr lang="ko-KR" altLang="ko-KR" sz="1000" dirty="0"/>
                        <a:t> 승인</a:t>
                      </a:r>
                      <a:r>
                        <a:rPr lang="en-US" altLang="ko-KR" sz="1000" dirty="0"/>
                        <a:t> </a:t>
                      </a:r>
                      <a:r>
                        <a:rPr lang="ko-KR" altLang="ko-KR" sz="1000" dirty="0"/>
                        <a:t>신청서에 첨부해야 하는 자료의 범위는 원칙적으로 </a:t>
                      </a:r>
                      <a:r>
                        <a:rPr lang="ko-KR" altLang="ko-KR" sz="1000" b="0" dirty="0">
                          <a:hlinkClick r:id="rId4"/>
                        </a:rPr>
                        <a:t>별표2의 신청구분</a:t>
                      </a:r>
                      <a:r>
                        <a:rPr lang="ko-KR" altLang="ko-KR" sz="1000" b="0" dirty="0"/>
                        <a:t>에 따라 </a:t>
                      </a:r>
                      <a:r>
                        <a:rPr lang="ko-KR" altLang="ko-KR" sz="1000" dirty="0"/>
                        <a:t>결정하며, 해당 구분별로 필요한 자료를 제출한다.</a:t>
                      </a:r>
                      <a:endParaRPr lang="en-US" altLang="ko-KR" sz="10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atinLnBrk="0">
                        <a:lnSpc>
                          <a:spcPct val="150000"/>
                        </a:lnSpc>
                      </a:pP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(3)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승인 기준이 적용되는 </a:t>
                      </a:r>
                      <a:r>
                        <a:rPr lang="ko-KR" altLang="en-US" sz="10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의약부외품은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승인 권한자가 광역지방자치단체 지사이므로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제조판매승인 신청서를 광역지방자치단체 담당 창구에 제출함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단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유효 성분 중 기준 외 성분이 사용된 경우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승인 권한자가 후생노동성 장관이므로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신청서는 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PMDA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에 제출함</a:t>
                      </a:r>
                      <a:endParaRPr lang="en-US" altLang="ko-KR" sz="10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3776228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2DA8131D-6DAB-7F26-6D35-6AE643DE7830}"/>
              </a:ext>
            </a:extLst>
          </p:cNvPr>
          <p:cNvSpPr txBox="1"/>
          <p:nvPr/>
        </p:nvSpPr>
        <p:spPr>
          <a:xfrm>
            <a:off x="325826" y="339047"/>
            <a:ext cx="87212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solidFill>
                  <a:srgbClr val="0070C0"/>
                </a:solidFill>
                <a:latin typeface="+mn-ea"/>
              </a:rPr>
              <a:t>03. </a:t>
            </a:r>
            <a:r>
              <a:rPr lang="ko-KR" altLang="en-US" sz="2000" b="1" dirty="0">
                <a:solidFill>
                  <a:srgbClr val="0070C0"/>
                </a:solidFill>
                <a:latin typeface="+mn-ea"/>
              </a:rPr>
              <a:t>화장품 제조판매 신고 및 성분 심사</a:t>
            </a:r>
            <a:endParaRPr lang="en-US" altLang="ko-KR" sz="2000" b="1" dirty="0">
              <a:solidFill>
                <a:srgbClr val="0070C0"/>
              </a:solidFill>
              <a:latin typeface="+mn-ea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2491991-F0E7-68AA-A16B-A74C400F5A4B}"/>
              </a:ext>
            </a:extLst>
          </p:cNvPr>
          <p:cNvSpPr txBox="1"/>
          <p:nvPr/>
        </p:nvSpPr>
        <p:spPr>
          <a:xfrm>
            <a:off x="325826" y="886609"/>
            <a:ext cx="87212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 dirty="0">
                <a:latin typeface="+mn-ea"/>
              </a:rPr>
              <a:t>성분 심사</a:t>
            </a:r>
            <a:endParaRPr lang="en-US" altLang="ko-KR" sz="1400" b="1" dirty="0">
              <a:latin typeface="+mn-e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8972B7A-F8F7-C2AB-284D-6797B28A1BFE}"/>
              </a:ext>
            </a:extLst>
          </p:cNvPr>
          <p:cNvSpPr txBox="1"/>
          <p:nvPr/>
        </p:nvSpPr>
        <p:spPr>
          <a:xfrm>
            <a:off x="0" y="6596390"/>
            <a:ext cx="1634308" cy="261610"/>
          </a:xfrm>
          <a:prstGeom prst="rect">
            <a:avLst/>
          </a:prstGeom>
          <a:solidFill>
            <a:srgbClr val="FFFF00"/>
          </a:solidFill>
          <a:ln>
            <a:noFill/>
            <a:prstDash val="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ko-KR" altLang="en-US" sz="1100" b="1" dirty="0"/>
              <a:t>다음 페이지에 이어서</a:t>
            </a:r>
            <a:endParaRPr lang="ko-KR" altLang="en-US" sz="1100" dirty="0"/>
          </a:p>
        </p:txBody>
      </p:sp>
    </p:spTree>
    <p:extLst>
      <p:ext uri="{BB962C8B-B14F-4D97-AF65-F5344CB8AC3E}">
        <p14:creationId xmlns:p14="http://schemas.microsoft.com/office/powerpoint/2010/main" val="3293431743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C1A398-3E9B-E914-DFAE-3E940991AA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5A010D71-C422-55B7-5795-102E23034F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0702200"/>
              </p:ext>
            </p:extLst>
          </p:nvPr>
        </p:nvGraphicFramePr>
        <p:xfrm>
          <a:off x="405898" y="1341838"/>
          <a:ext cx="11178501" cy="392002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74093">
                  <a:extLst>
                    <a:ext uri="{9D8B030D-6E8A-4147-A177-3AD203B41FA5}">
                      <a16:colId xmlns:a16="http://schemas.microsoft.com/office/drawing/2014/main" val="3376188853"/>
                    </a:ext>
                  </a:extLst>
                </a:gridCol>
                <a:gridCol w="9604408">
                  <a:extLst>
                    <a:ext uri="{9D8B030D-6E8A-4147-A177-3AD203B41FA5}">
                      <a16:colId xmlns:a16="http://schemas.microsoft.com/office/drawing/2014/main" val="4224328845"/>
                    </a:ext>
                  </a:extLst>
                </a:gridCol>
              </a:tblGrid>
              <a:tr h="54792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설명 또는 정의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0">
                        <a:lnSpc>
                          <a:spcPct val="150000"/>
                        </a:lnSpc>
                      </a:pP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* 수출신고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한국 관세청 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UNI-PASS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시스템을 통해 해당 화장품 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HS Code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에 따라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수출신고 후 </a:t>
                      </a:r>
                      <a:r>
                        <a:rPr lang="ko-KR" altLang="en-US" sz="10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수출신고필증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발급</a:t>
                      </a:r>
                    </a:p>
                    <a:p>
                      <a:pPr latinLnBrk="0">
                        <a:lnSpc>
                          <a:spcPct val="150000"/>
                        </a:lnSpc>
                      </a:pP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* 수출선적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수출 신고 수리일로부터 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30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일 선박 및 항공기에 수출품을 적재하여 수출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해상운송의 경우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선하증권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항공운송의 경우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항공화물운송장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발급</a:t>
                      </a:r>
                      <a:endParaRPr lang="en-US" altLang="ko-KR" sz="10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29518004"/>
                  </a:ext>
                </a:extLst>
              </a:tr>
              <a:tr h="39552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방식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0">
                        <a:lnSpc>
                          <a:spcPct val="150000"/>
                        </a:lnSpc>
                      </a:pP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4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UNI-PASS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4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수출신고서 작성 가이드</a:t>
                      </a:r>
                      <a:endParaRPr lang="en-US" altLang="ko-KR" sz="10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49504629"/>
                  </a:ext>
                </a:extLst>
              </a:tr>
              <a:tr h="37592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기관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0">
                        <a:lnSpc>
                          <a:spcPct val="150000"/>
                        </a:lnSpc>
                      </a:pP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관세청</a:t>
                      </a:r>
                      <a:endParaRPr lang="en-US" altLang="ko-KR" sz="10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17785727"/>
                  </a:ext>
                </a:extLst>
              </a:tr>
              <a:tr h="61799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참고 또는</a:t>
                      </a:r>
                      <a:endParaRPr lang="en-US" altLang="ko-KR" sz="1200" b="1" dirty="0"/>
                    </a:p>
                    <a:p>
                      <a:pPr algn="ctr" latinLnBrk="1"/>
                      <a:r>
                        <a:rPr lang="ko-KR" altLang="en-US" sz="1200" b="1" dirty="0"/>
                        <a:t>필요서류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0">
                        <a:lnSpc>
                          <a:spcPct val="150000"/>
                        </a:lnSpc>
                      </a:pP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수출 신고 시 제출 서류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]</a:t>
                      </a:r>
                    </a:p>
                    <a:p>
                      <a:pPr latinLnBrk="0">
                        <a:lnSpc>
                          <a:spcPct val="150000"/>
                        </a:lnSpc>
                      </a:pP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*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수출 신고서</a:t>
                      </a:r>
                    </a:p>
                    <a:p>
                      <a:pPr latinLnBrk="0">
                        <a:lnSpc>
                          <a:spcPct val="150000"/>
                        </a:lnSpc>
                      </a:pP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* 송장 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(invoice)</a:t>
                      </a:r>
                      <a:endParaRPr lang="ko-KR" altLang="en-US" sz="1000" b="0" i="0" kern="1200" dirty="0">
                        <a:solidFill>
                          <a:schemeClr val="tx1"/>
                        </a:solidFill>
                        <a:effectLst/>
                        <a:highlight>
                          <a:srgbClr val="FFFF00"/>
                        </a:highlight>
                        <a:latin typeface="+mn-lt"/>
                        <a:ea typeface="+mn-ea"/>
                        <a:cs typeface="+mn-cs"/>
                      </a:endParaRPr>
                    </a:p>
                    <a:p>
                      <a:pPr latinLnBrk="0">
                        <a:lnSpc>
                          <a:spcPct val="150000"/>
                        </a:lnSpc>
                      </a:pP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* 포장명세서</a:t>
                      </a:r>
                      <a:endParaRPr lang="en-US" altLang="ko-KR" sz="1000" b="0" i="0" kern="1200" dirty="0">
                        <a:solidFill>
                          <a:schemeClr val="tx1"/>
                        </a:solidFill>
                        <a:effectLst/>
                        <a:highlight>
                          <a:srgbClr val="FFFF00"/>
                        </a:highlight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indent="0" latinLnBrk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*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기타 수출통관에 필요한 서류</a:t>
                      </a:r>
                      <a:endParaRPr lang="en-US" altLang="ko-KR" sz="1000" b="0" i="0" kern="1200" dirty="0">
                        <a:solidFill>
                          <a:schemeClr val="tx1"/>
                        </a:solidFill>
                        <a:effectLst/>
                        <a:highlight>
                          <a:srgbClr val="FFFF00"/>
                        </a:highlight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71450" indent="-171450" latinLnBrk="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endParaRPr lang="en-US" altLang="ko-KR" sz="10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atinLnBrk="0">
                        <a:lnSpc>
                          <a:spcPct val="150000"/>
                        </a:lnSpc>
                      </a:pP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참고자료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]</a:t>
                      </a:r>
                      <a:endParaRPr lang="ko-KR" altLang="en-US" sz="10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atinLnBrk="0">
                        <a:lnSpc>
                          <a:spcPct val="150000"/>
                        </a:lnSpc>
                      </a:pP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*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성분분석표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(CoA)</a:t>
                      </a:r>
                    </a:p>
                    <a:p>
                      <a:pPr latinLnBrk="0">
                        <a:lnSpc>
                          <a:spcPct val="150000"/>
                        </a:lnSpc>
                      </a:pP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*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제조증명서 및 자유판매증명서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(CFS)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71127830"/>
                  </a:ext>
                </a:extLst>
              </a:tr>
              <a:tr h="48128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절차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0"/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수출신고 → 선적  → 보세창고</a:t>
                      </a:r>
                      <a:endParaRPr lang="en-US" altLang="ko-KR" sz="10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04222730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FB519A92-4239-4D46-A5D8-CCB787FFBE1D}"/>
              </a:ext>
            </a:extLst>
          </p:cNvPr>
          <p:cNvSpPr txBox="1"/>
          <p:nvPr/>
        </p:nvSpPr>
        <p:spPr>
          <a:xfrm>
            <a:off x="325826" y="339047"/>
            <a:ext cx="87212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solidFill>
                  <a:srgbClr val="0070C0"/>
                </a:solidFill>
                <a:latin typeface="+mn-ea"/>
              </a:rPr>
              <a:t>04. </a:t>
            </a:r>
            <a:r>
              <a:rPr lang="ko-KR" altLang="en-US" sz="2000" b="1" dirty="0">
                <a:solidFill>
                  <a:srgbClr val="0070C0"/>
                </a:solidFill>
                <a:latin typeface="+mn-ea"/>
              </a:rPr>
              <a:t>수출통관</a:t>
            </a:r>
            <a:r>
              <a:rPr lang="en-US" altLang="ko-KR" sz="2000" b="1" dirty="0">
                <a:solidFill>
                  <a:srgbClr val="0070C0"/>
                </a:solidFill>
                <a:latin typeface="+mn-ea"/>
              </a:rPr>
              <a:t>/</a:t>
            </a:r>
            <a:r>
              <a:rPr lang="ko-KR" altLang="en-US" sz="2000" b="1" dirty="0">
                <a:solidFill>
                  <a:srgbClr val="0070C0"/>
                </a:solidFill>
                <a:latin typeface="+mn-ea"/>
              </a:rPr>
              <a:t>선적</a:t>
            </a:r>
            <a:endParaRPr lang="en-US" altLang="ko-KR" sz="2000" b="1" dirty="0">
              <a:solidFill>
                <a:srgbClr val="0070C0"/>
              </a:solidFill>
              <a:latin typeface="+mn-ea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81396AA-3BB1-ABE5-B264-7364656BF4B4}"/>
              </a:ext>
            </a:extLst>
          </p:cNvPr>
          <p:cNvSpPr txBox="1"/>
          <p:nvPr/>
        </p:nvSpPr>
        <p:spPr>
          <a:xfrm>
            <a:off x="325826" y="886609"/>
            <a:ext cx="87212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 dirty="0">
                <a:latin typeface="+mn-ea"/>
              </a:rPr>
              <a:t>수출통관</a:t>
            </a:r>
            <a:endParaRPr lang="en-US" altLang="ko-KR" sz="1400" b="1" dirty="0">
              <a:latin typeface="+mn-e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151865A-ED59-5517-0B2D-BCFF8F1574C9}"/>
              </a:ext>
            </a:extLst>
          </p:cNvPr>
          <p:cNvSpPr txBox="1"/>
          <p:nvPr/>
        </p:nvSpPr>
        <p:spPr>
          <a:xfrm>
            <a:off x="0" y="6596390"/>
            <a:ext cx="1634308" cy="261610"/>
          </a:xfrm>
          <a:prstGeom prst="rect">
            <a:avLst/>
          </a:prstGeom>
          <a:solidFill>
            <a:srgbClr val="FFFF00"/>
          </a:solidFill>
          <a:ln>
            <a:noFill/>
            <a:prstDash val="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ko-KR" altLang="en-US" sz="1100" b="1" dirty="0"/>
              <a:t>다음 페이지에 이어서</a:t>
            </a:r>
            <a:endParaRPr lang="ko-KR" altLang="en-US" sz="1100" dirty="0"/>
          </a:p>
        </p:txBody>
      </p:sp>
    </p:spTree>
    <p:extLst>
      <p:ext uri="{BB962C8B-B14F-4D97-AF65-F5344CB8AC3E}">
        <p14:creationId xmlns:p14="http://schemas.microsoft.com/office/powerpoint/2010/main" val="2172705978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564B6C-3FAB-5BD2-E2BB-15FE381257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EC1ED7F-892D-CC60-DDCC-EFDF69E35164}"/>
              </a:ext>
            </a:extLst>
          </p:cNvPr>
          <p:cNvSpPr txBox="1"/>
          <p:nvPr/>
        </p:nvSpPr>
        <p:spPr>
          <a:xfrm>
            <a:off x="325826" y="339047"/>
            <a:ext cx="87212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solidFill>
                  <a:srgbClr val="0070C0"/>
                </a:solidFill>
                <a:latin typeface="+mn-ea"/>
              </a:rPr>
              <a:t>04. </a:t>
            </a:r>
            <a:r>
              <a:rPr lang="ko-KR" altLang="en-US" sz="2000" b="1" dirty="0">
                <a:solidFill>
                  <a:srgbClr val="0070C0"/>
                </a:solidFill>
                <a:latin typeface="+mn-ea"/>
              </a:rPr>
              <a:t>수출통관</a:t>
            </a:r>
            <a:r>
              <a:rPr lang="en-US" altLang="ko-KR" sz="2000" b="1" dirty="0">
                <a:solidFill>
                  <a:srgbClr val="0070C0"/>
                </a:solidFill>
                <a:latin typeface="+mn-ea"/>
              </a:rPr>
              <a:t>/</a:t>
            </a:r>
            <a:r>
              <a:rPr lang="ko-KR" altLang="en-US" sz="2000" b="1" dirty="0">
                <a:solidFill>
                  <a:srgbClr val="0070C0"/>
                </a:solidFill>
                <a:latin typeface="+mn-ea"/>
              </a:rPr>
              <a:t>선적</a:t>
            </a:r>
            <a:endParaRPr lang="en-US" altLang="ko-KR" sz="2000" b="1" dirty="0">
              <a:solidFill>
                <a:srgbClr val="0070C0"/>
              </a:solidFill>
              <a:latin typeface="+mn-ea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9E6CF75-C1D7-4915-7318-0DFDEE952D30}"/>
              </a:ext>
            </a:extLst>
          </p:cNvPr>
          <p:cNvSpPr txBox="1"/>
          <p:nvPr/>
        </p:nvSpPr>
        <p:spPr>
          <a:xfrm>
            <a:off x="325826" y="886609"/>
            <a:ext cx="87212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 dirty="0">
                <a:latin typeface="+mn-ea"/>
              </a:rPr>
              <a:t>수출통관</a:t>
            </a:r>
            <a:endParaRPr lang="en-US" altLang="ko-KR" sz="1400" b="1" dirty="0">
              <a:latin typeface="+mn-ea"/>
            </a:endParaRP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9A85F40B-6E53-7AF5-40C5-8C12D8120D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5262603"/>
              </p:ext>
            </p:extLst>
          </p:nvPr>
        </p:nvGraphicFramePr>
        <p:xfrm>
          <a:off x="418424" y="1341838"/>
          <a:ext cx="11178501" cy="326237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74093">
                  <a:extLst>
                    <a:ext uri="{9D8B030D-6E8A-4147-A177-3AD203B41FA5}">
                      <a16:colId xmlns:a16="http://schemas.microsoft.com/office/drawing/2014/main" val="3329243371"/>
                    </a:ext>
                  </a:extLst>
                </a:gridCol>
                <a:gridCol w="9604408">
                  <a:extLst>
                    <a:ext uri="{9D8B030D-6E8A-4147-A177-3AD203B41FA5}">
                      <a16:colId xmlns:a16="http://schemas.microsoft.com/office/drawing/2014/main" val="4123117689"/>
                    </a:ext>
                  </a:extLst>
                </a:gridCol>
              </a:tblGrid>
              <a:tr h="52612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주의사항</a:t>
                      </a:r>
                      <a:endParaRPr lang="en-US" altLang="ko-KR" sz="1200" b="1" dirty="0"/>
                    </a:p>
                    <a:p>
                      <a:pPr algn="ctr" latinLnBrk="1"/>
                      <a:r>
                        <a:rPr lang="ko-KR" altLang="en-US" sz="1200" b="1" dirty="0"/>
                        <a:t>또는</a:t>
                      </a:r>
                      <a:endParaRPr lang="en-US" altLang="ko-KR" sz="1200" b="1" dirty="0"/>
                    </a:p>
                    <a:p>
                      <a:pPr algn="ctr" latinLnBrk="1"/>
                      <a:r>
                        <a:rPr lang="ko-KR" altLang="en-US" sz="1200" b="1" dirty="0"/>
                        <a:t>확인사항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latinLnBrk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수입자가 현지 세관에 수입 신고할 때 사용할 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HS Code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와 앞 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자리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국제 공통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가 완벽하게 일치해야 함</a:t>
                      </a:r>
                      <a:endParaRPr lang="en-US" altLang="ko-KR" sz="10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indent="0" latinLnBrk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endParaRPr lang="en-US" altLang="ko-KR" sz="10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indent="0" latinLnBrk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1000" dirty="0"/>
                        <a:t>2. </a:t>
                      </a:r>
                      <a:r>
                        <a:rPr lang="ko-KR" altLang="en-US" sz="1000" dirty="0">
                          <a:hlinkClick r:id="rId4"/>
                        </a:rPr>
                        <a:t>화장품법 </a:t>
                      </a:r>
                      <a:r>
                        <a:rPr lang="ko-KR" altLang="en-US" sz="1000" dirty="0"/>
                        <a:t>제</a:t>
                      </a:r>
                      <a:r>
                        <a:rPr lang="en-US" altLang="ko-KR" sz="1000" dirty="0"/>
                        <a:t>16</a:t>
                      </a:r>
                      <a:r>
                        <a:rPr lang="ko-KR" altLang="en-US" sz="1000" dirty="0"/>
                        <a:t>조</a:t>
                      </a:r>
                      <a:r>
                        <a:rPr lang="en-US" altLang="ko-KR" sz="1000" dirty="0"/>
                        <a:t>: </a:t>
                      </a:r>
                      <a:r>
                        <a:rPr lang="ko-KR" altLang="en-US" sz="1000" dirty="0"/>
                        <a:t>판매 등의 금지</a:t>
                      </a:r>
                      <a:endParaRPr lang="en-US" altLang="ko-KR" sz="1000" dirty="0"/>
                    </a:p>
                    <a:p>
                      <a:pPr marL="0" indent="0" latinLnBrk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10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</a:t>
                      </a:r>
                      <a:r>
                        <a:rPr lang="ko-KR" altLang="ko-KR" sz="10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등록된 제조업자/</a:t>
                      </a:r>
                      <a:r>
                        <a:rPr lang="ko-KR" altLang="en-US" sz="10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제조판매업자가</a:t>
                      </a:r>
                      <a:r>
                        <a:rPr lang="ko-KR" altLang="ko-KR" sz="10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아닌 자가 </a:t>
                      </a:r>
                      <a:r>
                        <a:rPr lang="ko-KR" altLang="ko-KR" sz="1000" b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제조·수입한</a:t>
                      </a:r>
                      <a:r>
                        <a:rPr lang="ko-KR" altLang="ko-KR" sz="10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화장품</a:t>
                      </a:r>
                      <a:endParaRPr lang="en-US" altLang="ko-KR" sz="1000" b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indent="0" latinLnBrk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10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</a:t>
                      </a:r>
                      <a:r>
                        <a:rPr lang="ko-KR" altLang="ko-KR" sz="10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필수 </a:t>
                      </a:r>
                      <a:r>
                        <a:rPr lang="ko-KR" altLang="ko-KR" sz="1000" b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기재·표시</a:t>
                      </a:r>
                      <a:r>
                        <a:rPr lang="ko-KR" altLang="ko-KR" sz="10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사항(성분, 사용기한 등)을 위반하거나 의약품으로 오인하게 표시된 화장품</a:t>
                      </a:r>
                      <a:endParaRPr lang="en-US" altLang="ko-KR" sz="1000" b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indent="0" latinLnBrk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10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</a:t>
                      </a:r>
                      <a:r>
                        <a:rPr lang="ko-KR" altLang="en-US" sz="10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포</a:t>
                      </a:r>
                      <a:r>
                        <a:rPr lang="ko-KR" altLang="ko-KR" sz="10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장 및 </a:t>
                      </a:r>
                      <a:r>
                        <a:rPr lang="ko-KR" altLang="ko-KR" sz="1000" b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기재·표시</a:t>
                      </a:r>
                      <a:r>
                        <a:rPr lang="ko-KR" altLang="ko-KR" sz="10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사항을 훼손하거나 </a:t>
                      </a:r>
                      <a:r>
                        <a:rPr lang="ko-KR" altLang="ko-KR" sz="1000" b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위조·변조한</a:t>
                      </a:r>
                      <a:r>
                        <a:rPr lang="ko-KR" altLang="ko-KR" sz="10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화장품</a:t>
                      </a:r>
                      <a:endParaRPr lang="en-US" altLang="ko-KR" sz="1000" b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indent="0" latinLnBrk="0">
                        <a:lnSpc>
                          <a:spcPct val="150000"/>
                        </a:lnSpc>
                        <a:buFontTx/>
                        <a:buNone/>
                      </a:pPr>
                      <a:r>
                        <a:rPr lang="en-US" altLang="ko-KR" sz="10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</a:t>
                      </a:r>
                      <a:r>
                        <a:rPr lang="ko-KR" altLang="ko-KR" sz="10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화장품 용기에 담은 내용물을 나누어 판매(</a:t>
                      </a:r>
                      <a:r>
                        <a:rPr lang="ko-KR" altLang="ko-KR" sz="1000" b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소분</a:t>
                      </a:r>
                      <a:r>
                        <a:rPr lang="ko-KR" altLang="ko-KR" sz="10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)하는 것은 원칙적으로 금지</a:t>
                      </a:r>
                      <a:endParaRPr lang="en-US" altLang="ko-KR" sz="1000" b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indent="0" latinLnBrk="0">
                        <a:lnSpc>
                          <a:spcPct val="150000"/>
                        </a:lnSpc>
                        <a:buFontTx/>
                        <a:buNone/>
                      </a:pPr>
                      <a:endParaRPr lang="en-US" altLang="ko-KR" sz="1000" b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indent="0" latinLnBrk="0">
                        <a:lnSpc>
                          <a:spcPct val="150000"/>
                        </a:lnSpc>
                        <a:buFontTx/>
                        <a:buNone/>
                      </a:pPr>
                      <a:r>
                        <a:rPr lang="en-US" altLang="ko-KR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3. </a:t>
                      </a:r>
                      <a:r>
                        <a:rPr lang="ko-KR" alt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5"/>
                        </a:rPr>
                        <a:t>화장품법</a:t>
                      </a:r>
                      <a:r>
                        <a:rPr lang="ko-KR" alt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제 </a:t>
                      </a:r>
                      <a:r>
                        <a:rPr lang="en-US" altLang="ko-KR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30</a:t>
                      </a:r>
                      <a:r>
                        <a:rPr lang="ko-KR" alt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조</a:t>
                      </a:r>
                      <a:r>
                        <a:rPr lang="en-US" altLang="ko-KR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lang="ko-KR" altLang="ko-KR" sz="1000" dirty="0"/>
                        <a:t>수출용 제품의 예외</a:t>
                      </a:r>
                      <a:endParaRPr lang="en-US" altLang="ko-KR" sz="1000" dirty="0"/>
                    </a:p>
                    <a:p>
                      <a:pPr marL="0" indent="0" latinLnBrk="0">
                        <a:lnSpc>
                          <a:spcPct val="150000"/>
                        </a:lnSpc>
                        <a:buFontTx/>
                        <a:buNone/>
                      </a:pPr>
                      <a:r>
                        <a:rPr lang="en-US" altLang="ko-KR" sz="1000" dirty="0"/>
                        <a:t>-</a:t>
                      </a:r>
                      <a:r>
                        <a:rPr lang="ko-KR" altLang="en-US" sz="1000" dirty="0"/>
                        <a:t>국</a:t>
                      </a:r>
                      <a:r>
                        <a:rPr lang="ko-KR" altLang="ko-KR" sz="1000" dirty="0"/>
                        <a:t>내에서 판매되지 않고 </a:t>
                      </a:r>
                      <a:r>
                        <a:rPr lang="ko-KR" altLang="ko-KR" sz="10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수출만을 목적으로 하는 화장품</a:t>
                      </a:r>
                      <a:r>
                        <a:rPr lang="ko-KR" altLang="ko-KR" sz="1000" b="0" dirty="0"/>
                        <a:t>은 </a:t>
                      </a:r>
                      <a:r>
                        <a:rPr lang="ko-KR" altLang="ko-KR" sz="1000" dirty="0"/>
                        <a:t>제16조를 포함한 화장품법의 엄격한 </a:t>
                      </a:r>
                      <a:r>
                        <a:rPr lang="ko-KR" altLang="ko-KR" sz="1000" dirty="0" err="1"/>
                        <a:t>기재·표시</a:t>
                      </a:r>
                      <a:r>
                        <a:rPr lang="ko-KR" altLang="ko-KR" sz="1000" dirty="0"/>
                        <a:t> 규정 및 유통 기준을 면제받을 수 있</a:t>
                      </a:r>
                      <a:r>
                        <a:rPr lang="ko-KR" altLang="en-US" sz="1000" dirty="0"/>
                        <a:t>음</a:t>
                      </a:r>
                      <a:endParaRPr lang="en-US" altLang="ko-KR" sz="1000" dirty="0"/>
                    </a:p>
                    <a:p>
                      <a:pPr marL="0" indent="0" latinLnBrk="0">
                        <a:lnSpc>
                          <a:spcPct val="150000"/>
                        </a:lnSpc>
                        <a:buFontTx/>
                        <a:buNone/>
                      </a:pPr>
                      <a:r>
                        <a:rPr lang="ko-KR" altLang="ko-KR" sz="1000" dirty="0"/>
                        <a:t>대신, 해당 화장품은 </a:t>
                      </a:r>
                      <a:r>
                        <a:rPr lang="ko-KR" altLang="ko-KR" sz="10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수입국의 법령과 기준</a:t>
                      </a:r>
                      <a:r>
                        <a:rPr lang="ko-KR" altLang="ko-KR" sz="1000" b="0" dirty="0"/>
                        <a:t>을 </a:t>
                      </a:r>
                      <a:r>
                        <a:rPr lang="ko-KR" altLang="ko-KR" sz="1000" dirty="0"/>
                        <a:t>준수</a:t>
                      </a:r>
                      <a:endParaRPr lang="en-US" altLang="ko-KR" sz="1000" dirty="0"/>
                    </a:p>
                    <a:p>
                      <a:pPr marL="0" indent="0" latinLnBrk="0">
                        <a:lnSpc>
                          <a:spcPct val="150000"/>
                        </a:lnSpc>
                        <a:buFontTx/>
                        <a:buNone/>
                      </a:pPr>
                      <a:endParaRPr lang="en-US" altLang="ko-KR" sz="1000" dirty="0"/>
                    </a:p>
                    <a:p>
                      <a:pPr marL="0" indent="0" latinLnBrk="0">
                        <a:lnSpc>
                          <a:spcPct val="150000"/>
                        </a:lnSpc>
                        <a:buFontTx/>
                        <a:buNone/>
                      </a:pPr>
                      <a:r>
                        <a:rPr lang="en-US" altLang="ko-KR" sz="1000" dirty="0"/>
                        <a:t>4. </a:t>
                      </a:r>
                      <a:r>
                        <a:rPr lang="ko-KR" altLang="en-US" sz="1000" dirty="0"/>
                        <a:t>보세창고</a:t>
                      </a:r>
                      <a:endParaRPr lang="en-US" altLang="ko-KR" sz="1000" dirty="0"/>
                    </a:p>
                    <a:p>
                      <a:pPr marL="0" indent="0" latinLnBrk="0">
                        <a:lnSpc>
                          <a:spcPct val="150000"/>
                        </a:lnSpc>
                        <a:buFontTx/>
                        <a:buNone/>
                      </a:pPr>
                      <a:r>
                        <a:rPr lang="en-US" altLang="ko-KR" sz="1000" dirty="0"/>
                        <a:t>-</a:t>
                      </a:r>
                      <a:r>
                        <a:rPr lang="ko-KR" altLang="ko-KR" sz="1000" dirty="0"/>
                        <a:t>보세창고는 외국에서 도착한 물품을 수입 신고 전, 관세 납부가 유예된 상태로 보관할 수 있는 창고</a:t>
                      </a:r>
                      <a:endParaRPr lang="en-US" altLang="ko-KR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947956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22233678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9BE59D-2EC8-580A-54F0-896E05A564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83680017-532B-F30F-00A1-79EED46A20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4375897"/>
              </p:ext>
            </p:extLst>
          </p:nvPr>
        </p:nvGraphicFramePr>
        <p:xfrm>
          <a:off x="405898" y="1124813"/>
          <a:ext cx="11178501" cy="561513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74093">
                  <a:extLst>
                    <a:ext uri="{9D8B030D-6E8A-4147-A177-3AD203B41FA5}">
                      <a16:colId xmlns:a16="http://schemas.microsoft.com/office/drawing/2014/main" val="3376188853"/>
                    </a:ext>
                  </a:extLst>
                </a:gridCol>
                <a:gridCol w="4802204">
                  <a:extLst>
                    <a:ext uri="{9D8B030D-6E8A-4147-A177-3AD203B41FA5}">
                      <a16:colId xmlns:a16="http://schemas.microsoft.com/office/drawing/2014/main" val="4224328845"/>
                    </a:ext>
                  </a:extLst>
                </a:gridCol>
                <a:gridCol w="4802204">
                  <a:extLst>
                    <a:ext uri="{9D8B030D-6E8A-4147-A177-3AD203B41FA5}">
                      <a16:colId xmlns:a16="http://schemas.microsoft.com/office/drawing/2014/main" val="2523587532"/>
                    </a:ext>
                  </a:extLst>
                </a:gridCol>
              </a:tblGrid>
              <a:tr h="29392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설명 또는 정의</a:t>
                      </a: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latinLnBrk="0">
                        <a:lnSpc>
                          <a:spcPct val="150000"/>
                        </a:lnSpc>
                      </a:pPr>
                      <a:r>
                        <a:rPr lang="ko-KR" altLang="ko-KR" sz="1000" dirty="0"/>
                        <a:t>일본의 화장품 및 </a:t>
                      </a:r>
                      <a:r>
                        <a:rPr lang="ko-KR" altLang="ko-KR" sz="1000" dirty="0" err="1"/>
                        <a:t>의약부외품</a:t>
                      </a:r>
                      <a:r>
                        <a:rPr lang="ko-KR" altLang="ko-KR" sz="1000" dirty="0"/>
                        <a:t> 현지 통관이란, 일본 관세법 제70조에 의거하여 세관이 수입 물품의 무역 서류와 현지 수입업자가 사전에 </a:t>
                      </a:r>
                      <a:r>
                        <a:rPr lang="ko-KR" altLang="ko-KR" sz="1000" dirty="0" err="1"/>
                        <a:t>PMDA로부터</a:t>
                      </a:r>
                      <a:r>
                        <a:rPr lang="ko-KR" altLang="ko-KR" sz="1000" dirty="0"/>
                        <a:t> 허가</a:t>
                      </a:r>
                      <a:r>
                        <a:rPr lang="en-US" altLang="ko-KR" sz="1000" dirty="0"/>
                        <a:t> </a:t>
                      </a:r>
                      <a:r>
                        <a:rPr lang="ko-KR" altLang="en-US" sz="1000" dirty="0"/>
                        <a:t>및 </a:t>
                      </a:r>
                      <a:r>
                        <a:rPr lang="ko-KR" altLang="ko-KR" sz="1000" dirty="0" err="1"/>
                        <a:t>승인받은</a:t>
                      </a:r>
                      <a:r>
                        <a:rPr lang="ko-KR" altLang="ko-KR" sz="1000" dirty="0"/>
                        <a:t> 약기법상의 데이터를 NACCS 전산망으로 교차 검증하여 수입을 승인하는 요건 확인 절차</a:t>
                      </a:r>
                      <a:endParaRPr lang="en-US" altLang="ko-KR" sz="10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9518004"/>
                  </a:ext>
                </a:extLst>
              </a:tr>
              <a:tr h="2946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방식</a:t>
                      </a: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latinLnBrk="0">
                        <a:lnSpc>
                          <a:spcPct val="150000"/>
                        </a:lnSpc>
                      </a:pP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3"/>
                        </a:rPr>
                        <a:t>[NACCS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3"/>
                        </a:rPr>
                        <a:t>시스템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3"/>
                        </a:rPr>
                        <a:t>]</a:t>
                      </a:r>
                      <a:endParaRPr lang="en-US" altLang="ko-KR" sz="10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indent="0" latinLnBrk="0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 MAH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가 직접 등록 및 신고</a:t>
                      </a:r>
                      <a:endParaRPr lang="en-US" altLang="ko-KR" sz="10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indent="0" latinLnBrk="0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- </a:t>
                      </a:r>
                      <a:r>
                        <a:rPr lang="ko-KR" altLang="ko-KR" sz="1000" dirty="0" err="1">
                          <a:solidFill>
                            <a:schemeClr val="tx1"/>
                          </a:solidFill>
                        </a:rPr>
                        <a:t>MAH가</a:t>
                      </a:r>
                      <a:r>
                        <a:rPr lang="ko-KR" altLang="ko-KR" sz="1000" dirty="0">
                          <a:solidFill>
                            <a:schemeClr val="tx1"/>
                          </a:solidFill>
                        </a:rPr>
                        <a:t> NACCS </a:t>
                      </a:r>
                      <a:r>
                        <a:rPr lang="ko-KR" altLang="ko-KR" sz="1000" dirty="0" err="1">
                          <a:solidFill>
                            <a:schemeClr val="tx1"/>
                          </a:solidFill>
                        </a:rPr>
                        <a:t>이용자ID를</a:t>
                      </a:r>
                      <a:r>
                        <a:rPr lang="ko-KR" altLang="ko-KR" sz="1000" dirty="0">
                          <a:solidFill>
                            <a:schemeClr val="tx1"/>
                          </a:solidFill>
                        </a:rPr>
                        <a:t> 직접 보유하고, 세관에 수입신고서를 직접 제출</a:t>
                      </a:r>
                      <a:endParaRPr lang="en-US" altLang="ko-KR" sz="10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indent="0" latinLnBrk="0">
                        <a:lnSpc>
                          <a:spcPct val="150000"/>
                        </a:lnSpc>
                        <a:buFontTx/>
                        <a:buNone/>
                      </a:pP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통관업자 위탁 방식</a:t>
                      </a:r>
                      <a:endParaRPr lang="en-US" altLang="ko-KR" sz="10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indent="0" latinLnBrk="0">
                        <a:lnSpc>
                          <a:spcPct val="150000"/>
                        </a:lnSpc>
                        <a:buFontTx/>
                        <a:buNone/>
                      </a:pP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</a:t>
                      </a:r>
                      <a:r>
                        <a:rPr lang="ko-KR" altLang="ko-KR" sz="1000" dirty="0">
                          <a:solidFill>
                            <a:schemeClr val="tx1"/>
                          </a:solidFill>
                        </a:rPr>
                        <a:t>인보이스, 패킹리스트, 허가증/신고서 사본 등 통관업자에게 전달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후</a:t>
                      </a:r>
                      <a:r>
                        <a:rPr lang="ko-KR" altLang="ko-KR" sz="1000" dirty="0">
                          <a:solidFill>
                            <a:schemeClr val="tx1"/>
                          </a:solidFill>
                        </a:rPr>
                        <a:t> 통관업자가 자신의 NACCS 계정으로 신고 대행</a:t>
                      </a:r>
                      <a:endParaRPr lang="en-US" altLang="ko-KR" sz="10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9504629"/>
                  </a:ext>
                </a:extLst>
              </a:tr>
              <a:tr h="37592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기관</a:t>
                      </a: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latinLnBrk="0">
                        <a:lnSpc>
                          <a:spcPct val="150000"/>
                        </a:lnSpc>
                      </a:pPr>
                      <a:r>
                        <a:rPr lang="ko-KR" altLang="ko-KR" sz="1000" dirty="0">
                          <a:latin typeface="+mj-lt"/>
                        </a:rPr>
                        <a:t>일본 </a:t>
                      </a:r>
                      <a:r>
                        <a:rPr lang="ko-KR" altLang="ko-KR" sz="1000" dirty="0" err="1">
                          <a:latin typeface="+mj-lt"/>
                        </a:rPr>
                        <a:t>재무성</a:t>
                      </a:r>
                      <a:r>
                        <a:rPr lang="ko-KR" altLang="ko-KR" sz="1000" dirty="0">
                          <a:latin typeface="+mj-lt"/>
                        </a:rPr>
                        <a:t> 관세국 / 지방정부 </a:t>
                      </a:r>
                      <a:r>
                        <a:rPr lang="ko-KR" altLang="ko-KR" sz="1000" dirty="0" err="1">
                          <a:latin typeface="+mj-lt"/>
                        </a:rPr>
                        <a:t>약무과</a:t>
                      </a:r>
                      <a:r>
                        <a:rPr lang="en-US" altLang="ko-KR" sz="1000" dirty="0">
                          <a:latin typeface="+mj-lt"/>
                        </a:rPr>
                        <a:t> / </a:t>
                      </a:r>
                      <a:r>
                        <a:rPr lang="ko-KR" altLang="ko-KR" sz="10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후생노동성</a:t>
                      </a:r>
                      <a:endParaRPr lang="en-US" altLang="ko-KR" sz="1000" b="0" i="0" kern="1200" dirty="0"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7785727"/>
                  </a:ext>
                </a:extLst>
              </a:tr>
              <a:tr h="617993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200" b="1" dirty="0"/>
                        <a:t>참고 또는</a:t>
                      </a:r>
                      <a:endParaRPr lang="en-US" altLang="ko-KR" sz="1200" b="1" dirty="0"/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200" b="1" dirty="0"/>
                        <a:t>필요서류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0">
                        <a:lnSpc>
                          <a:spcPct val="150000"/>
                        </a:lnSpc>
                      </a:pP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화장품 수입신고 시 필요서류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]</a:t>
                      </a:r>
                    </a:p>
                    <a:p>
                      <a:pPr latinLnBrk="0">
                        <a:lnSpc>
                          <a:spcPct val="150000"/>
                        </a:lnSpc>
                      </a:pP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* 무역계약서</a:t>
                      </a:r>
                    </a:p>
                    <a:p>
                      <a:pPr latinLnBrk="0">
                        <a:lnSpc>
                          <a:spcPct val="150000"/>
                        </a:lnSpc>
                      </a:pP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* </a:t>
                      </a:r>
                      <a:r>
                        <a:rPr lang="ko-KR" altLang="en-US" sz="1000" b="0" i="0" kern="1200" dirty="0" err="1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상업송장</a:t>
                      </a:r>
                      <a:endParaRPr lang="ko-KR" altLang="en-US" sz="1000" b="0" i="0" kern="1200" dirty="0"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  <a:cs typeface="+mn-cs"/>
                      </a:endParaRPr>
                    </a:p>
                    <a:p>
                      <a:pPr latinLnBrk="0">
                        <a:lnSpc>
                          <a:spcPct val="150000"/>
                        </a:lnSpc>
                      </a:pP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* 포장명세서</a:t>
                      </a:r>
                    </a:p>
                    <a:p>
                      <a:pPr marL="0" indent="0" latinLnBrk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*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선하증권</a:t>
                      </a:r>
                      <a:endParaRPr lang="en-US" altLang="ko-KR" sz="1000" b="0" i="0" kern="1200" dirty="0"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  <a:cs typeface="+mn-cs"/>
                      </a:endParaRPr>
                    </a:p>
                    <a:p>
                      <a:pPr marL="0" indent="0" latinLnBrk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*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화물명세서</a:t>
                      </a:r>
                      <a:endParaRPr lang="en-US" altLang="ko-KR" sz="1000" b="0" i="0" kern="1200" dirty="0"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  <a:cs typeface="+mn-cs"/>
                      </a:endParaRPr>
                    </a:p>
                    <a:p>
                      <a:pPr marL="0" indent="0" latinLnBrk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1000" dirty="0">
                          <a:latin typeface="+mj-lt"/>
                        </a:rPr>
                        <a:t>* </a:t>
                      </a:r>
                      <a:r>
                        <a:rPr lang="ko-KR" altLang="ko-KR" sz="1000" dirty="0">
                          <a:latin typeface="+mj-lt"/>
                        </a:rPr>
                        <a:t>원산지증명서 (C/</a:t>
                      </a:r>
                      <a:r>
                        <a:rPr lang="ko-KR" altLang="ko-KR" sz="1000" dirty="0" err="1">
                          <a:latin typeface="+mj-lt"/>
                        </a:rPr>
                        <a:t>O</a:t>
                      </a:r>
                      <a:r>
                        <a:rPr lang="ko-KR" altLang="ko-KR" sz="1000" dirty="0">
                          <a:latin typeface="+mj-lt"/>
                        </a:rPr>
                        <a:t>)</a:t>
                      </a:r>
                      <a:endParaRPr lang="en-US" altLang="ko-KR" sz="1000" dirty="0">
                        <a:latin typeface="+mj-lt"/>
                      </a:endParaRPr>
                    </a:p>
                    <a:p>
                      <a:pPr marL="0" indent="0" latinLnBrk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1000" dirty="0">
                          <a:latin typeface="+mj-lt"/>
                        </a:rPr>
                        <a:t>* </a:t>
                      </a:r>
                      <a:r>
                        <a:rPr lang="ko-KR" altLang="ko-KR" sz="1000" dirty="0">
                          <a:latin typeface="+mj-lt"/>
                        </a:rPr>
                        <a:t>화장품</a:t>
                      </a:r>
                      <a:r>
                        <a:rPr lang="en-US" altLang="ko-KR" sz="1000" dirty="0">
                          <a:latin typeface="+mj-lt"/>
                        </a:rPr>
                        <a:t> </a:t>
                      </a:r>
                      <a:r>
                        <a:rPr lang="ko-KR" altLang="ko-KR" sz="1000" dirty="0">
                          <a:latin typeface="+mj-lt"/>
                        </a:rPr>
                        <a:t>제조판매업 허가증</a:t>
                      </a:r>
                      <a:endParaRPr lang="en-US" altLang="ko-KR" sz="1000" dirty="0">
                        <a:latin typeface="+mj-lt"/>
                      </a:endParaRPr>
                    </a:p>
                    <a:p>
                      <a:pPr marL="0" indent="0" latinLnBrk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1000" dirty="0">
                          <a:latin typeface="+mj-lt"/>
                        </a:rPr>
                        <a:t>* </a:t>
                      </a:r>
                      <a:r>
                        <a:rPr lang="ko-KR" altLang="ko-KR" sz="1000" dirty="0">
                          <a:latin typeface="+mj-lt"/>
                        </a:rPr>
                        <a:t>화장품 제조판매 </a:t>
                      </a:r>
                      <a:r>
                        <a:rPr lang="ko-KR" altLang="en-US" sz="1000" dirty="0">
                          <a:latin typeface="+mj-lt"/>
                        </a:rPr>
                        <a:t>신고서</a:t>
                      </a:r>
                      <a:endParaRPr lang="en-US" altLang="ko-KR" sz="1000" dirty="0">
                        <a:latin typeface="+mj-lt"/>
                      </a:endParaRPr>
                    </a:p>
                    <a:p>
                      <a:pPr marL="0" indent="0" latinLnBrk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1000" dirty="0">
                          <a:latin typeface="+mj-lt"/>
                        </a:rPr>
                        <a:t>* </a:t>
                      </a:r>
                      <a:r>
                        <a:rPr lang="ko-KR" altLang="en-US" sz="1000" dirty="0">
                          <a:latin typeface="+mj-lt"/>
                        </a:rPr>
                        <a:t>화장품 제조업 허가증</a:t>
                      </a:r>
                      <a:endParaRPr lang="en-US" altLang="ko-KR" sz="1000" dirty="0">
                        <a:latin typeface="+mj-lt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000" dirty="0"/>
                        <a:t>* </a:t>
                      </a:r>
                      <a:r>
                        <a:rPr lang="ko-KR" altLang="ko-KR" sz="1000" dirty="0"/>
                        <a:t>외국 제조</a:t>
                      </a:r>
                      <a:r>
                        <a:rPr lang="ko-KR" altLang="en-US" sz="1000" dirty="0"/>
                        <a:t>판매</a:t>
                      </a:r>
                      <a:r>
                        <a:rPr lang="ko-KR" altLang="ko-KR" sz="1000" dirty="0"/>
                        <a:t>업자 신고</a:t>
                      </a:r>
                      <a:r>
                        <a:rPr lang="ko-KR" altLang="en-US" sz="1000" dirty="0"/>
                        <a:t>서</a:t>
                      </a:r>
                      <a:br>
                        <a:rPr lang="en-US" altLang="ko-KR" sz="1000" dirty="0"/>
                      </a:br>
                      <a:r>
                        <a:rPr lang="en-US" altLang="ko-KR" sz="1000" dirty="0"/>
                        <a:t>* </a:t>
                      </a:r>
                      <a:r>
                        <a:rPr lang="ko-KR" altLang="en-US" sz="1000" dirty="0"/>
                        <a:t>외국 제조업자 신고서</a:t>
                      </a:r>
                      <a:endParaRPr lang="en-US" altLang="ko-KR" sz="1000" dirty="0">
                        <a:latin typeface="+mj-lt"/>
                      </a:endParaRPr>
                    </a:p>
                    <a:p>
                      <a:pPr marL="0" indent="0" latinLnBrk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1000" dirty="0">
                          <a:latin typeface="+mj-lt"/>
                        </a:rPr>
                        <a:t>* </a:t>
                      </a:r>
                      <a:r>
                        <a:rPr lang="ko-KR" altLang="en-US" sz="1000" dirty="0">
                          <a:latin typeface="+mj-lt"/>
                        </a:rPr>
                        <a:t>전성분표 및 시험성적서</a:t>
                      </a:r>
                      <a:endParaRPr lang="ko-KR" altLang="en-US" sz="1000" b="0" i="0" kern="1200" dirty="0"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0">
                        <a:lnSpc>
                          <a:spcPct val="150000"/>
                        </a:lnSpc>
                      </a:pP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en-US" sz="1000" b="0" i="0" kern="1200" dirty="0" err="1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의약부외품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 수입신고 시 필요서류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]</a:t>
                      </a:r>
                    </a:p>
                    <a:p>
                      <a:pPr latinLnBrk="0">
                        <a:lnSpc>
                          <a:spcPct val="150000"/>
                        </a:lnSpc>
                      </a:pP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* 무역계약서</a:t>
                      </a:r>
                    </a:p>
                    <a:p>
                      <a:pPr latinLnBrk="0">
                        <a:lnSpc>
                          <a:spcPct val="150000"/>
                        </a:lnSpc>
                      </a:pP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* </a:t>
                      </a:r>
                      <a:r>
                        <a:rPr lang="ko-KR" altLang="en-US" sz="1000" b="0" i="0" kern="1200" dirty="0" err="1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상업송장</a:t>
                      </a:r>
                      <a:endParaRPr lang="ko-KR" altLang="en-US" sz="1000" b="0" i="0" kern="1200" dirty="0"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  <a:cs typeface="+mn-cs"/>
                      </a:endParaRPr>
                    </a:p>
                    <a:p>
                      <a:pPr latinLnBrk="0">
                        <a:lnSpc>
                          <a:spcPct val="150000"/>
                        </a:lnSpc>
                      </a:pP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* 포장명세서</a:t>
                      </a:r>
                    </a:p>
                    <a:p>
                      <a:pPr marL="0" indent="0" latinLnBrk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*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선하증권</a:t>
                      </a:r>
                      <a:endParaRPr lang="en-US" altLang="ko-KR" sz="1000" b="0" i="0" kern="1200" dirty="0"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  <a:cs typeface="+mn-cs"/>
                      </a:endParaRPr>
                    </a:p>
                    <a:p>
                      <a:pPr marL="0" indent="0" latinLnBrk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*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화물명세서</a:t>
                      </a:r>
                      <a:endParaRPr lang="en-US" altLang="ko-KR" sz="1000" b="0" i="0" kern="1200" dirty="0"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  <a:cs typeface="+mn-cs"/>
                      </a:endParaRPr>
                    </a:p>
                    <a:p>
                      <a:pPr marL="0" indent="0" latinLnBrk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1000" dirty="0">
                          <a:latin typeface="+mj-lt"/>
                        </a:rPr>
                        <a:t>* </a:t>
                      </a:r>
                      <a:r>
                        <a:rPr lang="ko-KR" altLang="ko-KR" sz="1000" dirty="0">
                          <a:latin typeface="+mj-lt"/>
                        </a:rPr>
                        <a:t>원산지증명서 (C/</a:t>
                      </a:r>
                      <a:r>
                        <a:rPr lang="ko-KR" altLang="ko-KR" sz="1000" dirty="0" err="1">
                          <a:latin typeface="+mj-lt"/>
                        </a:rPr>
                        <a:t>O</a:t>
                      </a:r>
                      <a:r>
                        <a:rPr lang="ko-KR" altLang="ko-KR" sz="1000" dirty="0">
                          <a:latin typeface="+mj-lt"/>
                        </a:rPr>
                        <a:t>)</a:t>
                      </a:r>
                      <a:endParaRPr lang="en-US" altLang="ko-KR" sz="1000" dirty="0">
                        <a:latin typeface="+mj-lt"/>
                      </a:endParaRPr>
                    </a:p>
                    <a:p>
                      <a:pPr marL="0" indent="0" latinLnBrk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1000" dirty="0">
                          <a:latin typeface="+mj-lt"/>
                        </a:rPr>
                        <a:t>* </a:t>
                      </a:r>
                      <a:r>
                        <a:rPr lang="ko-KR" altLang="ko-KR" sz="1000" dirty="0" err="1">
                          <a:latin typeface="+mj-lt"/>
                        </a:rPr>
                        <a:t>의약부외품</a:t>
                      </a:r>
                      <a:r>
                        <a:rPr lang="ko-KR" altLang="ko-KR" sz="1000" dirty="0">
                          <a:latin typeface="+mj-lt"/>
                        </a:rPr>
                        <a:t> 제조판매업 </a:t>
                      </a:r>
                      <a:r>
                        <a:rPr lang="ko-KR" altLang="en-US" sz="1000" dirty="0">
                          <a:latin typeface="+mj-lt"/>
                        </a:rPr>
                        <a:t>허가증</a:t>
                      </a:r>
                      <a:endParaRPr lang="en-US" altLang="ko-KR" sz="1000" dirty="0">
                        <a:latin typeface="+mj-lt"/>
                      </a:endParaRPr>
                    </a:p>
                    <a:p>
                      <a:pPr marL="0" indent="0" latinLnBrk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1000" dirty="0">
                          <a:latin typeface="+mj-lt"/>
                        </a:rPr>
                        <a:t>* </a:t>
                      </a:r>
                      <a:r>
                        <a:rPr lang="ko-KR" altLang="en-US" sz="1000" dirty="0" err="1">
                          <a:latin typeface="+mj-lt"/>
                        </a:rPr>
                        <a:t>의약부외품</a:t>
                      </a:r>
                      <a:r>
                        <a:rPr lang="ko-KR" altLang="en-US" sz="1000" dirty="0">
                          <a:latin typeface="+mj-lt"/>
                        </a:rPr>
                        <a:t> 제조판매 승인서</a:t>
                      </a:r>
                      <a:endParaRPr lang="en-US" altLang="ko-KR" sz="1000" dirty="0">
                        <a:latin typeface="+mj-lt"/>
                      </a:endParaRPr>
                    </a:p>
                    <a:p>
                      <a:pPr marL="0" indent="0" latinLnBrk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1000" dirty="0">
                          <a:latin typeface="+mj-lt"/>
                        </a:rPr>
                        <a:t>* </a:t>
                      </a:r>
                      <a:r>
                        <a:rPr lang="ko-KR" altLang="ko-KR" sz="1000" dirty="0" err="1">
                          <a:latin typeface="+mj-lt"/>
                        </a:rPr>
                        <a:t>의약부외품</a:t>
                      </a:r>
                      <a:r>
                        <a:rPr lang="ko-KR" altLang="ko-KR" sz="1000" dirty="0">
                          <a:latin typeface="+mj-lt"/>
                        </a:rPr>
                        <a:t> 제조</a:t>
                      </a:r>
                      <a:r>
                        <a:rPr lang="ko-KR" altLang="en-US" sz="1000" dirty="0">
                          <a:latin typeface="+mj-lt"/>
                        </a:rPr>
                        <a:t>업</a:t>
                      </a:r>
                      <a:r>
                        <a:rPr lang="ko-KR" altLang="ko-KR" sz="1000" dirty="0">
                          <a:latin typeface="+mj-lt"/>
                        </a:rPr>
                        <a:t> </a:t>
                      </a:r>
                      <a:r>
                        <a:rPr lang="ko-KR" altLang="en-US" sz="1000" dirty="0">
                          <a:latin typeface="+mj-lt"/>
                        </a:rPr>
                        <a:t>허가증</a:t>
                      </a:r>
                      <a:endParaRPr lang="en-US" altLang="ko-KR" sz="1000" dirty="0">
                        <a:latin typeface="+mj-lt"/>
                      </a:endParaRPr>
                    </a:p>
                    <a:p>
                      <a:pPr marL="0" indent="0" latinLnBrk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1000" dirty="0">
                          <a:latin typeface="+mj-lt"/>
                        </a:rPr>
                        <a:t>* </a:t>
                      </a:r>
                      <a:r>
                        <a:rPr lang="ko-KR" altLang="ko-KR" sz="1000" dirty="0">
                          <a:latin typeface="+mj-lt"/>
                        </a:rPr>
                        <a:t>외국제조업자 </a:t>
                      </a:r>
                      <a:r>
                        <a:rPr lang="ko-KR" altLang="en-US" sz="1000" dirty="0">
                          <a:latin typeface="+mj-lt"/>
                        </a:rPr>
                        <a:t>인정</a:t>
                      </a:r>
                      <a:r>
                        <a:rPr lang="ko-KR" altLang="ko-KR" sz="1000" dirty="0">
                          <a:latin typeface="+mj-lt"/>
                        </a:rPr>
                        <a:t>서</a:t>
                      </a:r>
                      <a:endParaRPr lang="en-US" altLang="ko-KR" sz="1000" dirty="0">
                        <a:latin typeface="+mj-lt"/>
                      </a:endParaRPr>
                    </a:p>
                    <a:p>
                      <a:pPr marL="0" indent="0" latinLnBrk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1000" dirty="0">
                          <a:latin typeface="+mj-lt"/>
                        </a:rPr>
                        <a:t>* </a:t>
                      </a:r>
                      <a:r>
                        <a:rPr lang="ko-KR" altLang="ko-KR" sz="1000" dirty="0">
                          <a:latin typeface="+mj-lt"/>
                        </a:rPr>
                        <a:t>GMP 적합성 조사 결과 통지서 사본</a:t>
                      </a:r>
                      <a:endParaRPr lang="en-US" altLang="ko-KR" sz="1000" dirty="0">
                        <a:latin typeface="+mj-lt"/>
                      </a:endParaRPr>
                    </a:p>
                    <a:p>
                      <a:pPr marL="0" indent="0" latinLnBrk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1000" dirty="0">
                          <a:latin typeface="+mj-lt"/>
                        </a:rPr>
                        <a:t>* </a:t>
                      </a:r>
                      <a:r>
                        <a:rPr lang="ko-KR" altLang="ko-KR" sz="1000" dirty="0">
                          <a:latin typeface="+mj-lt"/>
                        </a:rPr>
                        <a:t>성분분석표</a:t>
                      </a:r>
                      <a:endParaRPr lang="en-US" altLang="ko-KR" sz="1000" b="0" i="0" kern="1200" dirty="0"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71127830"/>
                  </a:ext>
                </a:extLst>
              </a:tr>
              <a:tr h="481286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200" b="1" dirty="0"/>
                        <a:t>절차</a:t>
                      </a: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latinLnBrk="0">
                        <a:lnSpc>
                          <a:spcPct val="150000"/>
                        </a:lnSpc>
                      </a:pPr>
                      <a:r>
                        <a:rPr lang="ko-KR" altLang="ko-KR" sz="1000" dirty="0">
                          <a:latin typeface="+mj-lt"/>
                        </a:rPr>
                        <a:t>수입신고</a:t>
                      </a:r>
                      <a:r>
                        <a:rPr lang="en-US" altLang="ko-KR" sz="1000" dirty="0">
                          <a:latin typeface="+mj-lt"/>
                        </a:rPr>
                        <a:t>/</a:t>
                      </a:r>
                      <a:r>
                        <a:rPr lang="ko-KR" altLang="ko-KR" sz="1000" dirty="0" err="1">
                          <a:latin typeface="+mj-lt"/>
                        </a:rPr>
                        <a:t>약기법</a:t>
                      </a:r>
                      <a:r>
                        <a:rPr lang="ko-KR" altLang="ko-KR" sz="1000" dirty="0">
                          <a:latin typeface="+mj-lt"/>
                        </a:rPr>
                        <a:t> 심사</a:t>
                      </a:r>
                      <a:r>
                        <a:rPr lang="en-US" altLang="ko-KR" sz="1000" dirty="0">
                          <a:latin typeface="+mj-lt"/>
                        </a:rPr>
                        <a:t>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→ </a:t>
                      </a:r>
                      <a:r>
                        <a:rPr lang="en-US" altLang="ko-KR" sz="1000" dirty="0">
                          <a:latin typeface="+mj-lt"/>
                        </a:rPr>
                        <a:t> </a:t>
                      </a:r>
                      <a:r>
                        <a:rPr lang="ko-KR" altLang="ko-KR" sz="1000" dirty="0">
                          <a:latin typeface="+mj-lt"/>
                        </a:rPr>
                        <a:t>세금</a:t>
                      </a:r>
                      <a:r>
                        <a:rPr lang="en-US" altLang="ko-KR" sz="1000" dirty="0">
                          <a:latin typeface="+mj-lt"/>
                        </a:rPr>
                        <a:t> </a:t>
                      </a:r>
                      <a:r>
                        <a:rPr lang="ko-KR" altLang="en-US" sz="1000" dirty="0">
                          <a:latin typeface="+mj-lt"/>
                        </a:rPr>
                        <a:t>및 관세</a:t>
                      </a:r>
                      <a:r>
                        <a:rPr lang="ko-KR" altLang="ko-KR" sz="1000" dirty="0">
                          <a:latin typeface="+mj-lt"/>
                        </a:rPr>
                        <a:t> 납부</a:t>
                      </a:r>
                      <a:r>
                        <a:rPr lang="en-US" altLang="ko-KR" sz="1000" dirty="0">
                          <a:latin typeface="+mj-lt"/>
                        </a:rPr>
                        <a:t>/</a:t>
                      </a:r>
                      <a:r>
                        <a:rPr lang="ko-KR" altLang="en-US" sz="1000" dirty="0">
                          <a:latin typeface="+mj-lt"/>
                        </a:rPr>
                        <a:t>수입허가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→ </a:t>
                      </a:r>
                      <a:r>
                        <a:rPr lang="ko-KR" altLang="ko-KR" sz="1000" dirty="0" err="1">
                          <a:latin typeface="+mj-lt"/>
                        </a:rPr>
                        <a:t>라벨링</a:t>
                      </a:r>
                      <a:r>
                        <a:rPr lang="ko-KR" altLang="ko-KR" sz="1000" dirty="0">
                          <a:latin typeface="+mj-lt"/>
                        </a:rPr>
                        <a:t> 및 시장 출하 승인</a:t>
                      </a:r>
                      <a:endParaRPr lang="en-US" altLang="ko-KR" sz="1000" b="0" i="0" kern="1200" dirty="0"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4222730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3F63FF21-E4CC-B0A9-6CFC-CD6311F3C884}"/>
              </a:ext>
            </a:extLst>
          </p:cNvPr>
          <p:cNvSpPr txBox="1"/>
          <p:nvPr/>
        </p:nvSpPr>
        <p:spPr>
          <a:xfrm>
            <a:off x="325826" y="339047"/>
            <a:ext cx="87212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solidFill>
                  <a:srgbClr val="0070C0"/>
                </a:solidFill>
                <a:latin typeface="+mn-ea"/>
              </a:rPr>
              <a:t>05. </a:t>
            </a:r>
            <a:r>
              <a:rPr lang="ko-KR" altLang="en-US" sz="2000" b="1" dirty="0">
                <a:solidFill>
                  <a:srgbClr val="0070C0"/>
                </a:solidFill>
                <a:latin typeface="+mn-ea"/>
              </a:rPr>
              <a:t>현지통관 및 </a:t>
            </a:r>
            <a:r>
              <a:rPr lang="ko-KR" altLang="en-US" sz="2000" b="1" dirty="0" err="1">
                <a:solidFill>
                  <a:srgbClr val="0070C0"/>
                </a:solidFill>
                <a:latin typeface="+mn-ea"/>
              </a:rPr>
              <a:t>라벨링</a:t>
            </a:r>
            <a:r>
              <a:rPr lang="ko-KR" altLang="en-US" sz="2000" b="1" dirty="0">
                <a:solidFill>
                  <a:srgbClr val="0070C0"/>
                </a:solidFill>
                <a:latin typeface="+mn-ea"/>
              </a:rPr>
              <a:t> 규정</a:t>
            </a:r>
            <a:endParaRPr lang="en-US" altLang="ko-KR" sz="2000" b="1" dirty="0">
              <a:solidFill>
                <a:srgbClr val="0070C0"/>
              </a:solidFill>
              <a:latin typeface="+mn-ea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33385BE-FAB6-B335-9A04-25319F535FBD}"/>
              </a:ext>
            </a:extLst>
          </p:cNvPr>
          <p:cNvSpPr txBox="1"/>
          <p:nvPr/>
        </p:nvSpPr>
        <p:spPr>
          <a:xfrm>
            <a:off x="325826" y="886609"/>
            <a:ext cx="87212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 dirty="0">
                <a:latin typeface="+mn-ea"/>
              </a:rPr>
              <a:t>현지통관</a:t>
            </a:r>
            <a:endParaRPr lang="en-US" altLang="ko-KR" sz="1400" b="1" dirty="0">
              <a:latin typeface="+mn-e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E170AB-E876-7CAB-FAEC-679355AED335}"/>
              </a:ext>
            </a:extLst>
          </p:cNvPr>
          <p:cNvSpPr txBox="1"/>
          <p:nvPr/>
        </p:nvSpPr>
        <p:spPr>
          <a:xfrm>
            <a:off x="0" y="6596390"/>
            <a:ext cx="1634308" cy="261610"/>
          </a:xfrm>
          <a:prstGeom prst="rect">
            <a:avLst/>
          </a:prstGeom>
          <a:solidFill>
            <a:srgbClr val="FFFF00"/>
          </a:solidFill>
          <a:ln>
            <a:noFill/>
            <a:prstDash val="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ko-KR" altLang="en-US" sz="1100" b="1" dirty="0"/>
              <a:t>다음 페이지에 이어서</a:t>
            </a:r>
            <a:endParaRPr lang="ko-KR" altLang="en-US" sz="1100" dirty="0"/>
          </a:p>
        </p:txBody>
      </p:sp>
    </p:spTree>
    <p:extLst>
      <p:ext uri="{BB962C8B-B14F-4D97-AF65-F5344CB8AC3E}">
        <p14:creationId xmlns:p14="http://schemas.microsoft.com/office/powerpoint/2010/main" val="19480785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9BAEF9-84E0-5275-3C8D-3B7439A0EC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4A777DD-2BF3-B063-62AB-9240A1FBA248}"/>
              </a:ext>
            </a:extLst>
          </p:cNvPr>
          <p:cNvSpPr txBox="1"/>
          <p:nvPr/>
        </p:nvSpPr>
        <p:spPr>
          <a:xfrm>
            <a:off x="325826" y="339047"/>
            <a:ext cx="87212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solidFill>
                  <a:srgbClr val="0070C0"/>
                </a:solidFill>
                <a:latin typeface="+mn-ea"/>
              </a:rPr>
              <a:t>05. </a:t>
            </a:r>
            <a:r>
              <a:rPr lang="ko-KR" altLang="en-US" sz="2000" b="1" dirty="0">
                <a:solidFill>
                  <a:srgbClr val="0070C0"/>
                </a:solidFill>
                <a:latin typeface="+mn-ea"/>
              </a:rPr>
              <a:t>현지통관 및 </a:t>
            </a:r>
            <a:r>
              <a:rPr lang="ko-KR" altLang="en-US" sz="2000" b="1" dirty="0" err="1">
                <a:solidFill>
                  <a:srgbClr val="0070C0"/>
                </a:solidFill>
                <a:latin typeface="+mn-ea"/>
              </a:rPr>
              <a:t>라벨링</a:t>
            </a:r>
            <a:r>
              <a:rPr lang="ko-KR" altLang="en-US" sz="2000" b="1" dirty="0">
                <a:solidFill>
                  <a:srgbClr val="0070C0"/>
                </a:solidFill>
                <a:latin typeface="+mn-ea"/>
              </a:rPr>
              <a:t> 규정</a:t>
            </a:r>
            <a:endParaRPr lang="en-US" altLang="ko-KR" sz="2000" b="1" dirty="0">
              <a:solidFill>
                <a:srgbClr val="0070C0"/>
              </a:solidFill>
              <a:latin typeface="+mn-ea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F86B84C-E392-CEB5-5FFC-19DBECBBCEB8}"/>
              </a:ext>
            </a:extLst>
          </p:cNvPr>
          <p:cNvSpPr txBox="1"/>
          <p:nvPr/>
        </p:nvSpPr>
        <p:spPr>
          <a:xfrm>
            <a:off x="325826" y="886609"/>
            <a:ext cx="87212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 dirty="0">
                <a:latin typeface="+mn-ea"/>
              </a:rPr>
              <a:t>현지통관</a:t>
            </a:r>
            <a:endParaRPr lang="en-US" altLang="ko-KR" sz="1400" b="1" dirty="0">
              <a:latin typeface="+mn-ea"/>
            </a:endParaRP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BC238EF9-CB55-CEA2-0D77-F4D478EE0E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8173089"/>
              </p:ext>
            </p:extLst>
          </p:nvPr>
        </p:nvGraphicFramePr>
        <p:xfrm>
          <a:off x="406849" y="1341838"/>
          <a:ext cx="11178501" cy="509117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74093">
                  <a:extLst>
                    <a:ext uri="{9D8B030D-6E8A-4147-A177-3AD203B41FA5}">
                      <a16:colId xmlns:a16="http://schemas.microsoft.com/office/drawing/2014/main" val="4207705560"/>
                    </a:ext>
                  </a:extLst>
                </a:gridCol>
                <a:gridCol w="9604408">
                  <a:extLst>
                    <a:ext uri="{9D8B030D-6E8A-4147-A177-3AD203B41FA5}">
                      <a16:colId xmlns:a16="http://schemas.microsoft.com/office/drawing/2014/main" val="2634738713"/>
                    </a:ext>
                  </a:extLst>
                </a:gridCol>
              </a:tblGrid>
              <a:tr h="526127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200" b="1" dirty="0"/>
                        <a:t>주의사항</a:t>
                      </a:r>
                      <a:endParaRPr lang="en-US" altLang="ko-KR" sz="1200" b="1" dirty="0"/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200" b="1" dirty="0"/>
                        <a:t>또는</a:t>
                      </a:r>
                      <a:endParaRPr lang="en-US" altLang="ko-KR" sz="1200" b="1" dirty="0"/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200" b="1" dirty="0"/>
                        <a:t>확인사항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latinLnBrk="0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1.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수입신고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1000" b="0" i="0" kern="1200" dirty="0" err="1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약기법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 심사</a:t>
                      </a:r>
                      <a:endParaRPr lang="en-US" altLang="ko-KR" sz="1000" b="0" i="0" kern="1200" dirty="0"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  <a:cs typeface="+mn-cs"/>
                      </a:endParaRPr>
                    </a:p>
                    <a:p>
                      <a:pPr marL="0" indent="0" latinLnBrk="0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="0" dirty="0">
                          <a:latin typeface="+mj-lt"/>
                        </a:rPr>
                        <a:t>1)</a:t>
                      </a:r>
                      <a:r>
                        <a:rPr lang="ko-KR" altLang="ko-KR" sz="1000" b="0" dirty="0">
                          <a:latin typeface="+mj-lt"/>
                        </a:rPr>
                        <a:t>화물이 </a:t>
                      </a:r>
                      <a:r>
                        <a:rPr lang="ko-KR" altLang="en-US" sz="1000" b="0" dirty="0">
                          <a:latin typeface="+mj-lt"/>
                        </a:rPr>
                        <a:t>창고</a:t>
                      </a:r>
                      <a:r>
                        <a:rPr lang="ko-KR" altLang="ko-KR" sz="1000" b="0" dirty="0">
                          <a:latin typeface="+mj-lt"/>
                        </a:rPr>
                        <a:t>에 배정되면 일본 현지 관세사 또는 수입업자가 세관 전자 시스템인 </a:t>
                      </a:r>
                      <a:r>
                        <a:rPr lang="ko-KR" altLang="ko-KR" sz="1000" b="0" dirty="0" err="1">
                          <a:latin typeface="+mj-lt"/>
                        </a:rPr>
                        <a:t>NACCS를</a:t>
                      </a:r>
                      <a:r>
                        <a:rPr lang="ko-KR" altLang="ko-KR" sz="1000" b="0" dirty="0">
                          <a:latin typeface="+mj-lt"/>
                        </a:rPr>
                        <a:t> 통해 수입신고를 접수하고 심</a:t>
                      </a:r>
                      <a:r>
                        <a:rPr lang="ko-KR" altLang="en-US" sz="1000" b="0" dirty="0">
                          <a:latin typeface="+mj-lt"/>
                        </a:rPr>
                        <a:t>사 진행</a:t>
                      </a:r>
                      <a:endParaRPr lang="en-US" altLang="ko-KR" sz="1000" b="0" dirty="0">
                        <a:latin typeface="+mj-lt"/>
                      </a:endParaRPr>
                    </a:p>
                    <a:p>
                      <a:pPr marL="0" indent="0" latinLnBrk="0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="0" dirty="0">
                          <a:latin typeface="+mj-lt"/>
                        </a:rPr>
                        <a:t>2)</a:t>
                      </a:r>
                      <a:r>
                        <a:rPr lang="ko-KR" altLang="ko-KR" sz="1000" b="0" dirty="0">
                          <a:latin typeface="+mj-lt"/>
                        </a:rPr>
                        <a:t>일본 관세법 제70조</a:t>
                      </a:r>
                      <a:r>
                        <a:rPr lang="ko-KR" altLang="en-US" sz="1000" b="0" dirty="0">
                          <a:latin typeface="+mj-lt"/>
                        </a:rPr>
                        <a:t>에 의거해</a:t>
                      </a:r>
                      <a:r>
                        <a:rPr lang="ko-KR" altLang="ko-KR" sz="1000" b="0" dirty="0">
                          <a:latin typeface="+mj-lt"/>
                        </a:rPr>
                        <a:t> 일본 세관은 </a:t>
                      </a:r>
                      <a:r>
                        <a:rPr lang="ko-KR" altLang="ko-KR" sz="1000" b="0" dirty="0" err="1">
                          <a:latin typeface="+mj-lt"/>
                        </a:rPr>
                        <a:t>약기법</a:t>
                      </a:r>
                      <a:r>
                        <a:rPr lang="ko-KR" altLang="ko-KR" sz="1000" b="0" dirty="0">
                          <a:latin typeface="+mj-lt"/>
                        </a:rPr>
                        <a:t> 규제 대상인 화장품</a:t>
                      </a:r>
                      <a:r>
                        <a:rPr lang="en-US" altLang="ko-KR" sz="1000" b="0" dirty="0">
                          <a:latin typeface="+mj-lt"/>
                        </a:rPr>
                        <a:t>  </a:t>
                      </a:r>
                      <a:r>
                        <a:rPr lang="ko-KR" altLang="en-US" sz="1000" b="0" dirty="0">
                          <a:latin typeface="+mj-lt"/>
                        </a:rPr>
                        <a:t>및 </a:t>
                      </a:r>
                      <a:r>
                        <a:rPr lang="ko-KR" altLang="en-US" sz="1000" b="0" dirty="0" err="1">
                          <a:latin typeface="+mj-lt"/>
                        </a:rPr>
                        <a:t>의</a:t>
                      </a:r>
                      <a:r>
                        <a:rPr lang="ko-KR" altLang="ko-KR" sz="1000" b="0" dirty="0" err="1">
                          <a:latin typeface="+mj-lt"/>
                        </a:rPr>
                        <a:t>약부외품에</a:t>
                      </a:r>
                      <a:r>
                        <a:rPr lang="ko-KR" altLang="ko-KR" sz="1000" b="0" dirty="0">
                          <a:latin typeface="+mj-lt"/>
                        </a:rPr>
                        <a:t> 대해 수입업자가 합법적인 자격을 갖추었는지 증명하지 못하면 수입 </a:t>
                      </a:r>
                      <a:r>
                        <a:rPr lang="ko-KR" altLang="en-US" sz="1000" b="0" dirty="0">
                          <a:latin typeface="+mj-lt"/>
                        </a:rPr>
                        <a:t>허가 불가능</a:t>
                      </a:r>
                      <a:endParaRPr lang="en-US" altLang="ko-KR" sz="1000" b="0" dirty="0">
                        <a:latin typeface="+mj-lt"/>
                      </a:endParaRPr>
                    </a:p>
                    <a:p>
                      <a:pPr marL="0" indent="0" latinLnBrk="0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="0" dirty="0">
                          <a:latin typeface="+mj-lt"/>
                        </a:rPr>
                        <a:t>3)</a:t>
                      </a:r>
                      <a:r>
                        <a:rPr lang="ko-KR" altLang="en-US" sz="1000" b="0" dirty="0">
                          <a:latin typeface="+mj-lt"/>
                        </a:rPr>
                        <a:t>대조 심사</a:t>
                      </a:r>
                      <a:endParaRPr lang="en-US" altLang="ko-KR" sz="1000" b="0" dirty="0">
                        <a:latin typeface="+mj-lt"/>
                      </a:endParaRPr>
                    </a:p>
                    <a:p>
                      <a:pPr marL="0" indent="0" latinLnBrk="0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="0" dirty="0">
                          <a:latin typeface="+mj-lt"/>
                        </a:rPr>
                        <a:t>* </a:t>
                      </a:r>
                      <a:r>
                        <a:rPr lang="ko-KR" altLang="ko-KR" sz="1000" b="0" dirty="0">
                          <a:latin typeface="+mj-lt"/>
                        </a:rPr>
                        <a:t>일반 화장품: 수입자가 사전에 관할 현(</a:t>
                      </a:r>
                      <a:r>
                        <a:rPr lang="ko-KR" altLang="ko-KR" sz="1000" b="0" dirty="0" err="1">
                          <a:latin typeface="+mj-lt"/>
                        </a:rPr>
                        <a:t>도방부현</a:t>
                      </a:r>
                      <a:r>
                        <a:rPr lang="ko-KR" altLang="ko-KR" sz="1000" b="0" dirty="0">
                          <a:latin typeface="+mj-lt"/>
                        </a:rPr>
                        <a:t>)이나 </a:t>
                      </a:r>
                      <a:r>
                        <a:rPr lang="ko-KR" altLang="ko-KR" sz="1000" b="0" dirty="0" err="1">
                          <a:latin typeface="+mj-lt"/>
                        </a:rPr>
                        <a:t>PMDA에</a:t>
                      </a:r>
                      <a:r>
                        <a:rPr lang="ko-KR" altLang="ko-KR" sz="1000" b="0" dirty="0">
                          <a:latin typeface="+mj-lt"/>
                        </a:rPr>
                        <a:t> 접수하여 </a:t>
                      </a:r>
                      <a:r>
                        <a:rPr lang="ko-KR" altLang="ko-KR" sz="1000" b="0" dirty="0" err="1">
                          <a:latin typeface="+mj-lt"/>
                        </a:rPr>
                        <a:t>수리받은</a:t>
                      </a:r>
                      <a:r>
                        <a:rPr lang="ko-KR" altLang="ko-KR" sz="1000" b="0" dirty="0">
                          <a:latin typeface="+mj-lt"/>
                        </a:rPr>
                        <a:t> 화장품 제조판매 </a:t>
                      </a:r>
                      <a:r>
                        <a:rPr lang="ko-KR" altLang="en-US" sz="1000" b="0" dirty="0">
                          <a:latin typeface="+mj-lt"/>
                        </a:rPr>
                        <a:t>신고</a:t>
                      </a:r>
                      <a:r>
                        <a:rPr lang="ko-KR" altLang="ko-KR" sz="1000" b="0" dirty="0">
                          <a:latin typeface="+mj-lt"/>
                        </a:rPr>
                        <a:t>서의 고유 접수 번호를 NACCS 전산에 입력하거나 서류 사본을 제출</a:t>
                      </a:r>
                      <a:endParaRPr lang="en-US" altLang="ko-KR" sz="1000" b="0" dirty="0">
                        <a:latin typeface="+mj-lt"/>
                      </a:endParaRPr>
                    </a:p>
                    <a:p>
                      <a:pPr marL="0" indent="0" latinLnBrk="0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="0" dirty="0">
                          <a:latin typeface="+mj-lt"/>
                        </a:rPr>
                        <a:t>* </a:t>
                      </a:r>
                      <a:r>
                        <a:rPr lang="ko-KR" altLang="ko-KR" sz="1000" b="0" dirty="0" err="1">
                          <a:latin typeface="+mj-lt"/>
                        </a:rPr>
                        <a:t>의약부외품</a:t>
                      </a:r>
                      <a:r>
                        <a:rPr lang="ko-KR" altLang="ko-KR" sz="1000" b="0" dirty="0">
                          <a:latin typeface="+mj-lt"/>
                        </a:rPr>
                        <a:t>: 후생노동성(MHLW)이 품목별로 발행한 </a:t>
                      </a:r>
                      <a:r>
                        <a:rPr lang="ko-KR" altLang="ko-KR" sz="1000" b="0" dirty="0" err="1">
                          <a:latin typeface="+mj-lt"/>
                        </a:rPr>
                        <a:t>의약부외품</a:t>
                      </a:r>
                      <a:r>
                        <a:rPr lang="ko-KR" altLang="ko-KR" sz="1000" b="0" dirty="0">
                          <a:latin typeface="+mj-lt"/>
                        </a:rPr>
                        <a:t> 제조판매 승인서 및 한국 공장의 외국제조업자 인정서 사본을 세관에 직접 제출</a:t>
                      </a:r>
                      <a:endParaRPr lang="en-US" altLang="ko-KR" sz="1000" b="0" dirty="0">
                        <a:latin typeface="+mj-lt"/>
                      </a:endParaRPr>
                    </a:p>
                    <a:p>
                      <a:pPr marL="0" indent="0" latinLnBrk="0">
                        <a:lnSpc>
                          <a:spcPct val="150000"/>
                        </a:lnSpc>
                        <a:buNone/>
                      </a:pPr>
                      <a:endParaRPr lang="en-US" altLang="ko-KR" sz="1000" b="0" i="0" kern="1200" dirty="0"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  <a:cs typeface="+mn-cs"/>
                      </a:endParaRPr>
                    </a:p>
                    <a:p>
                      <a:pPr marL="0" indent="0" latinLnBrk="0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2.</a:t>
                      </a:r>
                      <a:r>
                        <a:rPr lang="ko-KR" altLang="ko-KR" sz="1000" b="0" dirty="0">
                          <a:latin typeface="+mj-lt"/>
                        </a:rPr>
                        <a:t> 세금 </a:t>
                      </a:r>
                      <a:r>
                        <a:rPr lang="ko-KR" altLang="en-US" sz="1000" b="0" dirty="0">
                          <a:latin typeface="+mj-lt"/>
                        </a:rPr>
                        <a:t>및 관세 </a:t>
                      </a:r>
                      <a:r>
                        <a:rPr lang="ko-KR" altLang="ko-KR" sz="1000" b="0" dirty="0">
                          <a:latin typeface="+mj-lt"/>
                        </a:rPr>
                        <a:t>납부</a:t>
                      </a:r>
                      <a:r>
                        <a:rPr lang="en-US" altLang="ko-KR" sz="1000" b="0" dirty="0">
                          <a:latin typeface="+mj-lt"/>
                        </a:rPr>
                        <a:t>/</a:t>
                      </a:r>
                      <a:r>
                        <a:rPr lang="ko-KR" altLang="en-US" sz="1000" b="0" dirty="0">
                          <a:latin typeface="+mj-lt"/>
                        </a:rPr>
                        <a:t>수입허가 </a:t>
                      </a:r>
                      <a:endParaRPr lang="en-US" altLang="ko-KR" sz="1000" b="0" dirty="0">
                        <a:latin typeface="+mj-lt"/>
                      </a:endParaRP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000" b="0" dirty="0">
                          <a:latin typeface="+mj-lt"/>
                        </a:rPr>
                        <a:t>1)</a:t>
                      </a:r>
                      <a:r>
                        <a:rPr lang="ko-KR" altLang="ko-KR" sz="1000" b="0" dirty="0">
                          <a:latin typeface="+mj-lt"/>
                        </a:rPr>
                        <a:t>화장품 및 </a:t>
                      </a:r>
                      <a:r>
                        <a:rPr lang="ko-KR" altLang="ko-KR" sz="1000" b="0" dirty="0" err="1">
                          <a:latin typeface="+mj-lt"/>
                        </a:rPr>
                        <a:t>의약부외품은</a:t>
                      </a:r>
                      <a:r>
                        <a:rPr lang="ko-KR" altLang="ko-KR" sz="1000" b="0" dirty="0">
                          <a:latin typeface="+mj-lt"/>
                        </a:rPr>
                        <a:t> 세번에 따라 일본 실행관세율표의 세율이 적용. </a:t>
                      </a:r>
                      <a:endParaRPr lang="en-US" altLang="ko-KR" sz="1000" b="0" dirty="0">
                        <a:latin typeface="+mj-lt"/>
                      </a:endParaRP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000" b="0" dirty="0">
                          <a:latin typeface="+mn-lt"/>
                        </a:rPr>
                        <a:t>2)</a:t>
                      </a:r>
                      <a:r>
                        <a:rPr lang="ko-KR" altLang="ko-KR" sz="1000" b="0" dirty="0">
                          <a:latin typeface="+mn-lt"/>
                        </a:rPr>
                        <a:t>한국과 일본은 </a:t>
                      </a:r>
                      <a:r>
                        <a:rPr lang="ko-KR" altLang="ko-KR" sz="1000" b="0" dirty="0" err="1">
                          <a:latin typeface="+mn-lt"/>
                        </a:rPr>
                        <a:t>RCEP발효</a:t>
                      </a:r>
                      <a:r>
                        <a:rPr lang="ko-KR" altLang="en-US" sz="1000" b="0" dirty="0" err="1">
                          <a:latin typeface="+mn-lt"/>
                        </a:rPr>
                        <a:t>국</a:t>
                      </a:r>
                      <a:r>
                        <a:rPr lang="en-US" altLang="ko-KR" sz="1000" b="0" dirty="0">
                          <a:latin typeface="+mn-lt"/>
                        </a:rPr>
                        <a:t>,</a:t>
                      </a:r>
                      <a:r>
                        <a:rPr lang="ko-KR" altLang="ko-KR" sz="1000" b="0" dirty="0">
                          <a:latin typeface="+mn-lt"/>
                        </a:rPr>
                        <a:t> 한국 측 수출자가 발급받은 한-RCEP 원산지증명서를 일본 세관에 함께 제출</a:t>
                      </a:r>
                      <a:endParaRPr lang="en-US" altLang="ko-KR" sz="1000" b="0" dirty="0">
                        <a:latin typeface="+mn-lt"/>
                      </a:endParaRP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000" b="0" dirty="0">
                          <a:latin typeface="+mn-lt"/>
                        </a:rPr>
                        <a:t>*</a:t>
                      </a:r>
                      <a:r>
                        <a:rPr lang="ko-KR" altLang="ko-KR" sz="1000" b="0" dirty="0">
                          <a:latin typeface="+mn-lt"/>
                        </a:rPr>
                        <a:t> RCEP 연차별 </a:t>
                      </a:r>
                      <a:r>
                        <a:rPr lang="ko-KR" altLang="ko-KR" sz="1000" b="0" dirty="0" err="1">
                          <a:latin typeface="+mn-lt"/>
                        </a:rPr>
                        <a:t>양허</a:t>
                      </a:r>
                      <a:r>
                        <a:rPr lang="ko-KR" altLang="ko-KR" sz="1000" b="0" dirty="0">
                          <a:latin typeface="+mn-lt"/>
                        </a:rPr>
                        <a:t> 세율에 따라 관세를 대폭 </a:t>
                      </a:r>
                      <a:r>
                        <a:rPr lang="ko-KR" altLang="ko-KR" sz="1000" b="0" dirty="0" err="1">
                          <a:latin typeface="+mn-lt"/>
                        </a:rPr>
                        <a:t>감면받거나</a:t>
                      </a:r>
                      <a:r>
                        <a:rPr lang="ko-KR" altLang="ko-KR" sz="1000" b="0" dirty="0">
                          <a:latin typeface="+mn-lt"/>
                        </a:rPr>
                        <a:t> 무관세(0%)를 </a:t>
                      </a:r>
                      <a:r>
                        <a:rPr lang="ko-KR" altLang="ko-KR" sz="1000" b="0" dirty="0" err="1">
                          <a:latin typeface="+mn-lt"/>
                        </a:rPr>
                        <a:t>적용받을</a:t>
                      </a:r>
                      <a:r>
                        <a:rPr lang="ko-KR" altLang="ko-KR" sz="1000" b="0" dirty="0">
                          <a:latin typeface="+mn-lt"/>
                        </a:rPr>
                        <a:t> 수 있</a:t>
                      </a:r>
                      <a:r>
                        <a:rPr lang="ko-KR" altLang="en-US" sz="1000" b="0" dirty="0">
                          <a:latin typeface="+mn-lt"/>
                        </a:rPr>
                        <a:t>음</a:t>
                      </a:r>
                      <a:endParaRPr lang="ko-KR" altLang="ko-KR" sz="1000" b="0" dirty="0">
                        <a:latin typeface="+mn-lt"/>
                      </a:endParaRPr>
                    </a:p>
                    <a:p>
                      <a:pPr marL="0" indent="0" latinLnBrk="0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3)</a:t>
                      </a:r>
                      <a:r>
                        <a:rPr lang="ko-KR" altLang="ko-KR" sz="1000" b="0" dirty="0">
                          <a:latin typeface="+mj-lt"/>
                        </a:rPr>
                        <a:t> 계산된 관세와 소비세를 </a:t>
                      </a:r>
                      <a:r>
                        <a:rPr lang="ko-KR" altLang="ko-KR" sz="1000" b="0" dirty="0" err="1">
                          <a:latin typeface="+mj-lt"/>
                        </a:rPr>
                        <a:t>수입자</a:t>
                      </a:r>
                      <a:r>
                        <a:rPr lang="ko-KR" altLang="ko-KR" sz="1000" b="0" dirty="0">
                          <a:latin typeface="+mj-lt"/>
                        </a:rPr>
                        <a:t> 또는 통관 대행 관세사가 NACCS 시스템과 연계된 전용 금융계좌를 통해 전자로 납</a:t>
                      </a:r>
                      <a:r>
                        <a:rPr lang="ko-KR" altLang="en-US" sz="1000" b="0" dirty="0">
                          <a:latin typeface="+mj-lt"/>
                        </a:rPr>
                        <a:t>부</a:t>
                      </a:r>
                      <a:endParaRPr lang="en-US" altLang="ko-KR" sz="1000" b="0" dirty="0">
                        <a:latin typeface="+mj-lt"/>
                      </a:endParaRPr>
                    </a:p>
                    <a:p>
                      <a:pPr marL="0" indent="0" latinLnBrk="0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4)</a:t>
                      </a:r>
                      <a:r>
                        <a:rPr lang="ko-KR" altLang="ko-KR" sz="1000" b="0" dirty="0">
                          <a:latin typeface="+mj-lt"/>
                        </a:rPr>
                        <a:t> 세금 납부가 전산상으로 확인되는 즉시, 세관 시스템에서 수입허가 통지</a:t>
                      </a:r>
                      <a:r>
                        <a:rPr lang="ko-KR" altLang="en-US" sz="1000" b="0" dirty="0">
                          <a:latin typeface="+mj-lt"/>
                        </a:rPr>
                        <a:t>서</a:t>
                      </a:r>
                      <a:r>
                        <a:rPr lang="ko-KR" altLang="ko-KR" sz="1000" b="0" dirty="0">
                          <a:latin typeface="+mj-lt"/>
                        </a:rPr>
                        <a:t>가 자동으로 발행</a:t>
                      </a:r>
                      <a:endParaRPr lang="en-US" altLang="ko-KR" sz="1000" b="0" dirty="0">
                        <a:latin typeface="+mj-lt"/>
                      </a:endParaRPr>
                    </a:p>
                    <a:p>
                      <a:pPr marL="0" indent="0" latinLnBrk="0">
                        <a:lnSpc>
                          <a:spcPct val="150000"/>
                        </a:lnSpc>
                        <a:buNone/>
                      </a:pPr>
                      <a:endParaRPr lang="en-US" altLang="ko-KR" sz="10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indent="0" latinLnBrk="0">
                        <a:lnSpc>
                          <a:spcPct val="150000"/>
                        </a:lnSpc>
                        <a:buNone/>
                      </a:pPr>
                      <a:endParaRPr lang="en-US" altLang="ko-KR" sz="1000" b="0" i="0" kern="1200" dirty="0"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  <a:cs typeface="+mn-cs"/>
                      </a:endParaRPr>
                    </a:p>
                    <a:p>
                      <a:pPr marL="0" indent="0" latinLnBrk="0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3. </a:t>
                      </a:r>
                      <a:r>
                        <a:rPr lang="ko-KR" altLang="en-US" sz="1000" b="0" i="0" kern="1200" dirty="0" err="1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라벨링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 및 시장 출하 승인</a:t>
                      </a:r>
                      <a:endParaRPr lang="en-US" altLang="ko-KR" sz="1000" b="0" i="0" kern="1200" dirty="0"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  <a:cs typeface="+mn-cs"/>
                      </a:endParaRPr>
                    </a:p>
                    <a:p>
                      <a:pPr marL="0" indent="0" latinLnBrk="0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="0" dirty="0">
                          <a:latin typeface="+mj-lt"/>
                        </a:rPr>
                        <a:t>1)</a:t>
                      </a:r>
                      <a:r>
                        <a:rPr lang="ko-KR" altLang="ko-KR" sz="1000" b="0" dirty="0">
                          <a:latin typeface="+mj-lt"/>
                        </a:rPr>
                        <a:t> 세관을 통과한 화물은 반드시 화장품</a:t>
                      </a:r>
                      <a:r>
                        <a:rPr lang="en-US" altLang="ko-KR" sz="1000" b="0" dirty="0">
                          <a:latin typeface="+mj-lt"/>
                        </a:rPr>
                        <a:t>(</a:t>
                      </a:r>
                      <a:r>
                        <a:rPr lang="ko-KR" altLang="en-US" sz="1000" b="0" dirty="0">
                          <a:latin typeface="+mj-lt"/>
                        </a:rPr>
                        <a:t>지정성분 함유</a:t>
                      </a:r>
                      <a:r>
                        <a:rPr lang="en-US" altLang="ko-KR" sz="1000" b="0" dirty="0">
                          <a:latin typeface="+mj-lt"/>
                        </a:rPr>
                        <a:t>)</a:t>
                      </a:r>
                      <a:r>
                        <a:rPr lang="ko-KR" altLang="ko-KR" sz="1000" b="0" dirty="0">
                          <a:latin typeface="+mj-lt"/>
                        </a:rPr>
                        <a:t>/</a:t>
                      </a:r>
                      <a:r>
                        <a:rPr lang="ko-KR" altLang="ko-KR" sz="1000" b="0" dirty="0" err="1">
                          <a:latin typeface="+mj-lt"/>
                        </a:rPr>
                        <a:t>의약부외품</a:t>
                      </a:r>
                      <a:r>
                        <a:rPr lang="ko-KR" altLang="ko-KR" sz="1000" b="0" dirty="0">
                          <a:latin typeface="+mj-lt"/>
                        </a:rPr>
                        <a:t> 제조업</a:t>
                      </a:r>
                      <a:r>
                        <a:rPr lang="en-US" altLang="ko-KR" sz="1000" b="0" dirty="0">
                          <a:latin typeface="+mj-lt"/>
                        </a:rPr>
                        <a:t> </a:t>
                      </a:r>
                      <a:r>
                        <a:rPr lang="ko-KR" altLang="ko-KR" sz="1000" b="0" dirty="0">
                          <a:latin typeface="+mj-lt"/>
                        </a:rPr>
                        <a:t>허가</a:t>
                      </a:r>
                      <a:r>
                        <a:rPr lang="ko-KR" altLang="en-US" sz="1000" b="0" dirty="0">
                          <a:latin typeface="+mj-lt"/>
                        </a:rPr>
                        <a:t>증을</a:t>
                      </a:r>
                      <a:r>
                        <a:rPr lang="ko-KR" altLang="ko-KR" sz="1000" b="0" dirty="0">
                          <a:latin typeface="+mj-lt"/>
                        </a:rPr>
                        <a:t> 보유한 일본 현지 창고로 입고</a:t>
                      </a:r>
                      <a:endParaRPr lang="en-US" altLang="ko-KR" sz="1000" b="0" dirty="0">
                        <a:latin typeface="+mj-lt"/>
                      </a:endParaRPr>
                    </a:p>
                    <a:p>
                      <a:pPr marL="0" indent="0" latinLnBrk="0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*</a:t>
                      </a:r>
                      <a:r>
                        <a:rPr lang="ko-KR" altLang="ko-KR" sz="1000" b="0" dirty="0">
                          <a:latin typeface="+mj-lt"/>
                        </a:rPr>
                        <a:t>면허가 없는 일반 물류창고에서 라벨을 붙이거나 박스 포장을 바꾸는 것은 전부 </a:t>
                      </a:r>
                      <a:r>
                        <a:rPr lang="ko-KR" altLang="ko-KR" sz="1000" b="0" dirty="0" err="1">
                          <a:latin typeface="+mj-lt"/>
                        </a:rPr>
                        <a:t>약기법</a:t>
                      </a:r>
                      <a:r>
                        <a:rPr lang="ko-KR" altLang="ko-KR" sz="1000" b="0" dirty="0">
                          <a:latin typeface="+mj-lt"/>
                        </a:rPr>
                        <a:t> 위반(불법)</a:t>
                      </a:r>
                      <a:endParaRPr lang="en-US" altLang="ko-KR" sz="1000" b="0" i="0" kern="1200" dirty="0"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  <a:cs typeface="+mn-cs"/>
                      </a:endParaRPr>
                    </a:p>
                    <a:p>
                      <a:pPr marL="0" indent="0" latinLnBrk="0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2)</a:t>
                      </a:r>
                      <a:r>
                        <a:rPr lang="ko-KR" altLang="ko-KR" sz="1000" b="0" dirty="0">
                          <a:latin typeface="+mj-lt"/>
                        </a:rPr>
                        <a:t> 라벨링과 검수가 끝나면 수입자의 필수 법정 인력인 총괄제조판매책임자가 창고의 검수 조서와 성적서를 최종 확인</a:t>
                      </a:r>
                      <a:endParaRPr lang="en-US" altLang="ko-KR" sz="1000" b="0" dirty="0">
                        <a:latin typeface="+mj-lt"/>
                      </a:endParaRPr>
                    </a:p>
                    <a:p>
                      <a:pPr marL="0" indent="0" latinLnBrk="0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3)</a:t>
                      </a:r>
                      <a:r>
                        <a:rPr lang="ko-KR" altLang="ko-KR" sz="1000" b="0" dirty="0">
                          <a:latin typeface="+mj-lt"/>
                        </a:rPr>
                        <a:t> 품질책임자가 이 제품이 일본 안전 기준에 적합하다고 판정하여 시장 출하 승인</a:t>
                      </a:r>
                      <a:endParaRPr lang="en-US" altLang="ko-KR" sz="1000" b="0" i="0" kern="1200" dirty="0"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569002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794328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3E77DB-A172-C531-1FF3-40CAB6BD78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38E3D3B-8840-5FCA-2595-54AC3A663F32}"/>
              </a:ext>
            </a:extLst>
          </p:cNvPr>
          <p:cNvSpPr txBox="1"/>
          <p:nvPr/>
        </p:nvSpPr>
        <p:spPr>
          <a:xfrm>
            <a:off x="325826" y="339047"/>
            <a:ext cx="87212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solidFill>
                  <a:srgbClr val="0070C0"/>
                </a:solidFill>
                <a:latin typeface="+mn-ea"/>
              </a:rPr>
              <a:t>05. </a:t>
            </a:r>
            <a:r>
              <a:rPr lang="ko-KR" altLang="en-US" sz="2000" b="1" dirty="0">
                <a:solidFill>
                  <a:srgbClr val="0070C0"/>
                </a:solidFill>
                <a:latin typeface="+mn-ea"/>
              </a:rPr>
              <a:t>현지통관 및 </a:t>
            </a:r>
            <a:r>
              <a:rPr lang="ko-KR" altLang="en-US" sz="2000" b="1" dirty="0" err="1">
                <a:solidFill>
                  <a:srgbClr val="0070C0"/>
                </a:solidFill>
                <a:latin typeface="+mn-ea"/>
              </a:rPr>
              <a:t>라벨링</a:t>
            </a:r>
            <a:r>
              <a:rPr lang="ko-KR" altLang="en-US" sz="2000" b="1" dirty="0">
                <a:solidFill>
                  <a:srgbClr val="0070C0"/>
                </a:solidFill>
                <a:latin typeface="+mn-ea"/>
              </a:rPr>
              <a:t> 규정</a:t>
            </a:r>
            <a:endParaRPr lang="en-US" altLang="ko-KR" sz="2000" b="1" dirty="0">
              <a:solidFill>
                <a:srgbClr val="0070C0"/>
              </a:solidFill>
              <a:latin typeface="+mn-ea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342100F-E341-D048-5B1C-7753A2BFE292}"/>
              </a:ext>
            </a:extLst>
          </p:cNvPr>
          <p:cNvSpPr txBox="1"/>
          <p:nvPr/>
        </p:nvSpPr>
        <p:spPr>
          <a:xfrm>
            <a:off x="325826" y="886609"/>
            <a:ext cx="87212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 dirty="0" err="1">
                <a:latin typeface="+mn-ea"/>
              </a:rPr>
              <a:t>라벨링</a:t>
            </a:r>
            <a:r>
              <a:rPr lang="ko-KR" altLang="en-US" sz="1400" b="1" dirty="0">
                <a:latin typeface="+mn-ea"/>
              </a:rPr>
              <a:t> 규정</a:t>
            </a:r>
            <a:endParaRPr lang="en-US" altLang="ko-KR" sz="1400" b="1" dirty="0">
              <a:latin typeface="+mn-ea"/>
            </a:endParaRP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FB66EC9E-EFF2-6CD2-1EF3-B31C68BD74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6875104"/>
              </p:ext>
            </p:extLst>
          </p:nvPr>
        </p:nvGraphicFramePr>
        <p:xfrm>
          <a:off x="405898" y="1341838"/>
          <a:ext cx="11178501" cy="527710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74093">
                  <a:extLst>
                    <a:ext uri="{9D8B030D-6E8A-4147-A177-3AD203B41FA5}">
                      <a16:colId xmlns:a16="http://schemas.microsoft.com/office/drawing/2014/main" val="3376188853"/>
                    </a:ext>
                  </a:extLst>
                </a:gridCol>
                <a:gridCol w="4802204">
                  <a:extLst>
                    <a:ext uri="{9D8B030D-6E8A-4147-A177-3AD203B41FA5}">
                      <a16:colId xmlns:a16="http://schemas.microsoft.com/office/drawing/2014/main" val="4224328845"/>
                    </a:ext>
                  </a:extLst>
                </a:gridCol>
                <a:gridCol w="4802204">
                  <a:extLst>
                    <a:ext uri="{9D8B030D-6E8A-4147-A177-3AD203B41FA5}">
                      <a16:colId xmlns:a16="http://schemas.microsoft.com/office/drawing/2014/main" val="2014032394"/>
                    </a:ext>
                  </a:extLst>
                </a:gridCol>
              </a:tblGrid>
              <a:tr h="40758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설명 또는 정의</a:t>
                      </a: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0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일본 </a:t>
                      </a:r>
                      <a:r>
                        <a:rPr lang="ko-KR" altLang="ko-KR" sz="1000" b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약기법</a:t>
                      </a:r>
                      <a:r>
                        <a:rPr lang="ko-KR" altLang="ko-KR" sz="10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제</a:t>
                      </a:r>
                      <a:r>
                        <a:rPr lang="en-US" altLang="ko-KR" sz="10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61</a:t>
                      </a:r>
                      <a:r>
                        <a:rPr lang="ko-KR" altLang="ko-KR" sz="10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조 기반 </a:t>
                      </a:r>
                      <a:r>
                        <a:rPr lang="ko-KR" altLang="ko-KR" sz="1000" b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라벨링</a:t>
                      </a:r>
                      <a:r>
                        <a:rPr lang="ko-KR" altLang="ko-KR" sz="10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필수 준수 사항</a:t>
                      </a:r>
                      <a:r>
                        <a:rPr lang="en-US" altLang="ko-KR" sz="10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lang="ko-KR" altLang="ko-KR" sz="10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전성분은 반드시</a:t>
                      </a:r>
                      <a:r>
                        <a:rPr lang="en-US" altLang="ko-KR" sz="10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0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일본화장품공업연합회</a:t>
                      </a:r>
                      <a:r>
                        <a:rPr lang="en-US" altLang="ko-KR" sz="10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0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승인 표준 일본어 성분 명칭으로 기재되어야 하며</a:t>
                      </a:r>
                      <a:r>
                        <a:rPr lang="en-US" altLang="ko-KR" sz="10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ko-KR" sz="10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제품명</a:t>
                      </a:r>
                      <a:r>
                        <a:rPr lang="en-US" altLang="ko-KR" sz="10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MAH </a:t>
                      </a:r>
                      <a:r>
                        <a:rPr lang="ko-KR" altLang="ko-KR" sz="10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명칭 및 주소</a:t>
                      </a:r>
                      <a:r>
                        <a:rPr lang="en-US" altLang="ko-KR" sz="10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ko-KR" sz="10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해외 </a:t>
                      </a:r>
                      <a:r>
                        <a:rPr lang="ko-KR" altLang="ko-KR" sz="1000" b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제조소</a:t>
                      </a:r>
                      <a:r>
                        <a:rPr lang="ko-KR" altLang="ko-KR" sz="10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명칭 및 제조국명</a:t>
                      </a:r>
                      <a:r>
                        <a:rPr lang="en-US" altLang="ko-KR" sz="10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ko-KR" sz="10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제조번호</a:t>
                      </a:r>
                      <a:r>
                        <a:rPr lang="en-US" altLang="ko-KR" sz="10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ko-KR" sz="10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필요 시 사용기한 등을 기재</a:t>
                      </a:r>
                      <a:endParaRPr lang="en-US" altLang="ko-KR" sz="1000" b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9518004"/>
                  </a:ext>
                </a:extLst>
              </a:tr>
              <a:tr h="148439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방식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화장품 </a:t>
                      </a:r>
                      <a:r>
                        <a:rPr lang="ko-KR" altLang="en-US" sz="10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라벨링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규정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]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000" b="0" dirty="0">
                          <a:solidFill>
                            <a:schemeClr val="tx1"/>
                          </a:solidFill>
                        </a:rPr>
                        <a:t>제조판매업자(MAH)가 스스로 책임지고 라벨을 확정</a:t>
                      </a:r>
                      <a:endParaRPr lang="en-US" altLang="ko-KR" sz="10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- </a:t>
                      </a:r>
                      <a:r>
                        <a:rPr lang="ko-KR" altLang="ko-KR" sz="1000" b="0" dirty="0">
                          <a:solidFill>
                            <a:schemeClr val="tx1"/>
                          </a:solidFill>
                        </a:rPr>
                        <a:t>2001년 약사법 개정으로 화장품은 정부의 사전 승인 제도가 폐지</a:t>
                      </a:r>
                      <a:endParaRPr lang="en-US" altLang="ko-KR" sz="10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사후 감시로 적발 시 제재 및 리콜 조치</a:t>
                      </a:r>
                      <a:endParaRPr lang="en-US" altLang="ko-KR" sz="10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 </a:t>
                      </a:r>
                      <a:r>
                        <a:rPr lang="ko-KR" altLang="en-US" sz="10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공정경쟁규약에 따른 </a:t>
                      </a:r>
                      <a:r>
                        <a:rPr lang="ko-KR" altLang="en-US" sz="1000" b="1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라벨링</a:t>
                      </a:r>
                      <a:r>
                        <a:rPr lang="ko-KR" altLang="en-US" sz="10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필수 항목 표시</a:t>
                      </a:r>
                      <a:endParaRPr lang="en-US" altLang="ko-KR" sz="1000" b="1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r>
                        <a:rPr lang="ko-KR" altLang="ko-KR" sz="1000" dirty="0" err="1">
                          <a:solidFill>
                            <a:schemeClr val="tx1"/>
                          </a:solidFill>
                        </a:rPr>
                        <a:t>부당경품류</a:t>
                      </a:r>
                      <a:r>
                        <a:rPr lang="ko-KR" altLang="ko-KR" sz="1000" dirty="0">
                          <a:solidFill>
                            <a:schemeClr val="tx1"/>
                          </a:solidFill>
                        </a:rPr>
                        <a:t> 및 부당표시방지법 제36조 제1항의 규정에 근거하여 화장품 표시에 관한 사항을 정함으로써 부당한 고객 유인을 방지</a:t>
                      </a:r>
                      <a:endParaRPr lang="en-US" altLang="ko-KR" sz="1000" b="1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en-US" sz="10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의약부외품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0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라벨링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규정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]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 </a:t>
                      </a:r>
                      <a:r>
                        <a:rPr lang="ko-KR" altLang="en-US" sz="10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라벨링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서면 심사 완료 과정</a:t>
                      </a:r>
                      <a:endParaRPr lang="en-US" altLang="ko-KR" sz="10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PMDA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에서 제조판매 승인 심사 후 </a:t>
                      </a:r>
                      <a:r>
                        <a:rPr lang="ko-KR" altLang="en-US" sz="10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제조판매 승인서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교부</a:t>
                      </a:r>
                      <a:endParaRPr lang="en-US" altLang="ko-KR" sz="10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통관 과정에서 세관에 승인서를 제출하고 실물 라벨과 승인서 내용 일치 여부 확인</a:t>
                      </a:r>
                      <a:endParaRPr lang="en-US" altLang="ko-KR" sz="10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3.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사후 </a:t>
                      </a:r>
                      <a:r>
                        <a:rPr lang="ko-KR" altLang="en-US" sz="10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약기법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제 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69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조에 따라 </a:t>
                      </a:r>
                      <a:r>
                        <a:rPr lang="ko-KR" altLang="en-US" sz="10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도도부현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약사감시원 정기 임검 진행</a:t>
                      </a:r>
                      <a:endParaRPr lang="en-US" altLang="ko-KR" sz="10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4.</a:t>
                      </a:r>
                      <a:r>
                        <a:rPr lang="en-US" altLang="ko-KR" sz="10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0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공정경쟁규약에 따른 </a:t>
                      </a:r>
                      <a:r>
                        <a:rPr lang="ko-KR" altLang="en-US" sz="1000" b="1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라벨링</a:t>
                      </a:r>
                      <a:r>
                        <a:rPr lang="ko-KR" altLang="en-US" sz="10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필수 항목 표시</a:t>
                      </a:r>
                      <a:endParaRPr lang="en-US" altLang="ko-KR" sz="1000" b="1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49504629"/>
                  </a:ext>
                </a:extLst>
              </a:tr>
              <a:tr h="22812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기관</a:t>
                      </a: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latinLnBrk="0">
                        <a:lnSpc>
                          <a:spcPct val="150000"/>
                        </a:lnSpc>
                      </a:pP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PMDA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7785727"/>
                  </a:ext>
                </a:extLst>
              </a:tr>
              <a:tr h="2202259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200" b="1" dirty="0"/>
                        <a:t>표시 사항</a:t>
                      </a:r>
                      <a:endParaRPr lang="en-US" altLang="ko-KR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0">
                        <a:lnSpc>
                          <a:spcPct val="150000"/>
                        </a:lnSpc>
                      </a:pP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화장품 라벨 필수 표시 항목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] </a:t>
                      </a:r>
                      <a:r>
                        <a:rPr lang="ko-KR" altLang="en-US" sz="1000" b="1" i="0" kern="1200" dirty="0">
                          <a:solidFill>
                            <a:srgbClr val="00B0F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예시</a:t>
                      </a:r>
                      <a:endParaRPr lang="en-US" altLang="ko-KR" sz="1000" b="1" i="0" kern="1200" dirty="0">
                        <a:solidFill>
                          <a:srgbClr val="00B0F0"/>
                        </a:solidFill>
                        <a:effectLst/>
                        <a:latin typeface="+mj-lt"/>
                        <a:ea typeface="+mn-ea"/>
                        <a:cs typeface="+mn-cs"/>
                      </a:endParaRPr>
                    </a:p>
                    <a:p>
                      <a:pPr latinLnBrk="0">
                        <a:lnSpc>
                          <a:spcPct val="150000"/>
                        </a:lnSpc>
                      </a:pP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*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제품명 및 유형</a:t>
                      </a:r>
                      <a:endParaRPr lang="en-US" altLang="ko-KR" sz="1000" b="0" i="0" kern="1200" dirty="0"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  <a:cs typeface="+mn-cs"/>
                      </a:endParaRPr>
                    </a:p>
                    <a:p>
                      <a:pPr marL="0" indent="0" latinLnBrk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* </a:t>
                      </a:r>
                      <a:r>
                        <a:rPr lang="ko-KR" altLang="en-US" sz="1000" b="0" i="0" kern="1200" dirty="0" err="1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내용량</a:t>
                      </a:r>
                      <a:endParaRPr lang="en-US" altLang="ko-KR" sz="1000" b="0" i="0" kern="1200" dirty="0"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  <a:cs typeface="+mn-cs"/>
                      </a:endParaRPr>
                    </a:p>
                    <a:p>
                      <a:pPr marL="0" indent="0" latinLnBrk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* </a:t>
                      </a:r>
                      <a:r>
                        <a:rPr lang="ko-KR" altLang="en-US" sz="1000" b="0" i="0" kern="1200" dirty="0" err="1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전성분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 목록</a:t>
                      </a:r>
                      <a:endParaRPr lang="en-US" altLang="ko-KR" sz="1000" b="0" i="0" kern="1200" dirty="0"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  <a:cs typeface="+mn-cs"/>
                      </a:endParaRPr>
                    </a:p>
                    <a:p>
                      <a:pPr latinLnBrk="0">
                        <a:lnSpc>
                          <a:spcPct val="150000"/>
                        </a:lnSpc>
                      </a:pP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*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사용 방법</a:t>
                      </a:r>
                    </a:p>
                    <a:p>
                      <a:pPr latinLnBrk="0">
                        <a:lnSpc>
                          <a:spcPct val="150000"/>
                        </a:lnSpc>
                      </a:pP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*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 주의사항</a:t>
                      </a:r>
                      <a:endParaRPr lang="en-US" altLang="ko-KR" sz="1000" b="0" i="0" kern="1200" dirty="0"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  <a:cs typeface="+mn-cs"/>
                      </a:endParaRPr>
                    </a:p>
                    <a:p>
                      <a:pPr latinLnBrk="0">
                        <a:lnSpc>
                          <a:spcPct val="150000"/>
                        </a:lnSpc>
                      </a:pP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*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제조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·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판매 책임자 이름 및 주소</a:t>
                      </a:r>
                    </a:p>
                    <a:p>
                      <a:pPr latinLnBrk="0">
                        <a:lnSpc>
                          <a:spcPct val="150000"/>
                        </a:lnSpc>
                      </a:pP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*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000" b="0" i="0" kern="1200" dirty="0" err="1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로트번호</a:t>
                      </a:r>
                      <a:endParaRPr lang="ko-KR" altLang="en-US" sz="1000" b="0" i="0" kern="1200" dirty="0"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  <a:cs typeface="+mn-cs"/>
                      </a:endParaRPr>
                    </a:p>
                    <a:p>
                      <a:pPr latinLnBrk="0">
                        <a:lnSpc>
                          <a:spcPct val="150000"/>
                        </a:lnSpc>
                      </a:pP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*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 원산지</a:t>
                      </a:r>
                    </a:p>
                    <a:p>
                      <a:pPr latinLnBrk="0">
                        <a:lnSpc>
                          <a:spcPct val="150000"/>
                        </a:lnSpc>
                      </a:pP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*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 유통기한 또는 사용 권장 기한</a:t>
                      </a:r>
                    </a:p>
                    <a:p>
                      <a:pPr latinLnBrk="0">
                        <a:lnSpc>
                          <a:spcPct val="150000"/>
                        </a:lnSpc>
                      </a:pP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*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 재활용 마크 등 환경 관련 표시</a:t>
                      </a:r>
                      <a:endParaRPr lang="en-US" altLang="ko-KR" sz="1000" b="0" i="0" kern="1200" dirty="0"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0">
                        <a:lnSpc>
                          <a:spcPct val="150000"/>
                        </a:lnSpc>
                      </a:pP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en-US" sz="1000" b="0" i="0" kern="1200" dirty="0" err="1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의약부외품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 라벨 필수 표시 항목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] </a:t>
                      </a:r>
                      <a:r>
                        <a:rPr lang="ko-KR" altLang="en-US" sz="1000" b="1" i="0" kern="1200" dirty="0">
                          <a:solidFill>
                            <a:srgbClr val="00B0F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예시</a:t>
                      </a:r>
                      <a:endParaRPr lang="ko-KR" altLang="en-US" sz="1000" b="0" i="0" kern="1200" dirty="0"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  <a:cs typeface="+mn-cs"/>
                      </a:endParaRPr>
                    </a:p>
                    <a:p>
                      <a:pPr latinLnBrk="0">
                        <a:lnSpc>
                          <a:spcPct val="150000"/>
                        </a:lnSpc>
                      </a:pP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*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 제품명</a:t>
                      </a:r>
                    </a:p>
                    <a:p>
                      <a:pPr latinLnBrk="0">
                        <a:lnSpc>
                          <a:spcPct val="150000"/>
                        </a:lnSpc>
                      </a:pP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*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 제조판매업자 정보</a:t>
                      </a:r>
                      <a:endParaRPr lang="en-US" altLang="ko-KR" sz="1000" b="0" i="0" kern="1200" dirty="0"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  <a:cs typeface="+mn-cs"/>
                      </a:endParaRPr>
                    </a:p>
                    <a:p>
                      <a:pPr marL="0" indent="0" latinLnBrk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* ’</a:t>
                      </a:r>
                      <a:r>
                        <a:rPr lang="ko-KR" altLang="en-US" sz="1000" b="0" i="0" kern="1200" dirty="0" err="1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의약부외품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’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의 문자</a:t>
                      </a:r>
                      <a:endParaRPr lang="en-US" altLang="ko-KR" sz="1000" b="0" i="0" kern="1200" dirty="0"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  <a:cs typeface="+mn-cs"/>
                      </a:endParaRPr>
                    </a:p>
                    <a:p>
                      <a:pPr marL="0" indent="0" latinLnBrk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*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성분 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유효성분 및 기타성분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)</a:t>
                      </a:r>
                      <a:endParaRPr lang="ko-KR" altLang="en-US" sz="1000" b="0" i="0" kern="1200" dirty="0"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  <a:cs typeface="+mn-cs"/>
                      </a:endParaRPr>
                    </a:p>
                    <a:p>
                      <a:pPr latinLnBrk="0">
                        <a:lnSpc>
                          <a:spcPct val="150000"/>
                        </a:lnSpc>
                      </a:pP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*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 효능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·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효과</a:t>
                      </a:r>
                    </a:p>
                    <a:p>
                      <a:pPr latinLnBrk="0">
                        <a:lnSpc>
                          <a:spcPct val="150000"/>
                        </a:lnSpc>
                      </a:pP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*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 용법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·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용량</a:t>
                      </a:r>
                    </a:p>
                    <a:p>
                      <a:pPr latinLnBrk="0">
                        <a:lnSpc>
                          <a:spcPct val="150000"/>
                        </a:lnSpc>
                      </a:pP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*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 사용 및 보관 상 주의사항</a:t>
                      </a:r>
                    </a:p>
                    <a:p>
                      <a:pPr latinLnBrk="0">
                        <a:lnSpc>
                          <a:spcPct val="150000"/>
                        </a:lnSpc>
                      </a:pP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*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 유통기한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유효기한</a:t>
                      </a:r>
                    </a:p>
                    <a:p>
                      <a:pPr latinLnBrk="0">
                        <a:lnSpc>
                          <a:spcPct val="150000"/>
                        </a:lnSpc>
                      </a:pP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*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 제조번호</a:t>
                      </a:r>
                      <a:endParaRPr lang="en-US" altLang="ko-KR" sz="1000" b="0" i="0" kern="1200" dirty="0"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  <a:cs typeface="+mn-cs"/>
                      </a:endParaRPr>
                    </a:p>
                    <a:p>
                      <a:pPr latinLnBrk="0">
                        <a:lnSpc>
                          <a:spcPct val="150000"/>
                        </a:lnSpc>
                      </a:pP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*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원산지</a:t>
                      </a:r>
                      <a:endParaRPr lang="en-US" altLang="ko-KR" sz="1000" b="0" i="0" kern="1200" dirty="0"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  <a:cs typeface="+mn-cs"/>
                      </a:endParaRPr>
                    </a:p>
                    <a:p>
                      <a:pPr latinLnBrk="0">
                        <a:lnSpc>
                          <a:spcPct val="150000"/>
                        </a:lnSpc>
                      </a:pP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*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재활용 마크 등 환경 관련 표시</a:t>
                      </a:r>
                      <a:endParaRPr lang="en-US" altLang="ko-KR" sz="1000" b="0" i="0" kern="1200" dirty="0"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71127830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31FF62DB-05E4-8A46-C37F-D6936A7D125F}"/>
              </a:ext>
            </a:extLst>
          </p:cNvPr>
          <p:cNvSpPr txBox="1"/>
          <p:nvPr/>
        </p:nvSpPr>
        <p:spPr>
          <a:xfrm>
            <a:off x="0" y="6596390"/>
            <a:ext cx="1634308" cy="261610"/>
          </a:xfrm>
          <a:prstGeom prst="rect">
            <a:avLst/>
          </a:prstGeom>
          <a:solidFill>
            <a:srgbClr val="FFFF00"/>
          </a:solidFill>
          <a:ln>
            <a:noFill/>
            <a:prstDash val="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ko-KR" altLang="en-US" sz="1100" b="1" dirty="0"/>
              <a:t>다음 페이지에 이어서</a:t>
            </a:r>
            <a:endParaRPr lang="ko-KR" altLang="en-US" sz="1100" dirty="0"/>
          </a:p>
        </p:txBody>
      </p:sp>
    </p:spTree>
    <p:extLst>
      <p:ext uri="{BB962C8B-B14F-4D97-AF65-F5344CB8AC3E}">
        <p14:creationId xmlns:p14="http://schemas.microsoft.com/office/powerpoint/2010/main" val="3832216632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1CBED2-77E1-5F90-47E3-39FBCEA5B5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8AF74D1-7282-2C38-B5FD-38E94B7B8A6A}"/>
              </a:ext>
            </a:extLst>
          </p:cNvPr>
          <p:cNvSpPr txBox="1"/>
          <p:nvPr/>
        </p:nvSpPr>
        <p:spPr>
          <a:xfrm>
            <a:off x="325826" y="339047"/>
            <a:ext cx="87212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solidFill>
                  <a:srgbClr val="0070C0"/>
                </a:solidFill>
                <a:latin typeface="+mn-ea"/>
              </a:rPr>
              <a:t>05. </a:t>
            </a:r>
            <a:r>
              <a:rPr lang="ko-KR" altLang="en-US" sz="2000" b="1" dirty="0">
                <a:solidFill>
                  <a:srgbClr val="0070C0"/>
                </a:solidFill>
                <a:latin typeface="+mn-ea"/>
              </a:rPr>
              <a:t>현지통관 및 </a:t>
            </a:r>
            <a:r>
              <a:rPr lang="ko-KR" altLang="en-US" sz="2000" b="1" dirty="0" err="1">
                <a:solidFill>
                  <a:srgbClr val="0070C0"/>
                </a:solidFill>
                <a:latin typeface="+mn-ea"/>
              </a:rPr>
              <a:t>라벨링</a:t>
            </a:r>
            <a:r>
              <a:rPr lang="ko-KR" altLang="en-US" sz="2000" b="1" dirty="0">
                <a:solidFill>
                  <a:srgbClr val="0070C0"/>
                </a:solidFill>
                <a:latin typeface="+mn-ea"/>
              </a:rPr>
              <a:t> 규정</a:t>
            </a:r>
            <a:endParaRPr lang="en-US" altLang="ko-KR" sz="2000" b="1" dirty="0">
              <a:solidFill>
                <a:srgbClr val="0070C0"/>
              </a:solidFill>
              <a:latin typeface="+mn-ea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16B2F64-B2AD-E15A-79C3-3A8F44F5EA69}"/>
              </a:ext>
            </a:extLst>
          </p:cNvPr>
          <p:cNvSpPr txBox="1"/>
          <p:nvPr/>
        </p:nvSpPr>
        <p:spPr>
          <a:xfrm>
            <a:off x="325826" y="886609"/>
            <a:ext cx="87212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 dirty="0" err="1">
                <a:latin typeface="+mn-ea"/>
              </a:rPr>
              <a:t>라벨링</a:t>
            </a:r>
            <a:r>
              <a:rPr lang="ko-KR" altLang="en-US" sz="1400" b="1" dirty="0">
                <a:latin typeface="+mn-ea"/>
              </a:rPr>
              <a:t> 규정</a:t>
            </a:r>
            <a:endParaRPr lang="en-US" altLang="ko-KR" sz="1400" b="1" dirty="0">
              <a:latin typeface="+mn-ea"/>
            </a:endParaRP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0052FD9D-1B51-EA3A-02BC-C0609B2046D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2717485"/>
              </p:ext>
            </p:extLst>
          </p:nvPr>
        </p:nvGraphicFramePr>
        <p:xfrm>
          <a:off x="421512" y="1341838"/>
          <a:ext cx="11178501" cy="417677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74093">
                  <a:extLst>
                    <a:ext uri="{9D8B030D-6E8A-4147-A177-3AD203B41FA5}">
                      <a16:colId xmlns:a16="http://schemas.microsoft.com/office/drawing/2014/main" val="3003783481"/>
                    </a:ext>
                  </a:extLst>
                </a:gridCol>
                <a:gridCol w="9604408">
                  <a:extLst>
                    <a:ext uri="{9D8B030D-6E8A-4147-A177-3AD203B41FA5}">
                      <a16:colId xmlns:a16="http://schemas.microsoft.com/office/drawing/2014/main" val="3896608252"/>
                    </a:ext>
                  </a:extLst>
                </a:gridCol>
              </a:tblGrid>
              <a:tr h="3099533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200" b="1" dirty="0"/>
                        <a:t>주의사항</a:t>
                      </a:r>
                      <a:endParaRPr lang="en-US" altLang="ko-KR" sz="1200" b="1" dirty="0"/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200" b="1" dirty="0"/>
                        <a:t>또는</a:t>
                      </a:r>
                      <a:endParaRPr lang="en-US" altLang="ko-KR" sz="1200" b="1" dirty="0"/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200" b="1" dirty="0"/>
                        <a:t>확인사항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latinLnBrk="0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="1" i="0" kern="1200" dirty="0">
                          <a:solidFill>
                            <a:srgbClr val="FF0000"/>
                          </a:solidFill>
                          <a:effectLst/>
                          <a:latin typeface="+mj-lt"/>
                          <a:ea typeface="+mn-ea"/>
                          <a:cs typeface="+mn-cs"/>
                          <a:hlinkClick r:id="rId4"/>
                        </a:rPr>
                        <a:t>1. </a:t>
                      </a:r>
                      <a:r>
                        <a:rPr lang="ko-KR" altLang="en-US" sz="1000" b="1" i="0" kern="1200" dirty="0">
                          <a:solidFill>
                            <a:srgbClr val="FF0000"/>
                          </a:solidFill>
                          <a:effectLst/>
                          <a:latin typeface="+mj-lt"/>
                          <a:ea typeface="+mn-ea"/>
                          <a:cs typeface="+mn-cs"/>
                          <a:hlinkClick r:id="rId4"/>
                        </a:rPr>
                        <a:t>공정경쟁규약에 의한 표시 사항</a:t>
                      </a:r>
                      <a:endParaRPr lang="en-US" altLang="ko-KR" sz="1000" b="1" i="0" kern="1200" dirty="0">
                        <a:solidFill>
                          <a:srgbClr val="FF0000"/>
                        </a:solidFill>
                        <a:effectLst/>
                        <a:latin typeface="+mj-lt"/>
                        <a:ea typeface="+mn-ea"/>
                        <a:cs typeface="+mn-cs"/>
                      </a:endParaRPr>
                    </a:p>
                    <a:p>
                      <a:pPr marL="228600" indent="-228600" latinLnBrk="0">
                        <a:lnSpc>
                          <a:spcPct val="150000"/>
                        </a:lnSpc>
                        <a:buAutoNum type="arabicPeriod"/>
                      </a:pPr>
                      <a:endParaRPr lang="en-US" altLang="ko-KR" sz="1000" b="1" i="0" kern="1200" dirty="0">
                        <a:solidFill>
                          <a:srgbClr val="FF0000"/>
                        </a:solidFill>
                        <a:effectLst/>
                        <a:latin typeface="+mj-lt"/>
                        <a:ea typeface="+mn-ea"/>
                        <a:cs typeface="+mn-cs"/>
                      </a:endParaRPr>
                    </a:p>
                    <a:p>
                      <a:pPr marL="0" indent="0" latinLnBrk="0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2. </a:t>
                      </a:r>
                      <a:r>
                        <a:rPr lang="ko-KR" altLang="en-US" sz="1000" b="0" i="0" kern="1200" dirty="0" err="1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전성분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 명칭 표시의 경우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일본화장품공업회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(JCIA)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가 작성한 화장품의 </a:t>
                      </a:r>
                      <a:r>
                        <a:rPr lang="ko-KR" altLang="en-US" sz="1000" b="1" i="0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  <a:hlinkClick r:id="rId5"/>
                        </a:rPr>
                        <a:t>성분표시 명칭리스트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 등을 참고하여 일본어로 기재</a:t>
                      </a:r>
                      <a:endParaRPr lang="en-US" altLang="ko-KR" sz="1000" b="0" i="0" kern="1200" dirty="0"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  <a:cs typeface="+mn-cs"/>
                      </a:endParaRPr>
                    </a:p>
                    <a:p>
                      <a:pPr marL="0" indent="0" latinLnBrk="0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*</a:t>
                      </a:r>
                      <a:r>
                        <a:rPr lang="ko-KR" altLang="en-US" sz="1000" b="0" i="0" kern="1200" dirty="0" err="1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의약부외품의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 경우 </a:t>
                      </a:r>
                      <a:r>
                        <a:rPr lang="ko-KR" altLang="en-US" sz="1000" b="0" i="0" kern="1200" dirty="0" err="1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전성분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 표시 의무 사항 아님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다만 </a:t>
                      </a:r>
                      <a:r>
                        <a:rPr lang="ko-KR" altLang="en-US" sz="1000" b="1" i="0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유효 성분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은 의무 사항</a:t>
                      </a:r>
                      <a:endParaRPr lang="en-US" altLang="ko-KR" sz="1000" b="0" i="0" kern="1200" dirty="0"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  <a:cs typeface="+mn-cs"/>
                      </a:endParaRPr>
                    </a:p>
                    <a:p>
                      <a:pPr marL="228600" indent="-228600" latinLnBrk="0">
                        <a:lnSpc>
                          <a:spcPct val="150000"/>
                        </a:lnSpc>
                        <a:buAutoNum type="arabicPeriod"/>
                      </a:pPr>
                      <a:endParaRPr lang="en-US" altLang="ko-KR" sz="1000" b="0" i="0" kern="1200" dirty="0"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  <a:cs typeface="+mn-cs"/>
                      </a:endParaRPr>
                    </a:p>
                    <a:p>
                      <a:pPr marL="0" indent="0" latinLnBrk="0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3.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사용기한 표시대상 화장품</a:t>
                      </a:r>
                      <a:endParaRPr lang="en-US" altLang="ko-KR" sz="1000" b="0" i="0" kern="1200" dirty="0"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  <a:cs typeface="+mn-cs"/>
                      </a:endParaRPr>
                    </a:p>
                    <a:p>
                      <a:pPr marL="0" indent="0" latinLnBrk="0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* </a:t>
                      </a:r>
                      <a:r>
                        <a:rPr lang="ko-KR" altLang="en-US" sz="1000" b="1" i="0" kern="1200" dirty="0" err="1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아스코르브산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그 </a:t>
                      </a:r>
                      <a:r>
                        <a:rPr lang="ko-KR" altLang="en-US" sz="1000" b="1" i="0" kern="1200" dirty="0" err="1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에스테르</a:t>
                      </a:r>
                      <a:r>
                        <a:rPr lang="ko-KR" altLang="en-US" sz="1000" b="0" i="0" kern="1200" dirty="0" err="1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나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 이들 </a:t>
                      </a:r>
                      <a:r>
                        <a:rPr lang="ko-KR" altLang="en-US" sz="1000" b="1" i="0" kern="1200" dirty="0" err="1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염류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 또는 </a:t>
                      </a:r>
                      <a:r>
                        <a:rPr lang="ko-KR" altLang="en-US" sz="1000" b="1" i="0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효소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를 함유하는 화장품</a:t>
                      </a:r>
                    </a:p>
                    <a:p>
                      <a:pPr marL="0" indent="0" latinLnBrk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*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전 호에 열거된 것 외에 제조 또는 수입 후 적절한 보존조건 하에서 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3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년 이내에 성상 및 품질이 변화할 우려가 있는 화장품</a:t>
                      </a:r>
                      <a:endParaRPr lang="en-US" altLang="ko-KR" sz="1000" b="0" i="0" kern="1200" dirty="0"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  <a:cs typeface="+mn-cs"/>
                      </a:endParaRPr>
                    </a:p>
                    <a:p>
                      <a:pPr marL="171450" indent="-171450" latinLnBrk="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endParaRPr lang="en-US" altLang="ko-KR" sz="1000" b="0" i="0" kern="1200" dirty="0"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  <a:cs typeface="+mn-cs"/>
                      </a:endParaRPr>
                    </a:p>
                    <a:p>
                      <a:pPr marL="0" indent="0" latinLnBrk="0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4. </a:t>
                      </a:r>
                      <a:r>
                        <a:rPr lang="ko-KR" altLang="en-US" sz="1000" b="0" i="0" kern="1200" dirty="0" err="1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의약부외품은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000" b="1" i="0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  <a:hlinkClick r:id="rId6"/>
                        </a:rPr>
                        <a:t>일본화장품공업회</a:t>
                      </a:r>
                      <a:r>
                        <a:rPr lang="en-US" altLang="ko-KR" sz="1000" b="1" i="0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  <a:hlinkClick r:id="rId6"/>
                        </a:rPr>
                        <a:t>(JCIA) </a:t>
                      </a:r>
                      <a:r>
                        <a:rPr lang="ko-KR" altLang="en-US" sz="1000" b="1" i="0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  <a:hlinkClick r:id="rId6"/>
                        </a:rPr>
                        <a:t>자율 기준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에 따라 성분을 표시</a:t>
                      </a:r>
                      <a:endParaRPr lang="en-US" altLang="ko-KR" sz="1000" b="0" i="0" kern="1200" dirty="0"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  <a:cs typeface="+mn-cs"/>
                      </a:endParaRPr>
                    </a:p>
                    <a:p>
                      <a:pPr marL="0" indent="0" latinLnBrk="0">
                        <a:lnSpc>
                          <a:spcPct val="150000"/>
                        </a:lnSpc>
                        <a:buNone/>
                      </a:pPr>
                      <a:endParaRPr lang="en-US" altLang="ko-KR" sz="1000" b="0" i="0" kern="1200" dirty="0"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  <a:cs typeface="+mn-cs"/>
                      </a:endParaRPr>
                    </a:p>
                    <a:p>
                      <a:pPr marL="0" indent="0" latinLnBrk="0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5.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라벨 광고 및 표현 주의사항 </a:t>
                      </a:r>
                      <a:endParaRPr lang="en-US" altLang="ko-KR" sz="1000" b="0" i="0" kern="1200" dirty="0"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  <a:cs typeface="+mn-cs"/>
                      </a:endParaRPr>
                    </a:p>
                    <a:p>
                      <a:pPr marL="0" indent="0" latinLnBrk="0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*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의학적 효능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치료 효과를 암시하는 표현은 금지</a:t>
                      </a:r>
                    </a:p>
                    <a:p>
                      <a:pPr marL="0" indent="0" latinLnBrk="0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*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 “즉각 효과”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, “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의사 추천” 등 과장된 광고 문구 사용 불가</a:t>
                      </a:r>
                    </a:p>
                    <a:p>
                      <a:pPr marL="0" indent="0" latinLnBrk="0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*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 성분명은 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JCIA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또는 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PMDA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권장 명칭 사용</a:t>
                      </a:r>
                    </a:p>
                    <a:p>
                      <a:pPr marL="0" indent="0" latinLnBrk="0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*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 일본어 외 표기 병행 가능하나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일본어가 주 표기여야 함</a:t>
                      </a:r>
                    </a:p>
                    <a:p>
                      <a:pPr marL="0" indent="0" latinLnBrk="0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*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 허가 받지 않은 효능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·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효과 문구 사용 시 법적 제재 가능</a:t>
                      </a:r>
                    </a:p>
                    <a:p>
                      <a:pPr marL="0" indent="0" latinLnBrk="0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*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000" b="0" i="0" kern="1200" dirty="0" err="1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의약부외품의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 경우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, PMDA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광고 및 </a:t>
                      </a:r>
                      <a:r>
                        <a:rPr lang="ko-KR" altLang="en-US" sz="1000" b="0" i="0" kern="1200" dirty="0" err="1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라벨링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 심사 필요</a:t>
                      </a:r>
                      <a:endParaRPr lang="en-US" altLang="ko-KR" sz="1000" b="0" i="0" kern="1200" dirty="0"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819323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48999815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6615</TotalTime>
  <Words>3130</Words>
  <Application>Microsoft Office PowerPoint</Application>
  <PresentationFormat>와이드스크린</PresentationFormat>
  <Paragraphs>407</Paragraphs>
  <Slides>15</Slides>
  <Notes>15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HeadingPairs>
  <TitlesOfParts>
    <vt:vector size="18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은정 김</dc:creator>
  <cp:lastModifiedBy>관리자 대한화장품협회</cp:lastModifiedBy>
  <cp:revision>144</cp:revision>
  <dcterms:created xsi:type="dcterms:W3CDTF">2026-06-17T04:37:34Z</dcterms:created>
  <dcterms:modified xsi:type="dcterms:W3CDTF">2026-10-23T04:33:10Z</dcterms:modified>
</cp:coreProperties>
</file>