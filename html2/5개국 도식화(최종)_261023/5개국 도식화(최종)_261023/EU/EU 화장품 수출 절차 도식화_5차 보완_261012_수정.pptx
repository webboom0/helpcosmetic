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20_760E43C.xml" ContentType="application/vnd.ms-powerpoint.comments+xml"/>
  <Override PartName="/ppt/notesSlides/notesSlide2.xml" ContentType="application/vnd.openxmlformats-officedocument.presentationml.notesSlide+xml"/>
  <Override PartName="/ppt/comments/modernComment_11C_0.xml" ContentType="application/vnd.ms-powerpoint.comments+xml"/>
  <Override PartName="/ppt/notesSlides/notesSlide3.xml" ContentType="application/vnd.openxmlformats-officedocument.presentationml.notesSlide+xml"/>
  <Override PartName="/ppt/comments/modernComment_103_0.xml" ContentType="application/vnd.ms-powerpoint.comments+xml"/>
  <Override PartName="/ppt/notesSlides/notesSlide4.xml" ContentType="application/vnd.openxmlformats-officedocument.presentationml.notesSlide+xml"/>
  <Override PartName="/ppt/comments/modernComment_11B_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D_E85BA94A.xml" ContentType="application/vnd.ms-powerpoint.comments+xml"/>
  <Override PartName="/ppt/notesSlides/notesSlide7.xml" ContentType="application/vnd.openxmlformats-officedocument.presentationml.notesSlide+xml"/>
  <Override PartName="/ppt/comments/modernComment_118_78BE6AEE.xml" ContentType="application/vnd.ms-powerpoint.comments+xml"/>
  <Override PartName="/ppt/notesSlides/notesSlide8.xml" ContentType="application/vnd.openxmlformats-officedocument.presentationml.notesSlide+xml"/>
  <Override PartName="/ppt/comments/modernComment_119_4F6B9CEC.xml" ContentType="application/vnd.ms-powerpoint.comments+xml"/>
  <Override PartName="/ppt/notesSlides/notesSlide9.xml" ContentType="application/vnd.openxmlformats-officedocument.presentationml.notesSlide+xml"/>
  <Override PartName="/ppt/comments/modernComment_11E_5718D46.xml" ContentType="application/vnd.ms-powerpoint.comments+xml"/>
  <Override PartName="/ppt/notesSlides/notesSlide10.xml" ContentType="application/vnd.openxmlformats-officedocument.presentationml.notesSlide+xml"/>
  <Override PartName="/ppt/comments/modernComment_11A_DBB06A40.xml" ContentType="application/vnd.ms-powerpoint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6"/>
  </p:notesMasterIdLst>
  <p:sldIdLst>
    <p:sldId id="256" r:id="rId2"/>
    <p:sldId id="270" r:id="rId3"/>
    <p:sldId id="288" r:id="rId4"/>
    <p:sldId id="284" r:id="rId5"/>
    <p:sldId id="259" r:id="rId6"/>
    <p:sldId id="283" r:id="rId7"/>
    <p:sldId id="261" r:id="rId8"/>
    <p:sldId id="285" r:id="rId9"/>
    <p:sldId id="280" r:id="rId10"/>
    <p:sldId id="281" r:id="rId11"/>
    <p:sldId id="286" r:id="rId12"/>
    <p:sldId id="282" r:id="rId13"/>
    <p:sldId id="287" r:id="rId14"/>
    <p:sldId id="26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94E26-C7D1-BA6A-00B6-2540C16AE08A}" name="관리자 대한화장품협회" initials="관대" userId="5afd10ffc425ac2a" providerId="Windows Live"/>
  <p188:author id="{A1F4ACA4-32C5-3A05-D2BC-2194DD035544}" name="윈게이트코리아 2" initials="2윈" userId="S::wynngatekr@wynngatekorea.onmicrosoft.com::4fb62243-b349-4c92-b34d-bb23574c9f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5E0CB-EF09-4916-B7AC-F8215D1CCB7C}" v="25" dt="2026-07-01T02:19:50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377" autoAdjust="0"/>
  </p:normalViewPr>
  <p:slideViewPr>
    <p:cSldViewPr snapToGrid="0">
      <p:cViewPr varScale="1">
        <p:scale>
          <a:sx n="102" d="100"/>
          <a:sy n="102" d="100"/>
        </p:scale>
        <p:origin x="216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이트코리아4 윈" userId="29791106e3870741" providerId="LiveId" clId="{876575C2-2681-46EB-8412-E912BFEB8FEA}"/>
    <pc:docChg chg="undo custSel modSld">
      <pc:chgData name="게이트코리아4 윈" userId="29791106e3870741" providerId="LiveId" clId="{876575C2-2681-46EB-8412-E912BFEB8FEA}" dt="2026-07-01T02:22:26.408" v="404" actId="207"/>
      <pc:docMkLst>
        <pc:docMk/>
      </pc:docMkLst>
      <pc:sldChg chg="modSp mod">
        <pc:chgData name="게이트코리아4 윈" userId="29791106e3870741" providerId="LiveId" clId="{876575C2-2681-46EB-8412-E912BFEB8FEA}" dt="2026-07-01T02:05:11.659" v="350" actId="207"/>
        <pc:sldMkLst>
          <pc:docMk/>
          <pc:sldMk cId="0" sldId="259"/>
        </pc:sldMkLst>
        <pc:graphicFrameChg chg="modGraphic">
          <ac:chgData name="게이트코리아4 윈" userId="29791106e3870741" providerId="LiveId" clId="{876575C2-2681-46EB-8412-E912BFEB8FEA}" dt="2026-07-01T02:05:11.659" v="35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addSp delSp modSp mod">
        <pc:chgData name="게이트코리아4 윈" userId="29791106e3870741" providerId="LiveId" clId="{876575C2-2681-46EB-8412-E912BFEB8FEA}" dt="2026-07-01T02:08:29.465" v="388" actId="20577"/>
        <pc:sldMkLst>
          <pc:docMk/>
          <pc:sldMk cId="3020161421" sldId="261"/>
        </pc:sldMkLst>
        <pc:spChg chg="add del mod">
          <ac:chgData name="게이트코리아4 윈" userId="29791106e3870741" providerId="LiveId" clId="{876575C2-2681-46EB-8412-E912BFEB8FEA}" dt="2026-07-01T02:08:18.454" v="380" actId="478"/>
          <ac:spMkLst>
            <pc:docMk/>
            <pc:sldMk cId="3020161421" sldId="261"/>
            <ac:spMk id="2" creationId="{6C035C33-9054-5FDA-17BD-70844598611A}"/>
          </ac:spMkLst>
        </pc:spChg>
        <pc:graphicFrameChg chg="mod modGraphic">
          <ac:chgData name="게이트코리아4 윈" userId="29791106e3870741" providerId="LiveId" clId="{876575C2-2681-46EB-8412-E912BFEB8FEA}" dt="2026-07-01T02:08:29.465" v="388" actId="20577"/>
          <ac:graphicFrameMkLst>
            <pc:docMk/>
            <pc:sldMk cId="3020161421" sldId="261"/>
            <ac:graphicFrameMk id="4" creationId="{DC6E0229-3686-5145-6220-2CDA9B3FEFAC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22:26.408" v="404" actId="207"/>
        <pc:sldMkLst>
          <pc:docMk/>
          <pc:sldMk cId="1948078553" sldId="266"/>
        </pc:sldMkLst>
        <pc:graphicFrameChg chg="mod modGraphic">
          <ac:chgData name="게이트코리아4 윈" userId="29791106e3870741" providerId="LiveId" clId="{876575C2-2681-46EB-8412-E912BFEB8FEA}" dt="2026-07-01T02:22:26.408" v="404" actId="207"/>
          <ac:graphicFrameMkLst>
            <pc:docMk/>
            <pc:sldMk cId="1948078553" sldId="266"/>
            <ac:graphicFrameMk id="5" creationId="{83680017-532B-F30F-00A1-79EED46A202E}"/>
          </ac:graphicFrameMkLst>
        </pc:graphicFrameChg>
      </pc:sldChg>
      <pc:sldChg chg="addSp modSp mod">
        <pc:chgData name="게이트코리아4 윈" userId="29791106e3870741" providerId="LiveId" clId="{876575C2-2681-46EB-8412-E912BFEB8FEA}" dt="2026-07-01T01:13:49.440" v="338" actId="207"/>
        <pc:sldMkLst>
          <pc:docMk/>
          <pc:sldMk cId="0" sldId="278"/>
        </pc:sldMkLst>
        <pc:spChg chg="add mod">
          <ac:chgData name="게이트코리아4 윈" userId="29791106e3870741" providerId="LiveId" clId="{876575C2-2681-46EB-8412-E912BFEB8FEA}" dt="2026-06-30T00:10:46.827" v="225" actId="1076"/>
          <ac:spMkLst>
            <pc:docMk/>
            <pc:sldMk cId="0" sldId="278"/>
            <ac:spMk id="3" creationId="{4624A45B-6265-C55F-C430-467C3F4336E2}"/>
          </ac:spMkLst>
        </pc:spChg>
        <pc:graphicFrameChg chg="modGraphic">
          <ac:chgData name="게이트코리아4 윈" userId="29791106e3870741" providerId="LiveId" clId="{876575C2-2681-46EB-8412-E912BFEB8FEA}" dt="2026-07-01T01:13:49.440" v="338" actId="207"/>
          <ac:graphicFrameMkLst>
            <pc:docMk/>
            <pc:sldMk cId="0" sldId="278"/>
            <ac:graphicFrameMk id="5" creationId="{00000000-0000-0000-0000-000000000000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08:49.868" v="390" actId="207"/>
        <pc:sldMkLst>
          <pc:docMk/>
          <pc:sldMk cId="2025745134" sldId="280"/>
        </pc:sldMkLst>
        <pc:graphicFrameChg chg="modGraphic">
          <ac:chgData name="게이트코리아4 윈" userId="29791106e3870741" providerId="LiveId" clId="{876575C2-2681-46EB-8412-E912BFEB8FEA}" dt="2026-07-01T02:08:49.868" v="390" actId="207"/>
          <ac:graphicFrameMkLst>
            <pc:docMk/>
            <pc:sldMk cId="2025745134" sldId="280"/>
            <ac:graphicFrameMk id="5" creationId="{4847777B-BC9D-AB44-C128-C2F8187B5F1B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08:53.601" v="391" actId="207"/>
        <pc:sldMkLst>
          <pc:docMk/>
          <pc:sldMk cId="1332452588" sldId="281"/>
        </pc:sldMkLst>
        <pc:graphicFrameChg chg="mod modGraphic">
          <ac:chgData name="게이트코리아4 윈" userId="29791106e3870741" providerId="LiveId" clId="{876575C2-2681-46EB-8412-E912BFEB8FEA}" dt="2026-07-01T02:08:53.601" v="391" actId="207"/>
          <ac:graphicFrameMkLst>
            <pc:docMk/>
            <pc:sldMk cId="1332452588" sldId="281"/>
            <ac:graphicFrameMk id="5" creationId="{134F965B-56D8-667F-C908-081081C142E6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20:04.093" v="393" actId="207"/>
        <pc:sldMkLst>
          <pc:docMk/>
          <pc:sldMk cId="3685771840" sldId="282"/>
        </pc:sldMkLst>
        <pc:graphicFrameChg chg="modGraphic">
          <ac:chgData name="게이트코리아4 윈" userId="29791106e3870741" providerId="LiveId" clId="{876575C2-2681-46EB-8412-E912BFEB8FEA}" dt="2026-07-01T02:20:04.093" v="393" actId="207"/>
          <ac:graphicFrameMkLst>
            <pc:docMk/>
            <pc:sldMk cId="3685771840" sldId="282"/>
            <ac:graphicFrameMk id="5" creationId="{FD66C516-298C-15A5-0ECB-F2BE8032B472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05:23.518" v="352" actId="207"/>
        <pc:sldMkLst>
          <pc:docMk/>
          <pc:sldMk cId="0" sldId="283"/>
        </pc:sldMkLst>
        <pc:graphicFrameChg chg="modGraphic">
          <ac:chgData name="게이트코리아4 윈" userId="29791106e3870741" providerId="LiveId" clId="{876575C2-2681-46EB-8412-E912BFEB8FEA}" dt="2026-07-01T02:05:23.518" v="352" actId="207"/>
          <ac:graphicFrameMkLst>
            <pc:docMk/>
            <pc:sldMk cId="0" sldId="283"/>
            <ac:graphicFrameMk id="5" creationId="{00000000-0000-0000-0000-000000000000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04:43.497" v="346" actId="207"/>
        <pc:sldMkLst>
          <pc:docMk/>
          <pc:sldMk cId="0" sldId="284"/>
        </pc:sldMkLst>
        <pc:graphicFrameChg chg="modGraphic">
          <ac:chgData name="게이트코리아4 윈" userId="29791106e3870741" providerId="LiveId" clId="{876575C2-2681-46EB-8412-E912BFEB8FEA}" dt="2026-07-01T02:04:43.497" v="346" actId="207"/>
          <ac:graphicFrameMkLst>
            <pc:docMk/>
            <pc:sldMk cId="0" sldId="284"/>
            <ac:graphicFrameMk id="5" creationId="{00000000-0000-0000-0000-000000000000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08:43.879" v="389" actId="207"/>
        <pc:sldMkLst>
          <pc:docMk/>
          <pc:sldMk cId="3898321226" sldId="285"/>
        </pc:sldMkLst>
        <pc:graphicFrameChg chg="modGraphic">
          <ac:chgData name="게이트코리아4 윈" userId="29791106e3870741" providerId="LiveId" clId="{876575C2-2681-46EB-8412-E912BFEB8FEA}" dt="2026-07-01T02:08:43.879" v="389" actId="207"/>
          <ac:graphicFrameMkLst>
            <pc:docMk/>
            <pc:sldMk cId="3898321226" sldId="285"/>
            <ac:graphicFrameMk id="5" creationId="{65821329-EFE9-3CBB-3F58-BCADB87FBBFE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20:28.329" v="398" actId="207"/>
        <pc:sldMkLst>
          <pc:docMk/>
          <pc:sldMk cId="91327814" sldId="286"/>
        </pc:sldMkLst>
        <pc:graphicFrameChg chg="modGraphic">
          <ac:chgData name="게이트코리아4 윈" userId="29791106e3870741" providerId="LiveId" clId="{876575C2-2681-46EB-8412-E912BFEB8FEA}" dt="2026-07-01T02:20:28.329" v="398" actId="207"/>
          <ac:graphicFrameMkLst>
            <pc:docMk/>
            <pc:sldMk cId="91327814" sldId="286"/>
            <ac:graphicFrameMk id="5" creationId="{135DF703-7356-5A02-3CED-F1AFE99CB4DE}"/>
          </ac:graphicFrameMkLst>
        </pc:graphicFrameChg>
      </pc:sldChg>
      <pc:sldChg chg="modSp mod">
        <pc:chgData name="게이트코리아4 윈" userId="29791106e3870741" providerId="LiveId" clId="{876575C2-2681-46EB-8412-E912BFEB8FEA}" dt="2026-07-01T02:20:36.632" v="399" actId="207"/>
        <pc:sldMkLst>
          <pc:docMk/>
          <pc:sldMk cId="2372058052" sldId="287"/>
        </pc:sldMkLst>
        <pc:graphicFrameChg chg="modGraphic">
          <ac:chgData name="게이트코리아4 윈" userId="29791106e3870741" providerId="LiveId" clId="{876575C2-2681-46EB-8412-E912BFEB8FEA}" dt="2026-07-01T02:20:36.632" v="399" actId="207"/>
          <ac:graphicFrameMkLst>
            <pc:docMk/>
            <pc:sldMk cId="2372058052" sldId="287"/>
            <ac:graphicFrameMk id="5" creationId="{ED0B3FAE-9F40-072C-8600-51C772462BD9}"/>
          </ac:graphicFrameMkLst>
        </pc:graphicFrameChg>
      </pc:sldChg>
    </pc:docChg>
  </pc:docChgLst>
</pc:chgInfo>
</file>

<file path=ppt/comments/modernComment_11A_DBB06A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252922-BE81-400D-AF00-85EFA1A5AC82}" authorId="{A1F4ACA4-32C5-3A05-D2BC-2194DD035544}" created="2026-08-04T06:41:06.8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3129518004" colId="4224328845"/>
      <ac:txMk cp="340" len="4">
        <ac:context len="366" hash="3630153381"/>
      </ac:txMk>
    </ac:txMkLst>
    <p188:pos x="9534611" y="1416839"/>
    <p188:replyLst/>
    <p188:txBody>
      <a:bodyPr/>
      <a:lstStyle/>
      <a:p>
        <a:r>
          <a:rPr lang="ko-KR" altLang="en-US"/>
          <a:t>첨부파일 3-1</a:t>
        </a:r>
      </a:p>
    </p188:txBody>
  </p188:cm>
  <p188:cm id="{DDC78854-9BFD-446A-BB73-29B4632080A7}" authorId="{A1F4ACA4-32C5-3A05-D2BC-2194DD035544}" created="2026-08-04T06:41:23.78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3471127830" colId="4224328845"/>
      <ac:txMk cp="23" len="2">
        <ac:context len="98" hash="278144898"/>
      </ac:txMk>
    </ac:txMkLst>
    <p188:pos x="2125143" y="3198505"/>
    <p188:txBody>
      <a:bodyPr/>
      <a:lstStyle/>
      <a:p>
        <a:r>
          <a:rPr lang="ko-KR" altLang="en-US"/>
          <a:t>첨부파일 3-3</a:t>
        </a:r>
      </a:p>
    </p188:txBody>
  </p188:cm>
  <p188:cm id="{47778652-117C-4A2A-90F7-4EF5523CD7F4}" authorId="{A1F4ACA4-32C5-3A05-D2BC-2194DD035544}" created="2026-08-04T06:41:46.9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3471127830" colId="4224328845"/>
      <ac:txMk cp="36" len="5">
        <ac:context len="98" hash="278144898"/>
      </ac:txMk>
    </ac:txMkLst>
    <p188:pos x="2511642" y="3424748"/>
    <p188:txBody>
      <a:bodyPr/>
      <a:lstStyle/>
      <a:p>
        <a:r>
          <a:rPr lang="ko-KR" altLang="en-US"/>
          <a:t>첨부파일 3-4</a:t>
        </a:r>
      </a:p>
    </p188:txBody>
  </p188:cm>
  <p188:cm id="{CA9E6AD1-6762-43E1-A4B8-401EB9D2D99E}" authorId="{A1F4ACA4-32C5-3A05-D2BC-2194DD035544}" created="2026-08-04T06:41:59.2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3471127830" colId="4224328845"/>
      <ac:txMk cp="42" len="15">
        <ac:context len="98" hash="278144898"/>
      </ac:txMk>
    </ac:txMkLst>
    <p188:pos x="3576871" y="3650991"/>
    <p188:txBody>
      <a:bodyPr/>
      <a:lstStyle/>
      <a:p>
        <a:r>
          <a:rPr lang="ko-KR" altLang="en-US"/>
          <a:t>첨부파일 3-5</a:t>
        </a:r>
      </a:p>
    </p188:txBody>
  </p188:cm>
  <p188:cm id="{83CD176F-503A-4D33-901E-5FBA3CA2996E}" authorId="{A1F4ACA4-32C5-3A05-D2BC-2194DD035544}" created="2026-08-04T06:50:21.50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3129518004" colId="4224328845"/>
      <ac:txMk cp="355" len="7">
        <ac:context len="366" hash="3630153381"/>
      </ac:txMk>
    </ac:txMkLst>
    <p188:pos x="10298182" y="1416839"/>
    <p188:txBody>
      <a:bodyPr/>
      <a:lstStyle/>
      <a:p>
        <a:r>
          <a:rPr lang="ko-KR" altLang="en-US"/>
          <a:t>첨부파일 3-2</a:t>
        </a:r>
      </a:p>
    </p188:txBody>
  </p188:cm>
  <p188:cm id="{19323D45-33D1-48AE-B867-0988FB1D4E5A}" authorId="{0A894E26-C7D1-BA6A-00B6-2540C16AE08A}" created="2026-08-06T01:20:49.3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2473776228" colId="4224328845"/>
      <ac:txMk cp="183" len="9">
        <ac:context len="208" hash="523583257"/>
      </ac:txMk>
    </ac:txMkLst>
    <p188:pos x="4550974" y="6025564"/>
    <p188:replyLst>
      <p188:reply id="{BDA8B4F8-A83D-413F-888A-E306B7EF49C5}" authorId="{A1F4ACA4-32C5-3A05-D2BC-2194DD035544}" created="2026-08-26T09:03:31.773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수정했습니다.</a:t>
        </a:r>
      </a:p>
    </p188:txBody>
  </p188:cm>
  <p188:cm id="{F8B84A14-CCD1-4DC2-B991-0AE3EE5C0167}" authorId="{0A894E26-C7D1-BA6A-00B6-2540C16AE08A}" created="2026-08-06T01:20:58.6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85771840" sldId="282"/>
      <ac:graphicFrameMk id="5" creationId="{FD66C516-298C-15A5-0ECB-F2BE8032B472}"/>
      <ac:tblMk/>
      <ac:tcMk rowId="2473776228" colId="4224328845"/>
      <ac:txMk cp="124" len="11">
        <ac:context len="208" hash="523583257"/>
      </ac:txMk>
    </ac:txMkLst>
    <p188:pos x="6189274" y="5568364"/>
    <p188:replyLst>
      <p188:reply id="{178B29C5-9C0A-468C-A8C4-06D4451022BD}" authorId="{A1F4ACA4-32C5-3A05-D2BC-2194DD035544}" created="2026-08-26T09:03:34.177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수정했습니다</a:t>
        </a:r>
      </a:p>
    </p188:txBody>
  </p188:cm>
</p188:cmLst>
</file>

<file path=ppt/comments/modernComment_11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53764D-AA09-4D89-876A-ADEEE9401822}" authorId="{0A894E26-C7D1-BA6A-00B6-2540C16AE08A}" created="2026-08-06T01:01:45.64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graphicFrameMk id="5" creationId="{00000000-0000-0000-0000-000000000000}"/>
      <ac:tblMk/>
      <ac:tcMk rowId="10000" colId="20002"/>
      <ac:txMk cp="10" len="16">
        <ac:context len="46" hash="1163515800"/>
      </ac:txMk>
    </ac:txMkLst>
    <p188:pos x="9119102" y="492340"/>
    <p188:replyLst>
      <p188:reply id="{884578B2-2A67-4F2E-AC01-D12814BF0D3D}" authorId="{A1F4ACA4-32C5-3A05-D2BC-2194DD035544}" created="2026-08-26T09:03:10.611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추가했습니다.</a:t>
        </a:r>
      </a:p>
    </p188:txBody>
  </p188:cm>
  <p188:cm id="{E50FE8F9-54E8-4797-A4F6-7BC1C90EE4E2}" authorId="{0A894E26-C7D1-BA6A-00B6-2540C16AE08A}" created="2026-08-06T01:02:06.5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graphicFrameMk id="5" creationId="{00000000-0000-0000-0000-000000000000}"/>
      <ac:tblMk/>
      <ac:tcMk rowId="10004" colId="20002"/>
      <ac:txMk cp="180" len="3">
        <ac:context len="432" hash="262882541"/>
      </ac:txMk>
    </ac:txMkLst>
    <p188:pos x="9252452" y="3978490"/>
    <p188:replyLst>
      <p188:reply id="{AB70A0BD-85A8-42D8-97D4-EBDD4E331BE0}" authorId="{A1F4ACA4-32C5-3A05-D2BC-2194DD035544}" created="2026-08-26T09:03:12.107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수정했습니다</a:t>
        </a:r>
      </a:p>
    </p188:txBody>
  </p188:cm>
  <p188:cm id="{B91C2542-A8C5-40F2-AA83-DA2D606EB45B}" authorId="{0A894E26-C7D1-BA6A-00B6-2540C16AE08A}" created="2026-08-27T04:51:08.2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graphicFrameMk id="5" creationId="{00000000-0000-0000-0000-000000000000}"/>
      <ac:tblMk/>
      <ac:tcMk rowId="10000" colId="20001"/>
      <ac:txMk cp="3">
        <ac:context len="19" hash="3999504552"/>
      </ac:txMk>
    </ac:txMkLst>
    <p188:pos x="2061077" y="473290"/>
    <p188:replyLst>
      <p188:reply id="{FBE2DD0A-E4CD-4774-8D88-88E1DA359B29}" authorId="{0A894E26-C7D1-BA6A-00B6-2540C16AE08A}" created="2026-08-27T04:52:29.250">
        <p188:txBody>
          <a:bodyPr/>
          <a:lstStyle/>
          <a:p>
            <a:r>
              <a:rPr lang="ko-KR" altLang="en-US"/>
              <a:t>아래의 "하나의" 단어도 하이라이트 하였습니다. 단어 수정 부탁드립니다.</a:t>
            </a:r>
          </a:p>
        </p188:txBody>
      </p188:reply>
      <p188:reply id="{7951ED45-8979-47A1-8DF5-9D6028AA093E}" authorId="{A1F4ACA4-32C5-3A05-D2BC-2194DD035544}" created="2026-09-15T10:35:33.589">
        <p188:txBody>
          <a:bodyPr/>
          <a:lstStyle/>
          <a:p>
            <a:r>
              <a:rPr lang="ko-KR" altLang="en-US"/>
              <a:t>이견 없습니다. 수정 완료하였습니다.</a:t>
            </a:r>
          </a:p>
        </p188:txBody>
      </p188:reply>
    </p188:replyLst>
    <p188:txBody>
      <a:bodyPr/>
      <a:lstStyle/>
      <a:p>
        <a:r>
          <a:rPr lang="ko-KR" altLang="en-US"/>
          <a:t>EU 전체 회원국으로 오해하실 수도 있을 것 같아서 "하나의"라는 단어를"개별" 혹은 "특정" 등의 단어로 바꾸는 것이 좋을 것 같다고 생각합니다. 의견 부탁드립니다.</a:t>
        </a:r>
      </a:p>
    </p188:txBody>
  </p188:cm>
</p188:cmLst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27A8B0-AA5E-4F35-BC6A-CB68B05099FB}" authorId="{0A894E26-C7D1-BA6A-00B6-2540C16AE08A}" created="2026-08-06T00:56:31.8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graphicFrameMk id="5" creationId="{00000000-0000-0000-0000-000000000000}"/>
      <ac:tblMk/>
      <ac:tcMk rowId="10000" colId="20001"/>
      <ac:txMk cp="0" len="216">
        <ac:context len="252" hash="3864389068"/>
      </ac:txMk>
    </ac:txMkLst>
    <p188:pos x="9995402" y="301840"/>
    <p188:replyLst>
      <p188:reply id="{EBEFD04F-F80B-485F-8F3D-2E823E6E1AE5}" authorId="{A1F4ACA4-32C5-3A05-D2BC-2194DD035544}" created="2026-08-26T09:03:01.055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띄어쓰기 및 문구 수정했습니다.</a:t>
        </a:r>
      </a:p>
    </p188:txBody>
  </p188:cm>
  <p188:cm id="{675036C1-4167-4A93-8A42-6A9577B5101D}" authorId="{0A894E26-C7D1-BA6A-00B6-2540C16AE08A}" created="2026-08-06T01:00:37.2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graphicFrameMk id="5" creationId="{00000000-0000-0000-0000-000000000000}"/>
      <ac:tblMk/>
      <ac:tcMk rowId="10005" colId="20001"/>
      <ac:txMk cp="1" len="407">
        <ac:context len="409" hash="3402640990"/>
      </ac:txMk>
    </ac:txMkLst>
    <p188:pos x="7861802" y="3635590"/>
    <p188:replyLst>
      <p188:reply id="{E8774F8E-A023-4B96-8C42-014938B03113}" authorId="{A1F4ACA4-32C5-3A05-D2BC-2194DD035544}" created="2026-08-26T09:03:04.518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띄어쓰기 및 문구 수정했습니다.</a:t>
        </a:r>
      </a:p>
    </p188:txBody>
  </p188:cm>
  <p188:cm id="{974CE0B1-10A2-4E3D-9F10-D42DC294F994}" authorId="{0A894E26-C7D1-BA6A-00B6-2540C16AE08A}" created="2026-10-13T07:06:52.7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graphicFrameMk id="5" creationId="{00000000-0000-0000-0000-000000000000}"/>
      <ac:tblMk/>
      <ac:tcMk rowId="10003" colId="20001"/>
      <ac:txMk cp="167" len="67">
        <ac:context len="235" hash="436866077"/>
      </ac:txMk>
    </ac:txMkLst>
    <p188:pos x="10871702" y="2654515"/>
    <p188:txBody>
      <a:bodyPr/>
      <a:lstStyle/>
      <a:p>
        <a:r>
          <a:rPr lang="ko-KR" altLang="en-US"/>
          <a:t>띄어쓰기 수정했습니다.</a:t>
        </a:r>
      </a:p>
    </p188:txBody>
  </p188:cm>
</p188:cmLst>
</file>

<file path=ppt/comments/modernComment_11D_E85BA9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7445D1-27D9-4D0A-A9D4-0935AB988002}" authorId="{0A894E26-C7D1-BA6A-00B6-2540C16AE08A}" created="2026-07-09T02:29:28.1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98321226" sldId="285"/>
      <ac:spMk id="4" creationId="{60B7EA55-23D6-D4E2-1EF9-09B5DE027E3A}"/>
    </ac:deMkLst>
    <p188:replyLst>
      <p188:reply id="{FF42AB3C-5989-4AE1-805D-B80AD3AA3011}" authorId="{A1F4ACA4-32C5-3A05-D2BC-2194DD035544}" created="2026-07-28T08:22:10.665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“PIF(제품정보파일)” 만 남기는 것이 어떨까요?</a:t>
        </a:r>
      </a:p>
    </p188:txBody>
  </p188:cm>
</p188:cmLst>
</file>

<file path=ppt/comments/modernComment_11E_5718D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670023-4966-4EF5-8363-1854AA8C707F}" authorId="{0A894E26-C7D1-BA6A-00B6-2540C16AE08A}" created="2026-08-06T01:03:19.2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1327814" sldId="286"/>
      <ac:graphicFrameMk id="5" creationId="{135DF703-7356-5A02-3CED-F1AFE99CB4DE}"/>
      <ac:tblMk/>
      <ac:tcMk rowId="2473776228" colId="4224328845"/>
      <ac:txMk cp="95" len="7">
        <ac:context len="473" hash="3560035907"/>
      </ac:txMk>
    </ac:txMkLst>
    <p188:pos x="8242802" y="725088"/>
    <p188:replyLst>
      <p188:reply id="{8968B9B3-45B6-46DC-BC32-2102E7DE79D9}" authorId="{A1F4ACA4-32C5-3A05-D2BC-2194DD035544}" created="2026-08-26T09:03:25.491">
        <p188:txBody>
          <a:bodyPr/>
          <a:lstStyle/>
          <a:p>
            <a:r>
              <a:rPr lang="ko-KR" altLang="en-US"/>
              <a:t>확인했습니다. 이견 없습니다.</a:t>
            </a:r>
          </a:p>
        </p188:txBody>
      </p188:reply>
    </p188:replyLst>
    <p188:txBody>
      <a:bodyPr/>
      <a:lstStyle/>
      <a:p>
        <a:r>
          <a:rPr lang="ko-KR" altLang="en-US"/>
          <a:t>수정하였습니다.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91069B-FDB7-42A3-A3AD-EFB2260F177A}" authorId="{0A894E26-C7D1-BA6A-00B6-2540C16AE08A}" created="2026-07-09T02:04:23.7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00000000-0000-0000-0000-000000000000}"/>
      <ac:tblMk/>
      <ac:tcMk rowId="10000" colId="20001"/>
      <ac:txMk cp="0" len="260">
        <ac:context len="261" hash="286303566"/>
      </ac:txMk>
    </ac:txMkLst>
    <p188:pos x="9947777" y="358992"/>
    <p188:replyLst>
      <p188:reply id="{F080A143-020A-441D-A1AF-B249CABCD70D}" authorId="{0A894E26-C7D1-BA6A-00B6-2540C16AE08A}" created="2026-07-09T02:07:58.807">
        <p188:txBody>
          <a:bodyPr/>
          <a:lstStyle/>
          <a:p>
            <a:r>
              <a:rPr lang="ko-KR" altLang="en-US"/>
              <a:t>여기서는 WIPO 국제 등록에 대한 내용인 것으로 이해됩니다. 그렇다면 설명과 정의에는 EUIPO(EUTM제도)대신 WIPO(마드리드)에 대한 배경이나 간단한 설명을 넣는 것이 좋을 것 같아 의견드립니다.</a:t>
            </a:r>
          </a:p>
        </p188:txBody>
      </p188:reply>
      <p188:reply id="{083715CB-E632-48DF-BAAD-5A4C6D373CDD}" authorId="{A1F4ACA4-32C5-3A05-D2BC-2194DD035544}" created="2026-07-28T08:21:29.918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설명 또는 정의가 이전 슬라이드와 같은데, 같은 것이 맞는지 확인 부탁드립니다.</a:t>
        </a:r>
      </a:p>
    </p188:txBody>
  </p188:cm>
  <p188:cm id="{803E84F1-FC6F-4DBE-8C08-86BD558C6254}" authorId="{0A894E26-C7D1-BA6A-00B6-2540C16AE08A}" created="2026-07-09T02:05:05.23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00000000-0000-0000-0000-000000000000}"/>
      <ac:tblMk/>
      <ac:tcMk rowId="10003" colId="20001"/>
      <ac:txMk cp="191">
        <ac:context len="192" hash="4279760809"/>
      </ac:txMk>
    </ac:txMkLst>
    <p188:pos x="3861302" y="2730717"/>
    <p188:replyLst>
      <p188:reply id="{7861B4C3-FF98-4CFA-AC86-7CFC6767C5AE}" authorId="{A1F4ACA4-32C5-3A05-D2BC-2194DD035544}" created="2026-07-28T08:21:37.425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부호는 오탈자인지 확인 부탁드립니다.</a:t>
        </a:r>
      </a:p>
    </p188:txBody>
  </p188:cm>
  <p188:cm id="{57FC7198-9555-4A04-8C36-72EDDB3D7C35}" authorId="{0A894E26-C7D1-BA6A-00B6-2540C16AE08A}" created="2026-07-09T02:13:57.32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00000000-0000-0000-0000-000000000000}"/>
      <ac:tblMk/>
      <ac:tcMk rowId="10003" colId="20001"/>
      <ac:txMk cp="74" len="27">
        <ac:context len="192" hash="4279760809"/>
      </ac:txMk>
    </ac:txMkLst>
    <p188:pos x="10900277" y="2273517"/>
    <p188:replyLst>
      <p188:reply id="{0CD3370C-147A-492E-A5A2-FB99A0BAAE70}" authorId="{A1F4ACA4-32C5-3A05-D2BC-2194DD035544}" created="2026-07-28T08:21:51.981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우선 제가 이해하고 있는 바로는 EUIPO에 상표등록을 하는 경우 EU 내 모든 회원국에서 상표권을 보호 받을 수 잇으나, WIPO를 통해 등록하는 경우 신청자가 지정한 국가에서만 보호 받을 수 있습니다. 많은 기업분들께서 EUIPO 혹은 WIPO 상표 등록에 대한 차이를 궁금해하셔서, 이런 차이점을 추가하는 것이 좋지 않을까 의견드립니다.</a:t>
        </a:r>
      </a:p>
    </p188:txBody>
  </p188:cm>
  <p188:cm id="{48B86675-ACA2-4ED7-8224-0F785606948C}" authorId="{0A894E26-C7D1-BA6A-00B6-2540C16AE08A}" created="2026-07-09T02:15:17.882">
    <pc:sldMkLst xmlns:pc="http://schemas.microsoft.com/office/powerpoint/2013/main/command">
      <pc:docMk/>
      <pc:sldMk cId="0" sldId="259"/>
    </pc:sldMkLst>
    <p188:replyLst>
      <p188:reply id="{E822C91A-E38D-4A55-A695-97BD824A4757}" authorId="{A1F4ACA4-32C5-3A05-D2BC-2194DD035544}" created="2026-07-28T08:21:58.207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일본이라고 기재되어 있습니다. 내용 확인 부탁드립니다.</a:t>
        </a:r>
      </a:p>
    </p188:txBody>
  </p188:cm>
  <p188:cm id="{583CD1BE-88CF-478B-BC5F-3705C20FB90F}" authorId="{0A894E26-C7D1-BA6A-00B6-2540C16AE08A}" created="2026-07-09T02:18:33.2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00000000-0000-0000-0000-000000000000}"/>
      <ac:tblMk/>
      <ac:tcMk rowId="10004" colId="20001"/>
      <ac:txMk cp="58" len="1">
        <ac:context len="226" hash="2978129005"/>
      </ac:txMk>
    </ac:txMkLst>
    <p188:pos x="7395077" y="3178392"/>
    <p188:replyLst>
      <p188:reply id="{B8AF2ACC-9B6B-451B-AFEC-00C3F06A28C3}" authorId="{A1F4ACA4-32C5-3A05-D2BC-2194DD035544}" created="2026-07-28T08:22:02.644">
        <p188:txBody>
          <a:bodyPr/>
          <a:lstStyle/>
          <a:p>
            <a:r>
              <a:rPr lang="ko-KR" altLang="en-US"/>
              <a:t>수정 완료</a:t>
            </a:r>
          </a:p>
        </p188:txBody>
      </p188:reply>
      <p188:reply id="{9E2AD6B7-00C2-43DB-80AE-E4D330489023}" authorId="{0A894E26-C7D1-BA6A-00B6-2540C16AE08A}" created="2026-10-13T07:06:31.998">
        <p188:txBody>
          <a:bodyPr/>
          <a:lstStyle/>
          <a:p>
            <a:r>
              <a:rPr lang="ko-KR" altLang="en-US"/>
              <a:t>“특허청" 단어들이 남아있어서 수정했습니다.</a:t>
            </a:r>
          </a:p>
        </p188:txBody>
      </p188:reply>
    </p188:replyLst>
    <p188:txBody>
      <a:bodyPr/>
      <a:lstStyle/>
      <a:p>
        <a:r>
          <a:rPr lang="ko-KR" altLang="en-US"/>
          <a:t>한국의 특허청은 작년 지식재산처로 승격되었습니다. 명칭 변경 부탁드리겠습니다.</a:t>
        </a:r>
      </a:p>
    </p188:txBody>
  </p188:cm>
  <p188:cm id="{B355A6AD-F735-4A60-B3A2-4979661570AD}" authorId="{0A894E26-C7D1-BA6A-00B6-2540C16AE08A}" created="2026-10-13T07:07:08.7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graphicFrameMk id="5" creationId="{00000000-0000-0000-0000-000000000000}"/>
    </ac:deMkLst>
    <p188:txBody>
      <a:bodyPr/>
      <a:lstStyle/>
      <a:p>
        <a:r>
          <a:rPr lang="ko-KR" altLang="en-US"/>
          <a:t>오탈자 수정했습니다.</a:t>
        </a:r>
      </a:p>
    </p188:txBody>
  </p188:cm>
</p188:cmLst>
</file>

<file path=ppt/comments/modernComment_118_78BE6A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01E3CA-FE30-47F6-9CB7-D411749245DC}" authorId="{0A894E26-C7D1-BA6A-00B6-2540C16AE08A}" created="2026-07-09T02:30:08.6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25745134" sldId="280"/>
      <ac:spMk id="4" creationId="{26A19540-83E1-1EA0-BEAC-B34EC290AAB2}"/>
    </ac:deMkLst>
    <p188:replyLst>
      <p188:reply id="{D55ACE3C-6D20-45F1-A358-CAD2D8A702DD}" authorId="{A1F4ACA4-32C5-3A05-D2BC-2194DD035544}" created="2026-07-28T08:22:15.809">
        <p188:txBody>
          <a:bodyPr/>
          <a:lstStyle/>
          <a:p>
            <a:r>
              <a:rPr lang="ko-KR" altLang="en-US"/>
              <a:t>수정 완료</a:t>
            </a:r>
          </a:p>
        </p188:txBody>
      </p188:reply>
    </p188:replyLst>
    <p188:txBody>
      <a:bodyPr/>
      <a:lstStyle/>
      <a:p>
        <a:r>
          <a:rPr lang="ko-KR" altLang="en-US"/>
          <a:t>“CPSR(화장품 안전성 보고서)”만 남기는 것이 어떨까요?</a:t>
        </a:r>
      </a:p>
    </p188:txBody>
  </p188:cm>
</p188:cmLst>
</file>

<file path=ppt/comments/modernComment_119_4F6B9C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97F1E9-12A8-4F2D-A406-EEE1AF43EA37}" authorId="{A1F4ACA4-32C5-3A05-D2BC-2194DD035544}" created="2026-08-04T06:46:52.1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32452588" sldId="281"/>
      <ac:graphicFrameMk id="5" creationId="{134F965B-56D8-667F-C908-081081C142E6}"/>
      <ac:tblMk/>
      <ac:tcMk rowId="2498715868" colId="4224328845"/>
      <ac:txMk cp="2" len="13">
        <ac:context len="16" hash="1457948204"/>
      </ac:txMk>
    </ac:txMkLst>
    <p188:pos x="3100873" y="4710170"/>
    <p188:txBody>
      <a:bodyPr/>
      <a:lstStyle/>
      <a:p>
        <a:r>
          <a:rPr lang="ko-KR" altLang="en-US"/>
          <a:t>첨부파일 2</a:t>
        </a:r>
      </a:p>
    </p188:txBody>
  </p188:cm>
</p188:cmLst>
</file>

<file path=ppt/comments/modernComment_120_760E4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22AE56-912A-48AD-90DA-55C198D1ECA7}" authorId="{0A894E26-C7D1-BA6A-00B6-2540C16AE08A}" created="2026-07-09T01:50:28.9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3790396" sldId="288"/>
      <ac:graphicFrameMk id="5" creationId="{AF7ACCAB-EA9D-689E-F8EF-E792755FDBAB}"/>
      <ac:tblMk/>
      <ac:tcMk rowId="10003" colId="20001"/>
      <ac:txMk cp="0">
        <ac:context len="1" hash="13"/>
      </ac:txMk>
    </ac:txMkLst>
    <p188:pos x="2985002" y="2386330"/>
    <p188:replyLst>
      <p188:reply id="{4AD1256C-80C9-4EDB-85B0-108012368352}" authorId="{A1F4ACA4-32C5-3A05-D2BC-2194DD035544}" created="2026-07-28T08:21:17.722">
        <p188:txBody>
          <a:bodyPr/>
          <a:lstStyle/>
          <a:p>
            <a:r>
              <a:rPr lang="ko-KR" altLang="en-US"/>
              <a:t>수출 시 주로 계약이 필요한 계약서 목록과
수출 시 필수 사항인 수출신고필증 내용으로 수정하였습니다.</a:t>
            </a:r>
          </a:p>
        </p188:txBody>
      </p188:reply>
    </p188:replyLst>
    <p188:txBody>
      <a:bodyPr/>
      <a:lstStyle/>
      <a:p>
        <a:r>
          <a:rPr lang="ko-KR" altLang="en-US"/>
          <a:t>‘한국무역협회'와 같은 사이트로 이동되는데 혹시 맞을까요?</a:t>
        </a:r>
      </a:p>
    </p188:txBody>
  </p188:cm>
  <p188:cm id="{70D780BA-678D-431E-B504-4E6138C9FFFD}" authorId="{A1F4ACA4-32C5-3A05-D2BC-2194DD035544}" created="2026-08-04T06:44:30.3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3790396" sldId="288"/>
      <ac:graphicFrameMk id="5" creationId="{AF7ACCAB-EA9D-689E-F8EF-E792755FDBAB}"/>
      <ac:tblMk/>
      <ac:tcMk rowId="10001" colId="20001"/>
      <ac:txMk cp="143" len="10">
        <ac:context len="303" hash="443370365"/>
      </ac:txMk>
    </ac:txMkLst>
    <p188:pos x="3689993" y="3709572"/>
    <p188:txBody>
      <a:bodyPr/>
      <a:lstStyle/>
      <a:p>
        <a:r>
          <a:rPr lang="ko-KR" altLang="en-US"/>
          <a:t>첨부파일 1-2</a:t>
        </a:r>
      </a:p>
    </p188:txBody>
  </p188:cm>
  <p188:cm id="{52BC9C0F-FD1E-4AA5-A500-0E2AAE8D3CA6}" authorId="{A1F4ACA4-32C5-3A05-D2BC-2194DD035544}" created="2026-08-04T06:45:05.80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3790396" sldId="288"/>
      <ac:graphicFrameMk id="5" creationId="{AF7ACCAB-EA9D-689E-F8EF-E792755FDBAB}"/>
      <ac:tblMk/>
      <ac:tcMk rowId="10001" colId="20001"/>
      <ac:txMk cp="53" len="8">
        <ac:context len="303" hash="443370365"/>
      </ac:txMk>
    </ac:txMkLst>
    <p188:pos x="3435469" y="3106257"/>
    <p188:txBody>
      <a:bodyPr/>
      <a:lstStyle/>
      <a:p>
        <a:r>
          <a:rPr lang="ko-KR" altLang="en-US"/>
          <a:t>첨부파일 1-1</a:t>
        </a:r>
      </a:p>
    </p188:txBody>
  </p188:cm>
  <p188:cm id="{23FE8204-44EF-41E2-932B-BDE286B0611B}" authorId="{A1F4ACA4-32C5-3A05-D2BC-2194DD035544}" created="2026-08-04T06:45:37.0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3790396" sldId="288"/>
      <ac:graphicFrameMk id="5" creationId="{AF7ACCAB-EA9D-689E-F8EF-E792755FDBAB}"/>
      <ac:tblMk/>
      <ac:tcMk rowId="10001" colId="20001"/>
      <ac:txMk cp="207" len="8">
        <ac:context len="303" hash="443370365"/>
      </ac:txMk>
    </ac:txMkLst>
    <p188:pos x="3388335" y="4322314"/>
    <p188:txBody>
      <a:bodyPr/>
      <a:lstStyle/>
      <a:p>
        <a:r>
          <a:rPr lang="ko-KR" altLang="en-US"/>
          <a:t>첨부파일 1-3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0FC0296A-37F5-4486-811F-1F151C3867D4}" type="datetime1">
              <a:rPr lang="ko-KR" altLang="en-US"/>
              <a:pPr lvl="0">
                <a:defRPr/>
              </a:pPr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223CB24-8E61-43D1-88DB-FA93509BE25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CC111-47C1-1CB3-B8F5-DE9E3305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E4416B-0F06-B1C5-852B-82DD1CD6B5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EBB69D-F443-0B86-6926-41AC1C507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25EA7-AA1C-AD96-6D45-A661A6BF1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082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223CB24-8E61-43D1-88DB-FA93509BE251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5D91-8B97-62A3-BCAE-673741A4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BBD49D-000E-FB6F-9B5E-5AE4402D0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EC3530-51F5-ED4E-9CB3-E285A83F0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123A92-384E-7645-818D-0BA1BBE64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68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D2FA-5760-F176-6753-E11EFFC3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F87D8B-9272-C009-36D9-DC099FC14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B3127F-C446-57DF-97AD-174A2BD61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2FD4F-B381-4D1B-10AA-6A8C32FC1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230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9A3C-4B2D-43DA-0B8C-6023CE0E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46733A-84E2-6B47-C6DE-D759358A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6B3639-2656-8005-D570-67ADEBA32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26837-CBDC-1AB9-7BDF-CD81DAA92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3CB24-8E61-43D1-88DB-FA93509BE2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52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D875F-BAB8-5C93-2928-688B69945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D53E41-CB99-5199-4CE4-84EDCE523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247C8-E091-B88F-A502-57553B03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98D7E-4729-3993-8A65-B31458D1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1724FF-FB37-328E-A2DE-B6E08D9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26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946C8-80A0-5B81-FBB6-719E5E60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EB2D8-8763-34A6-24FC-F4E8E4A2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9E46C1-7190-86C5-C648-9FB280DC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3F34C-F898-13F3-4F5E-8923162D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8AB0A-17FD-84BC-6ACE-DD42442F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7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ACAA7-9DA5-AAB7-1431-5167F6A5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116F8-3FCD-05B8-807F-A3A226BE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EEDED-6FA2-E0FF-519B-0484118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AF6DF-CC74-9389-3BF7-BDC5AF64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9DC8C-4E57-027B-CD3D-4B0CBA81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A764-4BEA-6099-9EFF-B3FB88D3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42AD-8F38-3095-9C73-DD921303E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3F5D8-C9F3-AE91-EB1C-AFCEA4E6E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4A1A64-15AC-E047-12CA-EAB2BF03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64B5CA-1F5B-C372-4896-9A0B9D2D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FF9928-EF90-2B33-102B-35F53AD2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78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F8FFA-2D94-F21E-4220-EB5BF32C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458E5-3E28-A6CD-0540-D54A6AB7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D0E45-E5DA-01F7-9002-245E4A741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69FFE9-4DEB-A05B-06D8-966D36973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01E8C7-CFED-115F-B43D-9D5495F29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29784-E343-B56A-9A40-54156030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01ECC4-AF50-1E02-2E3A-F030335C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1970BA-AAA0-6E8D-626D-470DCB3D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2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AB843-3EFB-A73F-3F11-1F950CDE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D388AB-B3C6-0B15-4441-88E1AB2A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82B8CB-33DC-E5C2-2843-D52F6329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CDE1E6-4D17-B87B-8DA0-DE12618B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643382-BC93-4A4B-A5D8-E014E3CDA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1495C0-B422-2FFF-4B66-6C75BBD6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C3A6E3-1011-AC53-8B16-995F1771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3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DE26C-AD75-B5B6-122E-449E7B67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6AD3D6-AC81-AE3B-1BF4-C2B694F9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AD67-947A-FBD6-DEC1-F9E754777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913D56-DCA3-1E26-8401-E4789755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D858F4-BD94-3788-75EE-86F5917C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93FFC-5367-3921-5F0E-DE2A2049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30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5D17E-C962-419F-6CB2-1ACCB20A7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7F4866-D8EC-59B6-2469-6EFB869AA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51D3A-0EB6-D5E4-BAC5-65F401F93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568017-B4C4-6E5D-AC89-1F4715AA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4AC29-534C-B2A0-3265-29F973E3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B1289-A1C9-03BF-C71E-3B01ECD4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41219-F7ED-0239-BE15-8B518372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D74B3B-2EA2-77E6-BC7A-EF87C7336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A58B41-0809-63EC-1C09-176E2434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6A076-1003-1D1A-F110-035A38C0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D095D-7588-3AA9-D264-CD657171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2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BB902B-06E1-388A-F7AC-94E3C68E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A6EBF-0175-074D-C2F4-4D6B19FB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EA5D1-50F8-9938-DC87-6F73C8B7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CC0DD5-9E99-A1A8-1B51-D70EFC7A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D4D55B-5BF4-88B2-42CE-3D3EFD65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87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66F1F1-BA6E-5967-D6DB-917D0B0C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D1D2B-4F1D-4D3D-15CA-52CFA0D00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7C7CA-3560-F8E5-C111-89513AE99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49678-43C8-418D-B4A1-45DEC8F20186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BD641-FF63-0838-78C7-0CF04EE65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C7F3F-6F01-3F52-D7D1-70FFE6C7A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57005-D781-4E83-835B-1629CDD99A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2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_760E43C.xml"/><Relationship Id="rId7" Type="http://schemas.openxmlformats.org/officeDocument/2006/relationships/hyperlink" Target="https://unipass.customs.go.kr/csp/index.do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ita.net/board/format/formatDetail.do?postIndex=1863914" TargetMode="External"/><Relationship Id="rId5" Type="http://schemas.openxmlformats.org/officeDocument/2006/relationships/hyperlink" Target="https://www.kita.net/board/format/formatDetail.do?postIndex=1863913" TargetMode="External"/><Relationship Id="rId4" Type="http://schemas.openxmlformats.org/officeDocument/2006/relationships/hyperlink" Target="https://www.kyungnam.ac.kr/bbs/kuit/314/46382/artclView.d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uipo.europa.eu/eSearch/" TargetMode="External"/><Relationship Id="rId5" Type="http://schemas.openxmlformats.org/officeDocument/2006/relationships/hyperlink" Target="https://www.tmdn.org/tmview/#/tmview" TargetMode="External"/><Relationship Id="rId4" Type="http://schemas.openxmlformats.org/officeDocument/2006/relationships/hyperlink" Target="https://euipo.europa.eu/ec2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ipo.int/en/web/madrid-syste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oip.int/en/entrepreneurs/trademarks/register-a-benelux-trademark#step-3" TargetMode="External"/><Relationship Id="rId5" Type="http://schemas.openxmlformats.org/officeDocument/2006/relationships/hyperlink" Target="https://www.boip.int/nl" TargetMode="External"/><Relationship Id="rId4" Type="http://schemas.openxmlformats.org/officeDocument/2006/relationships/hyperlink" Target="https://tmdn.org/#/member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E85BA94A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78BE6AEE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4F6B9CEC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ebgate.ec.europa.eu/cpnp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5718D4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DBB06A4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rade.ec.europa.eu/access-to-markets/en/content/customs-clearance-documents-and-procedures-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rade.ec.europa.eu/access-to-markets/en/hom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09DE6-98AB-F74A-6E1A-702F5B5FE769}"/>
              </a:ext>
            </a:extLst>
          </p:cNvPr>
          <p:cNvSpPr txBox="1"/>
          <p:nvPr/>
        </p:nvSpPr>
        <p:spPr>
          <a:xfrm>
            <a:off x="748029" y="3022573"/>
            <a:ext cx="5788354" cy="655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유럽연합</a:t>
            </a:r>
            <a:r>
              <a:rPr lang="en-US" altLang="ko-KR" sz="2800" b="1" dirty="0"/>
              <a:t>(EU)</a:t>
            </a:r>
            <a:r>
              <a:rPr lang="ko-KR" altLang="en-US" sz="2800" b="1" dirty="0"/>
              <a:t> 화장품 수출 절차</a:t>
            </a:r>
            <a:endParaRPr lang="en-US" altLang="ko-KR" sz="28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1EE082-5763-BBC2-27F9-E9FBDA49A81B}"/>
              </a:ext>
            </a:extLst>
          </p:cNvPr>
          <p:cNvCxnSpPr>
            <a:cxnSpLocks/>
          </p:cNvCxnSpPr>
          <p:nvPr/>
        </p:nvCxnSpPr>
        <p:spPr>
          <a:xfrm>
            <a:off x="831214" y="865238"/>
            <a:ext cx="1052957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9B2F4-242E-2147-7726-E9D9B62CCE4E}"/>
              </a:ext>
            </a:extLst>
          </p:cNvPr>
          <p:cNvCxnSpPr>
            <a:cxnSpLocks/>
          </p:cNvCxnSpPr>
          <p:nvPr/>
        </p:nvCxnSpPr>
        <p:spPr>
          <a:xfrm>
            <a:off x="831213" y="5963264"/>
            <a:ext cx="10529571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1ABB-E8A2-BD21-4336-E97A4BE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49C3A5-7AA7-9B5E-B751-030489B84823}"/>
              </a:ext>
            </a:extLst>
          </p:cNvPr>
          <p:cNvSpPr txBox="1"/>
          <p:nvPr/>
        </p:nvSpPr>
        <p:spPr>
          <a:xfrm>
            <a:off x="468066" y="528935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화장품 수출 규제 주요 절차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8A1BC55-FA01-208E-B587-8C0E3A916D07}"/>
              </a:ext>
            </a:extLst>
          </p:cNvPr>
          <p:cNvCxnSpPr>
            <a:stCxn id="37" idx="1"/>
            <a:endCxn id="41" idx="3"/>
          </p:cNvCxnSpPr>
          <p:nvPr/>
        </p:nvCxnSpPr>
        <p:spPr>
          <a:xfrm flipV="1">
            <a:off x="1258418" y="3168156"/>
            <a:ext cx="9639177" cy="8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림 36" descr="image.png">
            <a:extLst>
              <a:ext uri="{FF2B5EF4-FFF2-40B4-BE49-F238E27FC236}">
                <a16:creationId xmlns:a16="http://schemas.microsoft.com/office/drawing/2014/main" id="{A5F748CE-FCE5-787A-50C6-40574FD6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18" y="2838042"/>
            <a:ext cx="676275" cy="676275"/>
          </a:xfrm>
          <a:prstGeom prst="rect">
            <a:avLst/>
          </a:prstGeom>
        </p:spPr>
      </p:pic>
      <p:pic>
        <p:nvPicPr>
          <p:cNvPr id="38" name="그림 37" descr="image.png">
            <a:extLst>
              <a:ext uri="{FF2B5EF4-FFF2-40B4-BE49-F238E27FC236}">
                <a16:creationId xmlns:a16="http://schemas.microsoft.com/office/drawing/2014/main" id="{66838D78-559F-20F6-3B21-FF3DED67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660" y="2838040"/>
            <a:ext cx="676275" cy="676275"/>
          </a:xfrm>
          <a:prstGeom prst="rect">
            <a:avLst/>
          </a:prstGeom>
        </p:spPr>
      </p:pic>
      <p:pic>
        <p:nvPicPr>
          <p:cNvPr id="39" name="그림 38" descr="image.png">
            <a:extLst>
              <a:ext uri="{FF2B5EF4-FFF2-40B4-BE49-F238E27FC236}">
                <a16:creationId xmlns:a16="http://schemas.microsoft.com/office/drawing/2014/main" id="{D591AEA0-73E1-60B2-036A-562CA7D2C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880" y="2838040"/>
            <a:ext cx="676275" cy="676275"/>
          </a:xfrm>
          <a:prstGeom prst="rect">
            <a:avLst/>
          </a:prstGeom>
        </p:spPr>
      </p:pic>
      <p:pic>
        <p:nvPicPr>
          <p:cNvPr id="40" name="그림 39" descr="image.png">
            <a:extLst>
              <a:ext uri="{FF2B5EF4-FFF2-40B4-BE49-F238E27FC236}">
                <a16:creationId xmlns:a16="http://schemas.microsoft.com/office/drawing/2014/main" id="{9FADBA3E-A237-35A1-6768-D5B4291AE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100" y="2834029"/>
            <a:ext cx="676275" cy="676275"/>
          </a:xfrm>
          <a:prstGeom prst="rect">
            <a:avLst/>
          </a:prstGeom>
        </p:spPr>
      </p:pic>
      <p:pic>
        <p:nvPicPr>
          <p:cNvPr id="41" name="그림 40" descr="image.png">
            <a:extLst>
              <a:ext uri="{FF2B5EF4-FFF2-40B4-BE49-F238E27FC236}">
                <a16:creationId xmlns:a16="http://schemas.microsoft.com/office/drawing/2014/main" id="{352227FC-7602-A9AF-CC22-62DCDD7505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320" y="2830018"/>
            <a:ext cx="676275" cy="676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67CC1E-37F3-A106-AEFD-D22B48C1EAE0}"/>
              </a:ext>
            </a:extLst>
          </p:cNvPr>
          <p:cNvSpPr txBox="1"/>
          <p:nvPr/>
        </p:nvSpPr>
        <p:spPr>
          <a:xfrm>
            <a:off x="548905" y="3628652"/>
            <a:ext cx="2092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수출 계약 및 상표등록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400CC-1671-74B5-5700-358DB4E585E1}"/>
              </a:ext>
            </a:extLst>
          </p:cNvPr>
          <p:cNvSpPr txBox="1"/>
          <p:nvPr/>
        </p:nvSpPr>
        <p:spPr>
          <a:xfrm>
            <a:off x="2901056" y="3628652"/>
            <a:ext cx="1734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유럽 책임자</a:t>
            </a:r>
            <a:r>
              <a:rPr lang="en-US" altLang="ko-KR" sz="1400" b="1" dirty="0">
                <a:effectLst/>
                <a:latin typeface="+mn-ea"/>
              </a:rPr>
              <a:t>(</a:t>
            </a:r>
            <a:r>
              <a:rPr lang="en-US" altLang="ko-KR" sz="1400" b="1" dirty="0">
                <a:latin typeface="+mn-ea"/>
              </a:rPr>
              <a:t>RP)</a:t>
            </a:r>
          </a:p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선임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3214B-E490-8610-F77A-634B41326881}"/>
              </a:ext>
            </a:extLst>
          </p:cNvPr>
          <p:cNvSpPr txBox="1"/>
          <p:nvPr/>
        </p:nvSpPr>
        <p:spPr>
          <a:xfrm>
            <a:off x="5163761" y="3887549"/>
            <a:ext cx="1734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000" b="1" dirty="0">
                <a:effectLst/>
                <a:latin typeface="+mn-ea"/>
              </a:rPr>
              <a:t>PIF</a:t>
            </a:r>
            <a:r>
              <a:rPr lang="en-US" altLang="ko-KR" sz="1000" b="1" dirty="0">
                <a:latin typeface="+mn-ea"/>
              </a:rPr>
              <a:t> </a:t>
            </a:r>
            <a:r>
              <a:rPr lang="ko-KR" altLang="en-US" sz="1000" b="1" dirty="0">
                <a:effectLst/>
                <a:latin typeface="+mn-ea"/>
              </a:rPr>
              <a:t> 및 </a:t>
            </a:r>
            <a:r>
              <a:rPr lang="en-US" altLang="ko-KR" sz="1000" b="1" dirty="0">
                <a:effectLst/>
                <a:latin typeface="+mn-ea"/>
              </a:rPr>
              <a:t>CPSR </a:t>
            </a:r>
            <a:r>
              <a:rPr lang="ko-KR" altLang="en-US" sz="1000" b="1" dirty="0">
                <a:effectLst/>
                <a:latin typeface="+mn-ea"/>
              </a:rPr>
              <a:t>구축</a:t>
            </a:r>
            <a:br>
              <a:rPr lang="en-US" altLang="ko-KR" sz="1000" b="1" dirty="0">
                <a:effectLst/>
                <a:latin typeface="+mn-ea"/>
              </a:rPr>
            </a:br>
            <a:r>
              <a:rPr lang="en-US" altLang="ko-KR" sz="1000" b="1" dirty="0">
                <a:effectLst/>
                <a:latin typeface="+mn-ea"/>
              </a:rPr>
              <a:t>CPNP </a:t>
            </a:r>
            <a:r>
              <a:rPr lang="ko-KR" altLang="en-US" sz="1000" b="1" dirty="0">
                <a:latin typeface="+mn-ea"/>
              </a:rPr>
              <a:t>신고</a:t>
            </a:r>
            <a:endParaRPr lang="ko-KR" altLang="ko-KR" sz="1000" b="1" dirty="0">
              <a:effectLst/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6B9AD-DC73-AA8F-5ECE-2062B2BF2720}"/>
              </a:ext>
            </a:extLst>
          </p:cNvPr>
          <p:cNvSpPr txBox="1"/>
          <p:nvPr/>
        </p:nvSpPr>
        <p:spPr>
          <a:xfrm>
            <a:off x="7526648" y="3626293"/>
            <a:ext cx="153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통관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260E1-13D4-DFD9-9EA1-98B8B73B9702}"/>
              </a:ext>
            </a:extLst>
          </p:cNvPr>
          <p:cNvSpPr txBox="1"/>
          <p:nvPr/>
        </p:nvSpPr>
        <p:spPr>
          <a:xfrm>
            <a:off x="9916323" y="3626293"/>
            <a:ext cx="1286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latin typeface="+mn-ea"/>
              </a:rPr>
              <a:t>사후관리</a:t>
            </a:r>
            <a:endParaRPr lang="ko-KR" altLang="ko-KR" sz="1400" b="1" dirty="0">
              <a:effectLst/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9290E-2C34-9FFA-44B3-596D632E1F21}"/>
              </a:ext>
            </a:extLst>
          </p:cNvPr>
          <p:cNvSpPr txBox="1"/>
          <p:nvPr/>
        </p:nvSpPr>
        <p:spPr>
          <a:xfrm>
            <a:off x="5042925" y="3626294"/>
            <a:ext cx="1976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  <a:latin typeface="+mn-ea"/>
              </a:rPr>
              <a:t>제품 </a:t>
            </a:r>
            <a:r>
              <a:rPr lang="ko-KR" altLang="en-US" sz="1400" b="1" dirty="0">
                <a:latin typeface="+mn-ea"/>
              </a:rPr>
              <a:t>신고</a:t>
            </a:r>
            <a:r>
              <a:rPr lang="en-US" altLang="ko-KR" sz="1400" b="1" dirty="0">
                <a:latin typeface="+mn-ea"/>
              </a:rPr>
              <a:t>/ </a:t>
            </a:r>
            <a:r>
              <a:rPr lang="ko-KR" altLang="en-US" sz="1400" b="1" dirty="0">
                <a:latin typeface="+mn-ea"/>
              </a:rPr>
              <a:t>서류 구비</a:t>
            </a:r>
            <a:endParaRPr lang="ko-KR" altLang="ko-KR" sz="1400" b="1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686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3D00-F3B9-D4BD-6AB2-AE3A0A0F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7ACCAB-EA9D-689E-F8EF-E792755FD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917033"/>
              </p:ext>
            </p:extLst>
          </p:nvPr>
        </p:nvGraphicFramePr>
        <p:xfrm>
          <a:off x="325826" y="1343195"/>
          <a:ext cx="11178501" cy="51659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7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수출계약서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latinLnBrk="0"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제품을 대상국으로 수출입하기 위해서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수출업자와 수입업자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: Buyer)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간에 물품 거래를 체결하기 위한 국제 물품 매매 합의 문서이다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이는 거래의 조건을 명확히 하여 당사자들에게 권리와 의무를 부여해 무역 분쟁을 예방하는 서류이다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0"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수출대행계약서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(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수출대행이란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수출자가 필요 시 직접 수출을 진행하지 않고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해외 거래상대방과 수출계약을 체결하거나 신용장을 수취한 위탁자의 의뢰에 따라 수출대행자가 수출대행계약을 체결한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자기 명의로 수출을 수행하는 거래 형태를 말한다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위탁자가 직접 수출할 수 있는 자격을 갖추고 있더라도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특정 거래처나 특수한 상품에 대해 보다 전문적인 지식과 경험이 필요한 경우에는 수출대행자에게 수출업무를 위탁할 수 있다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수출대행의뢰인은 수출대행자가 자기 명의로 수출을 진행한다는 사실을 수입업자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(Buyer)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에게 사전에 통지하고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이에 대한 동의를 받아야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수출신고필증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(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관세법상 수출이란 내국물품을 외국으로 반출하는 것을 말하는 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물품을 수출하기 위해서는 세관에 수출신고를 하고 수리를 받아야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수출신고란 세관에 수출신고수리를 요청하는 통관의 의사표시를 말하며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수출을 하고자 하는 자는 전자문서로 작성된 신고 자료를 통관시스템에 전송하여야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이때 허가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승인 등의 증명 및 확인 요하는 물품은 수출신고수리 전에 해당 구비서류를 세관장에게 제출하여야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신고서를 접수한 세관장은 신고의 내용이 관세법상 적정한지의 여부를 판단한 후 수리를 하고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수출신고필증을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교부한다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수출신고가 수리된 물품은 원칙적으로 수리일로부터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이내에 운송수단에 적재 하여야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수출하려는 품목 가격이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만원 이하일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간이수출신고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2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수출계약서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정해진 별도 양식 없이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수입업자 양사 간의 계약 체결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계약서 예시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hlinkClick r:id="rId4"/>
                        </a:rPr>
                        <a:t>수출계약서 예시</a:t>
                      </a:r>
                      <a:endParaRPr lang="ko-KR" altLang="en-US" sz="1000" dirty="0">
                        <a:highlight>
                          <a:srgbClr val="FFFF00"/>
                        </a:highlight>
                      </a:endParaRP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수출대행계약서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정해진 별도 양식 없이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수출업자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위탁자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수출대행자 간 계약 체결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한국무역협회에서 계약서 기본 양식 제공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계약서 예시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5"/>
                        </a:rPr>
                        <a:t>수출대행계약서 예시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endParaRPr lang="en-US" altLang="ko-KR" sz="1000" b="1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수출신고필증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관세청 통관시스템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UNI-PASS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포털 상 전자 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(EDI)</a:t>
                      </a: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신고서 예시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6"/>
                        </a:rPr>
                        <a:t>수출신고서 양식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0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포털 링크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UNI-PASS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7"/>
                        </a:rPr>
                        <a:t>포털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0"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한국무역협회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(KITA)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무역상담센터 혹은 전문 기관을 통해 계약서 작성 및 검토에 대한 조언을 얻을 수 있다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0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①수출계약서 작성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(C/I))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②서류발급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제조공정도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③관세사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수출신고필증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포워딩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선적스케쥴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업체 선정 → ④적재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CAF0D4-4222-19FC-BA1C-0B5914008A31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D7A80-D28E-8F03-0FFF-9A1DA44624A3}"/>
              </a:ext>
            </a:extLst>
          </p:cNvPr>
          <p:cNvSpPr txBox="1"/>
          <p:nvPr/>
        </p:nvSpPr>
        <p:spPr>
          <a:xfrm>
            <a:off x="325826" y="896437"/>
            <a:ext cx="8721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latin typeface="+mn-ea"/>
              </a:rPr>
              <a:t>수출계약 및 </a:t>
            </a:r>
            <a:r>
              <a:rPr lang="ko-KR" altLang="en-US" sz="1400" b="1" dirty="0" err="1">
                <a:latin typeface="+mn-ea"/>
              </a:rPr>
              <a:t>신고필증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79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052588"/>
              </p:ext>
            </p:extLst>
          </p:nvPr>
        </p:nvGraphicFramePr>
        <p:xfrm>
          <a:off x="405898" y="1298360"/>
          <a:ext cx="11178501" cy="54571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454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단일 시장 체계를 바탕으로 유럽연합 지식재산청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(EUIPO)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상표 출원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전체에 효력을 가지는 유럽연합상표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(EUTM)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제도를 운영 중이다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등록 시 모든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 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유효한 상표권 취득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단위 무기한 갱신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선출원주의로 먼저 출원한 사람에게 상표권을 주는 제도를 채택 중이기에 먼저 출원하지 않을 경우 상표를 선점 당해 피해를 입을 수 있다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브렉시트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UKIPO(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별도의 전략이 요구된다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5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계약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내 상표 출원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5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관련 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유럽연합 지식재산청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(EUIPO, European Union Intellectual Property Office)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326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참고 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TMclass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통해 상표 보호 신청에 필요한 제품 서비스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및 분류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출원일을 받기 위해 상품 및 서비스 목록 포함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니스분류에 따라 분류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상품류는 대표 명칭에 따라 표기 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현재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 전체에 상표를 취득 가능하며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장래 가입국도 포함한다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유럽경제구역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(EEA)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밖에 법적 주소를 가지고 있다면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대리인 지정이 의무이므로 유럽연합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내의 주소를 가진 법인 또는 현지인으로 대리인을 지정해야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58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TMview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eSearch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 plus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통한 상표 예비 검색 ② 상표 출원 준비 ③ 상표 출원 신청 → ④상표 형식심사 ⑤ 상표 실질심사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(4~6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심사단계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TMview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모니터링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상표공고 및 선행 권리자들이 이의제기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상표등록 및 등록증 발급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129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주의사항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상표 출원 등록 요건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절대적 거절 이유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식별력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다른 기업의 상품, 서비스와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</a:rPr>
                        <a:t>구별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판매 제품의 내용 설명 포함 하는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불법성 배제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상표 출원 등록 요건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상대적 거절 이유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혼동가능성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명성이 있는 상품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출원 신청서 제출 후 상품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목록을 추가 및 변경이 불가능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선행상표와 혼동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충돌하는지 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혼동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충돌 시 리브랜딩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철수 비용 급증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buFontTx/>
                        <a:buChar char="-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 환불 불가</a:t>
                      </a:r>
                    </a:p>
                    <a:p>
                      <a:pPr marL="171450" indent="-171450" latinLnBrk="0">
                        <a:buFontTx/>
                        <a:buChar char="-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시 비용 및 시간 소요되므로 사전검색 및 조기출원 중요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이의신청이 접수될 경우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공고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상표 이의신청과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쿨링오프가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있어 분쟁 대비 필요하다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 latinLnBrk="0">
                        <a:buFontTx/>
                        <a:buChar char="-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냉각기간은 이의 제기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개월까지 연장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출원인이 문서를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EUIPO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제출한 날로부터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이내에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latin typeface="+mn-ea"/>
              </a:rPr>
              <a:t>상표등록 </a:t>
            </a:r>
            <a:r>
              <a:rPr lang="en-US" altLang="ko-KR" sz="1400" b="1" dirty="0">
                <a:latin typeface="+mn-ea"/>
              </a:rPr>
              <a:t>(EUIPO)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2299E-C3B0-F139-963A-0F63798B8450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05835"/>
              </p:ext>
            </p:extLst>
          </p:nvPr>
        </p:nvGraphicFramePr>
        <p:xfrm>
          <a:off x="405898" y="1298358"/>
          <a:ext cx="11178501" cy="51024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381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(International Registration)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 세계지식재산기구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(WIPO, World Intellectual Property Organization)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운영하는 국제 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제도를 통해 하나의 출원으로 출원 신청 시 지정한 국가에서 지식재산권 보호를 받을 수 있도록 하는 국제 등록 절차를 말한다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통해 출원인은 국가별로 개별 출원하는 부담을 줄이고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지정한 회원국에서 상표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디자인 등 지식재산권의 보호를 효율적으로 받을 수 있다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59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  <a:defRPr/>
                      </a:pPr>
                      <a:r>
                        <a:rPr lang="ko-KR" altLang="en-US" sz="1100" kern="1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국제 상표 출원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7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ko-KR" sz="1000" dirty="0" err="1"/>
                        <a:t>WIPO를</a:t>
                      </a:r>
                      <a:r>
                        <a:rPr lang="ko-KR" altLang="ko-KR" sz="1000" dirty="0"/>
                        <a:t> 통한 국제 등록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마드리드 의정서에 의한 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72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참고 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국제출원은 다수의 관할을 한 번에 상표 출원이 가능한 방식이다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단일한 언어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우리나라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출원서를 작성할 수 있고 출원 시 지정한 국가에 대한 상표 등록 및 관리가 용의하고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장기적인 비용 및 시간 절감 효과가 있지만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등록에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종속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(central attack)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리스크가 있어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기초가 취소되면 국제등록도 영향을 받는다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17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선등록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검색 ② 국내상표 출원 ③ 국내상표 기반 국제출원서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및 지식재산처 제출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한국 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(MOIP)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기초출원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국제출원 합치 여부 심사 ⑤ 합치시 도달일 기재된 국제출원서 및 국제출원비용 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국제사무국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WIPO)  ⑥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국제출원서의 방식심사 후 등록 및 국제공고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통지  ⑦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지정국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실체심사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(18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접수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국제공고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⑧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통지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066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주의사항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국제출원서의 포장 이미지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폰트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색상 등이 국내 상표와 동일하고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적용 범위는 국내상표권 범위보다 같거나 작아야 함</a:t>
                      </a:r>
                    </a:p>
                    <a:p>
                      <a:pPr marL="0" indent="0" latinLnBrk="0">
                        <a:buFont typeface="Arial"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지식재산처 ‘합치심사’ 에서 국내상표와 국제출원상표 일치 여부 판단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지식재산처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수수료와 별도로 국제사무국 수수료를 따로 납부</a:t>
                      </a:r>
                    </a:p>
                    <a:p>
                      <a:pPr marL="0" indent="0" latinLnBrk="0">
                        <a:buFont typeface="Arial"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* WIPO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마드리드 홈페이지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수수료자동계산기에서 확인</a:t>
                      </a:r>
                    </a:p>
                    <a:p>
                      <a:pPr marL="0" indent="0" latinLnBrk="0">
                        <a:buFont typeface="Arial"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ko-KR" sz="1000" dirty="0"/>
                        <a:t>출원 시 1부 수수료(First </a:t>
                      </a:r>
                      <a:r>
                        <a:rPr lang="ko-KR" altLang="ko-KR" sz="1000" dirty="0" err="1"/>
                        <a:t>part</a:t>
                      </a:r>
                      <a:r>
                        <a:rPr lang="ko-KR" altLang="ko-KR" sz="1000" dirty="0"/>
                        <a:t>)를 내고, 향후 </a:t>
                      </a:r>
                      <a:r>
                        <a:rPr lang="ko-KR" altLang="en-US" sz="1000" dirty="0"/>
                        <a:t>지식재산처</a:t>
                      </a:r>
                      <a:r>
                        <a:rPr lang="ko-KR" altLang="ko-KR" sz="1000" dirty="0"/>
                        <a:t> 심사를 통과하여 최종 등록될 때 2부 수수료(</a:t>
                      </a:r>
                      <a:r>
                        <a:rPr lang="ko-KR" altLang="ko-KR" sz="1000" dirty="0" err="1"/>
                        <a:t>Second</a:t>
                      </a:r>
                      <a:r>
                        <a:rPr lang="ko-KR" altLang="ko-KR" sz="1000" dirty="0"/>
                        <a:t> </a:t>
                      </a:r>
                      <a:r>
                        <a:rPr lang="ko-KR" altLang="ko-KR" sz="1000" dirty="0" err="1"/>
                        <a:t>part</a:t>
                      </a:r>
                      <a:r>
                        <a:rPr lang="ko-KR" altLang="ko-KR" sz="1000" dirty="0"/>
                        <a:t>)를 </a:t>
                      </a:r>
                      <a:r>
                        <a:rPr lang="ko-KR" altLang="ko-KR" sz="1000" dirty="0" err="1"/>
                        <a:t>WIPO를</a:t>
                      </a:r>
                      <a:r>
                        <a:rPr lang="ko-KR" altLang="ko-KR" sz="1000" dirty="0"/>
                        <a:t> 통해 추가 납부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 등록일로부터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내 국내 기초출원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효력이 소멸*하는 경우 국제 상표출원까지 효력 상실</a:t>
                      </a:r>
                    </a:p>
                    <a:p>
                      <a:pPr marL="0" indent="0" latinLnBrk="0">
                        <a:buFont typeface="Arial"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 본국관청의 기초 출원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소멸시켜 국제출원을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무효화시키는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‘집중공격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주의 필요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지식재산처의 국제출원서 접수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내에 국제사무국이 국제출원서를 접수할 때 한국 지식재산처 접수 시점에 국제등록이 된 것으로 간주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latin typeface="+mn-ea"/>
              </a:rPr>
              <a:t>상표등록 </a:t>
            </a:r>
            <a:r>
              <a:rPr lang="en-US" altLang="ko-KR" sz="1400" b="1" dirty="0">
                <a:latin typeface="+mn-ea"/>
              </a:rPr>
              <a:t>(WIPO)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5DECF-8C60-0D96-AFCD-96F4ACFDA487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98167"/>
              </p:ext>
            </p:extLst>
          </p:nvPr>
        </p:nvGraphicFramePr>
        <p:xfrm>
          <a:off x="405898" y="1298360"/>
          <a:ext cx="11178501" cy="53238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60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highlight>
                            <a:srgbClr val="C0C0C0"/>
                          </a:highlight>
                        </a:rPr>
                        <a:t>특정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 EU 회원국</a:t>
                      </a:r>
                      <a:r>
                        <a:rPr kumimoji="0" lang="en-US" altLang="ko-KR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내 상표 출원</a:t>
                      </a:r>
                      <a:endParaRPr lang="ko-KR" altLang="ko-KR" sz="1100" kern="10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800"/>
                        </a:spcAft>
                        <a:buNone/>
                        <a:defRPr/>
                      </a:pPr>
                      <a:endParaRPr lang="ko-KR" altLang="ko-KR" sz="1100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>
                        <a:spcAft>
                          <a:spcPts val="800"/>
                        </a:spcAft>
                        <a:buNone/>
                        <a:defRPr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유럽연합 회원국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ko-KR" sz="1000" dirty="0"/>
                        <a:t>벨기에, 네덜란드, 룩셈부르크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</a:rPr>
                        <a:t>의 상표청을 통한 국내 </a:t>
                      </a:r>
                      <a:r>
                        <a:rPr lang="ko-KR" sz="1000" kern="10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상표 출원</a:t>
                      </a:r>
                      <a:endParaRPr lang="ko-KR" sz="1000" kern="1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9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국가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베네룩스 지식재산청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(BOIP)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12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참고 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+mn-lt"/>
                          <a:ea typeface="+mn-ea"/>
                          <a:cs typeface="+mn-cs"/>
                        </a:rPr>
                        <a:t>특정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회원국에서만 보호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ko-KR" sz="1000" dirty="0"/>
                        <a:t>EU 회원 국에 현재 사업 기반이 있거나 진출 예정 국가에서만 보호를 원하는 경우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해당 국가 상표청의 직접 상표 출원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각국 상표청의 전체 목록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ko-KR" altLang="ko-KR" sz="1000" dirty="0"/>
                        <a:t>벨기에, 네덜란드, 룩셈부르크에서 보호를 원하는 경우 </a:t>
                      </a:r>
                      <a:r>
                        <a:rPr lang="ko-KR" altLang="ko-KR" sz="1000" dirty="0" err="1"/>
                        <a:t>EU에서</a:t>
                      </a:r>
                      <a:r>
                        <a:rPr lang="ko-KR" altLang="ko-KR" sz="1000" dirty="0"/>
                        <a:t> 유일한 지역 </a:t>
                      </a:r>
                      <a:r>
                        <a:rPr lang="ko-KR" altLang="ko-KR" sz="1000" dirty="0" err="1"/>
                        <a:t>지식재산청인</a:t>
                      </a:r>
                      <a:r>
                        <a:rPr lang="ko-KR" altLang="ko-KR" sz="1000" dirty="0"/>
                        <a:t> 베네룩스 지식재산청(BOIP)</a:t>
                      </a:r>
                      <a:r>
                        <a:rPr lang="ko-KR" altLang="ko-KR" sz="1000" dirty="0" err="1"/>
                        <a:t>에</a:t>
                      </a:r>
                      <a:r>
                        <a:rPr lang="ko-KR" altLang="ko-KR" sz="1000" dirty="0"/>
                        <a:t> 상표를 출원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BOIP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상표 출원 홈페이지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①각 국가의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상표청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확인 ②상표권 선행검색 ③진출 예정 국가의 상표법 절차에 따라 상표청에 상표출원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rgbClr val="467886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베네룩스 상표 등록 절</a:t>
                      </a:r>
                      <a:r>
                        <a:rPr lang="ko-KR" altLang="en-US" sz="1000" b="0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차</a:t>
                      </a:r>
                      <a:r>
                        <a:rPr lang="en-US" altLang="ko-KR" sz="1000" b="0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]</a:t>
                      </a:r>
                      <a:endParaRPr lang="en-US" altLang="ko-KR" sz="1000" b="0" i="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선등록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상표 검색 ②독창적인 상표 출원 ③제품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선택 ④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MyBOIP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통한 상표 출원서 접수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(BOIP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등록부로 확인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→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형식심사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실질심사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⑦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상표공고 및 선행 권리자들이 이의제기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⑧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등록부에 공식적으로 등재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주의사항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또는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특정 국가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에서만 사업을 진행하거나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EUTM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 시 특정 국가에서 상표가 거절될 위험을 피하고 싶을 때 사용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장점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국가의 지식재산청에 맞춘 빠른 심사나 거절 사유 해소 용이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마드리드 국제출원 시스템과 연계해 기초 출원으로 활용 용이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단점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여러 국가에 개별적으로 진행할 경우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EUTM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비용 부담 증가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Tx/>
                        <a:buNone/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상표권 선행검색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우선권 주장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정확한 니스 분류와 지정문구 최적화 후 상표 등록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서비스 선택 방법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1~34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 클래스는 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35~45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번에서는 서비스 관련 내용을 다룹니다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①제품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설명하는 용어 검색 ②제품에 맞는 용어 선택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Tmclass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이용해 미리 검색 가능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용어가 주황색으로 표시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유효성 검사를 거치지 않음 → 추천되는 용어 선택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용어가 빨간색으로 표시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용어의 유효성이 검증되지 않음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이의제기 신청이 될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의견서를 제출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제출된 의견서를 바탕으로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BOIP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결정을 내림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인용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 등록부에서 전부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일부가 삭제되고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상대에게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유로 지급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일부 인용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이의신청이 정당하다고 판단된 상품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제외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거부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상표가 등록되며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이의신청 당사자가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1045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유로 지급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상표출원서 신청 현황은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BOIP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상표 등록부에서 출원 번호를 입력하고 검색을 하면 찾아 볼 수 있다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solidFill>
                  <a:srgbClr val="0070C0"/>
                </a:solidFill>
                <a:latin typeface="+mn-ea"/>
              </a:rPr>
              <a:t>01. </a:t>
            </a:r>
            <a:r>
              <a:rPr lang="ko-KR" altLang="en-US" sz="2000" b="1">
                <a:solidFill>
                  <a:srgbClr val="0070C0"/>
                </a:solidFill>
                <a:latin typeface="+mn-ea"/>
              </a:rPr>
              <a:t>수출계약 및 상표등록</a:t>
            </a:r>
            <a:endParaRPr lang="en-US" altLang="ko-KR" sz="2000" b="1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latin typeface="+mn-ea"/>
              </a:rPr>
              <a:t>상표등록</a:t>
            </a:r>
            <a:endParaRPr lang="en-US" altLang="ko-KR" sz="1400" b="1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A494F-59D0-4B98-43FB-793AB264496C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A4E2-5739-691A-1A07-C73AF091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E0229-3686-5145-6220-2CDA9B3FE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04059"/>
              </p:ext>
            </p:extLst>
          </p:nvPr>
        </p:nvGraphicFramePr>
        <p:xfrm>
          <a:off x="325826" y="865735"/>
          <a:ext cx="11175294" cy="53944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908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098105">
                  <a:extLst>
                    <a:ext uri="{9D8B030D-6E8A-4147-A177-3AD203B41FA5}">
                      <a16:colId xmlns:a16="http://schemas.microsoft.com/office/drawing/2014/main" val="1944886688"/>
                    </a:ext>
                  </a:extLst>
                </a:gridCol>
                <a:gridCol w="4098105">
                  <a:extLst>
                    <a:ext uri="{9D8B030D-6E8A-4147-A177-3AD203B41FA5}">
                      <a16:colId xmlns:a16="http://schemas.microsoft.com/office/drawing/2014/main" val="183242969"/>
                    </a:ext>
                  </a:extLst>
                </a:gridCol>
              </a:tblGrid>
              <a:tr h="757313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대리인 역할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①제품의 안정성과 규정 준수 보장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②제품 정보 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(PIF)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 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년간 보관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③제품 신고 진행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신고서 제출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④규제 당국과의 협력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⑤시장 출시 후 리콜 및 시정 조치 총괄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⑥부작용 모니터링 협조 및 보고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⑦제품 라벨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Claims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마케팅 문구 검토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라벨에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967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대리인 자격 요건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유럽연합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내의 주소를 가진 법인 또는 현지인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①법률 대리인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(Legal practitioner):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유럽경제지역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(EEA)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내에 사업장을 두고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국가지식재산권 사무소에서 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자를 대리할 자격을 갖춘 전문가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②현지인 또는 법인 소속 직원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(Employee of a natural or legal person): EEA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거주지 또는 사업장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 시설이 있는 직원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③전문 대리인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(Professional representative): (</a:t>
                      </a:r>
                      <a:r>
                        <a:rPr lang="en-US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eSearch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plus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찾을 수 있는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EUIPO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이미 협력한 경력이 있는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EEA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거주하는 대리인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75731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선정 요령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체크포인트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현지 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법인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본사와의 의사소통이 원활하고 제품 정보 통제 가능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기술자료의 외부 유출 위험이 낮음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법인 유지비용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인력 운영비 발생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바이어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(Distributor)]</a:t>
                      </a: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비용 절감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유통 및 마케팅 업무와 연계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거래처 변경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문제 발생 가능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 및 영업기밀 노출 위험 존재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대행사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(Third-party RP)]</a:t>
                      </a: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규제 대응 경험 보유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제조기술 및 영업비밀 보호 용이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바이어 변경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부담이 적음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연간 유지관리 비용 및 제품 등록 관리 비용 발생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309011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수권 계약서</a:t>
                      </a:r>
                      <a:endParaRPr lang="ko-KR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정해진 별도 양식 없이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RP </a:t>
                      </a:r>
                      <a:r>
                        <a:rPr lang="ko-KR" altLang="en-US" sz="1000" dirty="0"/>
                        <a:t>주체가 발행한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계약서</a:t>
                      </a:r>
                      <a:endParaRPr lang="en-US" altLang="ko-KR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38151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주의사항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시 복잡한 절차와 많은 비용이 들기에 신중하게 선정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 불가능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 판매 불가능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통관 불가능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압류 및 벌금 처분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644737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400" b="1" dirty="0"/>
                        <a:t>필요서류</a:t>
                      </a:r>
                      <a:endParaRPr lang="en-US" altLang="ko-KR" sz="14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①서비스 범위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규제 대응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리콜 지원 등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②책임 범위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법적 책임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제조사의 의무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③비용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연간 기본 비용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제품당 비용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서비스 비용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④계약 기간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일반적으로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단위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 갱신 조항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⑤해지 조건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계약 해지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통지 기간 등</a:t>
                      </a: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⑥보험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책임 보험 가입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E64B2D-0C39-8191-E64A-B90F9F5F45F6}"/>
              </a:ext>
            </a:extLst>
          </p:cNvPr>
          <p:cNvSpPr txBox="1"/>
          <p:nvPr/>
        </p:nvSpPr>
        <p:spPr>
          <a:xfrm>
            <a:off x="325826" y="339047"/>
            <a:ext cx="87212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02.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유럽 책임자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(RP, Responsible Person)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선임</a:t>
            </a:r>
          </a:p>
          <a:p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16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BFD3-2EB4-A9E2-4835-909B2C0F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821329-EFE9-3CBB-3F58-BCADB87FB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740888"/>
              </p:ext>
            </p:extLst>
          </p:nvPr>
        </p:nvGraphicFramePr>
        <p:xfrm>
          <a:off x="405898" y="1341838"/>
          <a:ext cx="11178501" cy="47005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383218734"/>
                    </a:ext>
                  </a:extLst>
                </a:gridCol>
              </a:tblGrid>
              <a:tr h="6325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유럽은 사전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아닌 사후 시장 감시 체계이므로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시판 전 유럽 화장품 포털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(CPNP)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제품 정보를 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(Notification)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법적 규격에 부합하는 제품정보파일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(PIF)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소재지에 상시 비치해야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PIF (Product Information File,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정보 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화장품의 안전성과 품질을 입증하는 모든 자료를 체계적으로 정리한 파일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466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선정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구비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유럽연합 집행위원회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(EC, European Commission)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[PIF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포함 자료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 보고서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(Stability Test)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방부력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시험 보고서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(Challenge Test)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안전성 평가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 (Cosmetic Product Safety Report)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 공정도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(Manufacturing Process)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시험 성적서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(Safety Test Report)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제조 및 품질관리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(ISO 22716/Cosmetic GMP)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준수 증명서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포장적합성 성적서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(Compatibility Test)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동물실험 금지 규정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(Animal Testing Data)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준수 증명서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 입증 자료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(Efficacy Claims Substantiation)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 자료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(Raw Material Specifications)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363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PIF : 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선정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대상여부 확인 → 각종 선언서 작성 → 완제품 시험 진행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 취합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[PIF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제품 변경 사항을 반영하여 지속적으로 업데이트되어야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필요한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 변경 ②제조 공정 변경 ③포장 재료 변경 ④사용 조건 변경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대상 연령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부위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⑤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새로운 안전성 정보 확보 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Claims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⑦규제 요구사항 변경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 사항 변경 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재평가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업데이트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미보유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불완전한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제품 판매 금지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벌금 등의 제재 사유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696C8FF-8791-0ADE-DCCD-C2D2B0A9F9A9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신고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서류 구비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7EA55-23D6-D4E2-1EF9-09B5DE027E3A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PIF(</a:t>
            </a:r>
            <a:r>
              <a:rPr lang="ko-KR" altLang="en-US" sz="1400" b="1" dirty="0">
                <a:latin typeface="+mn-ea"/>
              </a:rPr>
              <a:t>제품정보파일</a:t>
            </a:r>
            <a:r>
              <a:rPr lang="en-US" altLang="ko-KR" sz="1400" b="1" dirty="0">
                <a:latin typeface="+mn-ea"/>
              </a:rPr>
              <a:t>)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8321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694B-0461-2389-FCC1-6C63B3E9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47777B-BC9D-AB44-C128-C2F8187B5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401612"/>
              </p:ext>
            </p:extLst>
          </p:nvPr>
        </p:nvGraphicFramePr>
        <p:xfrm>
          <a:off x="405898" y="1250398"/>
          <a:ext cx="11430501" cy="5089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579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910461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910461">
                  <a:extLst>
                    <a:ext uri="{9D8B030D-6E8A-4147-A177-3AD203B41FA5}">
                      <a16:colId xmlns:a16="http://schemas.microsoft.com/office/drawing/2014/main" val="2383218734"/>
                    </a:ext>
                  </a:extLst>
                </a:gridCol>
              </a:tblGrid>
              <a:tr h="6623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CPSR(Cosmetic Product Safety Report,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안전성평가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화장품이 인체 건강에 안전한지 증명하고 소비자 건강을 보호하기 위한 공식적인 전문가 평가 문서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분야 박사학위 이상의 전문 평가사가 작성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안전성평가보고서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(CPSR)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해당 제품의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보관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121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선정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구비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226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유럽연합 집행위원회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(EC, European Commission)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[CPSR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포함 자료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핵심 요소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(Annex 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의거 기재 필수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Part A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화학적 특성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미생물 품질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원료 순도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 용기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용출물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노출도 및 독성 평가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Part B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유관 자격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학위 기준 의사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독성학자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갖춘 안전성 평가사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(Safety Assessor)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정식 서명 및 유효성 결론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CGMP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(ISO22716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대체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소개서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사용방법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QQC 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함량 순으로 정리된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사용 원료들의 영문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MSDS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MSDS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안정성 테스트 자료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(Stability Test Report)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미생물 실험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(Microbial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중금속 실험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(Heavy metal / Purity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알레르겐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실험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(Allergen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보존력 실험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(Challenge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패치테스트 결과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(Patch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향료 관련 서류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(IFRA,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향료의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MSDS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 &amp;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알레르겐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리스트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각종 선언문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용기의 적합성 보고서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(Compatibility Test Report)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용기 재질 증빙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정제수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관리 보고서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공정도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(Manufacturing Flow Chart)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CPSR 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안전성 테스트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최소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→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독성학적 데이터 수집 → 사용 시나리오 분석 → 안전성 평가 결론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[CPSR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Part A&amp;B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오류 시 규제 준수에 치명적이므로 전문가의 검토가 필수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2AE3DDE-AF18-4E06-F645-92FC9C1F0CD2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신고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서류 구비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19540-83E1-1EA0-BEAC-B34EC290AAB2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CPSR </a:t>
            </a:r>
            <a:r>
              <a:rPr lang="ko-KR" altLang="en-US" sz="1400" b="1" dirty="0">
                <a:latin typeface="+mn-ea"/>
              </a:rPr>
              <a:t>구축</a:t>
            </a:r>
            <a:r>
              <a:rPr lang="en-US" altLang="ko-KR" sz="1400" b="1" dirty="0">
                <a:latin typeface="+mn-ea"/>
              </a:rPr>
              <a:t> 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57451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80E5-556C-8B70-538A-CA0C31B3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4F965B-56D8-667F-C908-081081C14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154848"/>
              </p:ext>
            </p:extLst>
          </p:nvPr>
        </p:nvGraphicFramePr>
        <p:xfrm>
          <a:off x="405898" y="1341838"/>
          <a:ext cx="11178502" cy="52856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4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21158212"/>
                    </a:ext>
                  </a:extLst>
                </a:gridCol>
              </a:tblGrid>
              <a:tr h="8065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 화장품이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시장에 판매되기 위해서는 반드시 수출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신고가 선행되어야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CPNP(Cosmetic Products Notification Portal) : 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화장품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신고포털로서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유럽 시장에 출시될 제품을 미리 신고하는 것으로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한번 신고하면 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 통관이 가능하다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계정은 유럽 내 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자연인 혹은 법인만 소유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426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0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선정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CPSR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→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4054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유럽연합 집행위원회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(EC, European Commission)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  <a:hlinkClick r:id="rId4"/>
                        </a:rPr>
                        <a:t>CPNP (Cosmetic Products Notification Portal)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253255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[CPNP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 입력사항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제품정보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Shade)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식별 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보유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(single formula)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원산국명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최초 수출 국가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CMR(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발암성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변이성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생식 독성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나노물질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포함 여부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카테고리 및 제형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특수용기 여부 	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Responsible person (RP),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상세정보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포장 전개도면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실물 사진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필요 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18841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 가이드라인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98715868"/>
                  </a:ext>
                </a:extLst>
              </a:tr>
              <a:tr h="654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①제품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성분표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검토 및 수정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②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제품의 안전성 입증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③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안전성 보고서 작성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(CPSR) ④CPSR,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제품품질관리기준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(GMP),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제품효능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입증 정보 등 제품정보파일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(PIF)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⑤제품 라벨 평가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 및 제품 정보 승인 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CPSR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포함된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CPNP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등록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084150F-F441-384F-4A83-31E6C5766D38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신고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서류 구비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2069E-0D68-E0BA-B890-AA73A83DEE6F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CPNP </a:t>
            </a:r>
            <a:r>
              <a:rPr lang="ko-KR" altLang="en-US" sz="1400" b="1" dirty="0">
                <a:latin typeface="+mn-ea"/>
              </a:rPr>
              <a:t>신고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65B75-2623-BCF9-BB0D-96456BA7B92B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324525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F0FB9-9FCC-0966-6163-A2FCCB5D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5DF703-7356-5A02-3CED-F1AFE99CB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4004"/>
              </p:ext>
            </p:extLst>
          </p:nvPr>
        </p:nvGraphicFramePr>
        <p:xfrm>
          <a:off x="405898" y="1341837"/>
          <a:ext cx="11178502" cy="3948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4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32488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[Claim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클레임은 제품의 효능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효과를 표시하거나 광고하는 것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제품이 미백이나 주름개선 효능이 있다고 주장한다면 해당 클레임을 뒷받침할 근거 자료를 서면으로 제출해야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.(Regulation (EU) No.655/2013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 충족 필요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[Labeling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규정 주의사항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아래와 같은 필수표기사항 누락 주의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 Cosmetic Labeling Guide – EC 1223/2009)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제품명 및 기능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전성분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(INCI)&amp;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알러젠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(80+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(Leave-on: 0.001%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Rinse-off: 0.01%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사용기한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Best used before the end of~ / 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초과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PAO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제조번호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사용시 주의사항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내용량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책임자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(RP)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 주의사항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제품과 직접 접촉하는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포장재는 제품의 안전성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불순물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용출 가능성 등에 영향을 줄 수 있어 확인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98081F8-2E2A-4EB1-2577-40C7B55FB3AD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03.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제품 신고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서류 구비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764C0-1158-3970-2E30-90B6B764DEFE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CPNP </a:t>
            </a:r>
            <a:r>
              <a:rPr lang="ko-KR" altLang="en-US" sz="1400" b="1" dirty="0">
                <a:latin typeface="+mn-ea"/>
              </a:rPr>
              <a:t>신고</a:t>
            </a:r>
          </a:p>
        </p:txBody>
      </p:sp>
    </p:spTree>
    <p:extLst>
      <p:ext uri="{BB962C8B-B14F-4D97-AF65-F5344CB8AC3E}">
        <p14:creationId xmlns:p14="http://schemas.microsoft.com/office/powerpoint/2010/main" val="913278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8809-BBE4-B39F-69EE-693605B7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D66C516-298C-15A5-0ECB-F2BE8032B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86986"/>
              </p:ext>
            </p:extLst>
          </p:nvPr>
        </p:nvGraphicFramePr>
        <p:xfrm>
          <a:off x="325826" y="1194386"/>
          <a:ext cx="11178502" cy="60489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4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1198474105"/>
                    </a:ext>
                  </a:extLst>
                </a:gridCol>
              </a:tblGrid>
              <a:tr h="126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관련 법령에 따라 국내 물품을 외국으로 반출하기 위해 세관에 수출신고 후 수리를 받아 국제 외국무역선에 적재하는 행정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한국에서 수출신고와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첫 도착 국가에서 수입통관을 마치면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 회원국 내에서 자유롭게 이동이 가능하다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단일 관세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Cosmetic Directive 76/768/EEC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EEC(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경제 공동체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회원국은 화장품의 자유로운 수출입과 소비자 보호를 달성하기 위해 각국의 화장품 규정을 조화하였다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수출신고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수출품에 대하여 세관에 수출 신고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수출선적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 수리일로부터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이내에 선박 또는 항공기에 수출품을 적재하고 해상운송의 경우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선하증권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항공운송의 경우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항공화물운송장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395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관세사 대행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(EORI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번호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VAT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지역본부세관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공동체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(EC, European Community)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 시 제출 서류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신고서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송장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(invoice)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포장명세서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기타 수출통관에 필요한 서류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참고자료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성분분석표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(CoA)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제조증명서 및 자유판매증명서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(CFS)</a:t>
                      </a: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수출계약 체결 → 수출 서류 준비 → 수출 신고 → 선적 및 운송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 관세청에 수출 신고 시 국제통일 상품분류체계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(HS CODE)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기준으로 물품 분류 및 관세를 사전심사하고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 신고번호가 부여되며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신고필증이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발급된다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수출 통관 서류는 도착지 국가의 언어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우리나라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작성되어 있어야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수출신고는 물품 소재지 관할세관에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수출신고 수리 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이내 적재를 완료해야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이내 연장 가능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1D0107A-4DFC-CDE2-6C7C-E46A3F525AE0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04.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수출통관</a:t>
            </a:r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선적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043DA-8F9D-9531-68E6-B078A22834FB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수출통관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857718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7787-3BFD-0C88-264B-1E574883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0B3FAE-9F40-072C-8600-51C772462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47022"/>
              </p:ext>
            </p:extLst>
          </p:nvPr>
        </p:nvGraphicFramePr>
        <p:xfrm>
          <a:off x="405898" y="1341838"/>
          <a:ext cx="11178501" cy="4819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  <a:gridCol w="4802204">
                  <a:extLst>
                    <a:ext uri="{9D8B030D-6E8A-4147-A177-3AD203B41FA5}">
                      <a16:colId xmlns:a16="http://schemas.microsoft.com/office/drawing/2014/main" val="2523587532"/>
                    </a:ext>
                  </a:extLst>
                </a:gridCol>
              </a:tblGrid>
              <a:tr h="2939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설명 또는 정의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현지통관은 수입신고를 받은 세관 당국이 신고사항을 확인하고 일정한 요건을 갖추었을 때 수입을 허용하여 외국물품을 자국에 판매할 수 있는 통관 절차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Cosmetic Directive 76/768/EEC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EEC(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경제 공동체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회원국은 화장품의 자유로운 수출입과 소비자 보호를 달성하기 위해 각국의 화장품 규정을 조화하였다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518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방식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 지역에 들어가는 물품은 아래 절차 중 하나를 선택하여 수입신고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①일반적인 소비물품 수입통관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②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환적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③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보세 창고 보관 ④일시적 수입 ⑤재수출 가공  ⑥세관 관리 가공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0462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기관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회원국 세관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(Customs Authority)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 공동체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(EC, European Community)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85727"/>
                  </a:ext>
                </a:extLst>
              </a:tr>
              <a:tr h="61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참고 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필요서류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 시 기본 서류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가격신고서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물품 가액이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 EUR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이상인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선하증권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항공화물운송장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산업송장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(Invoice)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포장명세서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(Packing List)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화물명세서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 화장품 기업</a:t>
                      </a:r>
                      <a:r>
                        <a:rPr lang="ko-KR" alt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책임 승낙서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특수 화장품 행정허가증 또는 일반화장품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등록증빙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원산지증명서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[EU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세관 통관에 필요한 서류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]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수출자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정보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발행일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송장번호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측정 단위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운송 수단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물품 설명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규격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품목별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총금액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송장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총금액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결제 통화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결제 조건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결제 방법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할인 조건 등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Incoterms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인도 조건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(Terms of Delivery)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[EU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수입통관 필요 서류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EORI(Economic Operator Registration and Identification,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상업운영자 등록 식별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 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입항 적하목록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(ENS, Entry Summary Declaration) 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(SAD, Single Administrative Document)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12783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AF0A1F-BBD2-A46D-C6B7-00EE0C75B24F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CBDA9-406D-CF19-4755-C9F6D32D226B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4DDED-4DBC-2E4E-FD1C-12B11935BECE}"/>
              </a:ext>
            </a:extLst>
          </p:cNvPr>
          <p:cNvSpPr txBox="1"/>
          <p:nvPr/>
        </p:nvSpPr>
        <p:spPr>
          <a:xfrm>
            <a:off x="0" y="6596390"/>
            <a:ext cx="1634308" cy="261610"/>
          </a:xfrm>
          <a:prstGeom prst="rect">
            <a:avLst/>
          </a:prstGeom>
          <a:solidFill>
            <a:srgbClr val="FFFF00"/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다음 페이지에 이어서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7205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E59D-2EC8-580A-54F0-896E05A5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3680017-532B-F30F-00A1-79EED46A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68157"/>
              </p:ext>
            </p:extLst>
          </p:nvPr>
        </p:nvGraphicFramePr>
        <p:xfrm>
          <a:off x="405898" y="1301198"/>
          <a:ext cx="11178501" cy="4954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093">
                  <a:extLst>
                    <a:ext uri="{9D8B030D-6E8A-4147-A177-3AD203B41FA5}">
                      <a16:colId xmlns:a16="http://schemas.microsoft.com/office/drawing/2014/main" val="3376188853"/>
                    </a:ext>
                  </a:extLst>
                </a:gridCol>
                <a:gridCol w="9604408">
                  <a:extLst>
                    <a:ext uri="{9D8B030D-6E8A-4147-A177-3AD203B41FA5}">
                      <a16:colId xmlns:a16="http://schemas.microsoft.com/office/drawing/2014/main" val="4224328845"/>
                    </a:ext>
                  </a:extLst>
                </a:gridCol>
              </a:tblGrid>
              <a:tr h="481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[EU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수입통관 절차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①EORI(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상업운영자 등록 식별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 발급 ②입항 적하목록 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(ENS) ③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물품반입 ④하역 및 검사 ⑤세관 보세구역에 물품 반입  ⑥임시 장치기간 ⑦세관에 물품 제시  ⑧수입신고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수입신고서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SAD) ⑨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부가가치세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(VAT),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(excise))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납부 및 물품 반출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222730"/>
                  </a:ext>
                </a:extLst>
              </a:tr>
              <a:tr h="5261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주의사항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또는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확인사항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EORI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상업운영자 등록 식별번호 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회원국들과의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수출입을 진행하기 위해 기업에게 필요한 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세관 식별 번호 역할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무역할동 추적 및 모니터링을 가능하게 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세관 당국에 등록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EORI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번호 발급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입항 적하목록 신고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도착한 첫 번째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국가에서 도착 항구에 관할 세관에 입항 적하목록 제출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제출 내용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화물정보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물품명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HS Code,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컨테이너 번호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운송인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송하인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수하인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 인적정보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제출시기는 운송 수단에 따라 달라지며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원칙적으로는 신고 제출 의무자는 운송인이지만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수입자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수취인이 대신 신고가 가능하다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 latinLnBrk="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적하목록 사전 검토를 통한 우범화물 선별 및 보안강화 목적으로 시행되므로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미신고시 과태료가 부과된다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불공정한 수입에 대한 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조치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덤핑되거나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보조금을 받은 수입품으로 인해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산업이 피해를 입는 경우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반덤핑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상계관세 또는 세이프가드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긴급수입제한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조치와 같은 무역구제 조치를 시행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[EU </a:t>
                      </a: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화장품 통관 거부 및 사후 적발 사례</a:t>
                      </a:r>
                      <a:r>
                        <a:rPr lang="en-US" altLang="ko-KR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CPNP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미등록 및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RP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부재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(CPNP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등록번호 없음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책임자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미지정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서류 불일치시 즉시 반송 또는 폐기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PIF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미비 및 안전성 입증 불가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(PIF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자료 요청 시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미제출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CPSR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누락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서명 없음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동물실험 자료 사용시 공공 경보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회수하거나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전역 판매 중지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라벨링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금지 성분 위반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현지어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번역 누락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제한 원료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(ex.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나노물질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PAO/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사용기한 오류일 경우 판매 중지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시정명령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벌금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Access2Markets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수입되는 제품 조치 제공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관세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원산지규정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수입절차 및 형식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요구사항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무역 흐름 통계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수입품의 가치가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유로를 초과하는 경우 세관 당국에 관세가치신고서 제출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7762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F63FF21-E4CC-B0A9-6CFC-CD6311F3C884}"/>
              </a:ext>
            </a:extLst>
          </p:cNvPr>
          <p:cNvSpPr txBox="1"/>
          <p:nvPr/>
        </p:nvSpPr>
        <p:spPr>
          <a:xfrm>
            <a:off x="325826" y="339047"/>
            <a:ext cx="8721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latin typeface="+mn-ea"/>
              </a:rPr>
              <a:t>05. </a:t>
            </a:r>
            <a:r>
              <a:rPr lang="ko-KR" altLang="en-US" sz="2000" b="1" dirty="0">
                <a:solidFill>
                  <a:srgbClr val="0070C0"/>
                </a:solidFill>
                <a:latin typeface="+mn-ea"/>
              </a:rPr>
              <a:t>현지통관</a:t>
            </a:r>
            <a:endParaRPr lang="en-US" altLang="ko-KR" sz="2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385BE-FAB6-B335-9A04-25319F535FBD}"/>
              </a:ext>
            </a:extLst>
          </p:cNvPr>
          <p:cNvSpPr txBox="1"/>
          <p:nvPr/>
        </p:nvSpPr>
        <p:spPr>
          <a:xfrm>
            <a:off x="325826" y="886609"/>
            <a:ext cx="8721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현지통관</a:t>
            </a:r>
            <a:endParaRPr lang="en-US" altLang="ko-KR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807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3848</Words>
  <Application>Microsoft Office PowerPoint</Application>
  <PresentationFormat>와이드스크린</PresentationFormat>
  <Paragraphs>415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은정 김</dc:creator>
  <cp:lastModifiedBy>관리자 대한화장품협회</cp:lastModifiedBy>
  <cp:revision>125</cp:revision>
  <dcterms:created xsi:type="dcterms:W3CDTF">2026-06-17T04:37:34Z</dcterms:created>
  <dcterms:modified xsi:type="dcterms:W3CDTF">2026-10-23T04:37:35Z</dcterms:modified>
  <cp:version/>
</cp:coreProperties>
</file>