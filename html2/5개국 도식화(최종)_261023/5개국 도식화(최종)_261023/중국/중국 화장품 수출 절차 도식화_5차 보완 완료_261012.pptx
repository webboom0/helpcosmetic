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06_0.xml" ContentType="application/vnd.ms-powerpoint.comments+xml"/>
  <Override PartName="/ppt/notesSlides/notesSlide11.xml" ContentType="application/vnd.openxmlformats-officedocument.presentationml.notesSlide+xml"/>
  <Override PartName="/ppt/comments/modernComment_10E_6CB7AFF9.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8_0.xml" ContentType="application/vnd.ms-powerpoint.comments+xml"/>
  <Override PartName="/ppt/notesSlides/notesSlide14.xml" ContentType="application/vnd.openxmlformats-officedocument.presentationml.notesSlide+xml"/>
  <Override PartName="/ppt/comments/modernComment_10A_7954FFFB.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7" r:id="rId7"/>
    <p:sldId id="261" r:id="rId8"/>
    <p:sldId id="268" r:id="rId9"/>
    <p:sldId id="269" r:id="rId10"/>
    <p:sldId id="262" r:id="rId11"/>
    <p:sldId id="270" r:id="rId12"/>
    <p:sldId id="263" r:id="rId13"/>
    <p:sldId id="264" r:id="rId14"/>
    <p:sldId id="266" r:id="rId15"/>
    <p:sldId id="271" r:id="rId16"/>
    <p:sldId id="272"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h3Ilnjo6cIDn0b+Ftjcw3CxTqgE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A6591C-037C-80BB-C6B4-608BD056B04D}" name="병주 지" initials="병지" userId="fd91930182ed687b" providerId="Windows Live"/>
  <p188:author id="{0A894E26-C7D1-BA6A-00B6-2540C16AE08A}" name="관리자 대한화장품협회" initials="관대" userId="5afd10ffc425ac2a" providerId="Windows Live"/>
  <p188:author id="{A1F4ACA4-32C5-3A05-D2BC-2194DD035544}" name="윈게이트코리아 2" initials="2윈" userId="S::wynngatekr@wynngatekorea.onmicrosoft.com::4fb62243-b349-4c92-b34d-bb23574c9f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ujeong lee" initials="" lastIdx="1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13362D-6694-4D50-88DF-94B7359170E3}" v="1" dt="2026-10-12T10:32:50.983"/>
  </p1510:revLst>
</p1510:revInfo>
</file>

<file path=ppt/tableStyles.xml><?xml version="1.0" encoding="utf-8"?>
<a:tblStyleLst xmlns:a="http://schemas.openxmlformats.org/drawingml/2006/main" def="{FDF456CB-F135-4C2A-B49E-3954C3F3A06D}">
  <a:tblStyle styleId="{FDF456CB-F135-4C2A-B49E-3954C3F3A06D}" styleName="Table_0">
    <a:wholeTbl>
      <a:tcTxStyle b="off" i="off">
        <a:font>
          <a:latin typeface="맑은 고딕"/>
          <a:ea typeface="맑은 고딕"/>
          <a:cs typeface="맑은 고딕"/>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3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병주 지" userId="fd91930182ed687b" providerId="LiveId" clId="{90579EAE-A0A6-4CBD-9891-FDF922ABC52A}"/>
    <pc:docChg chg="custSel addSld delSld modSld">
      <pc:chgData name="병주 지" userId="fd91930182ed687b" providerId="LiveId" clId="{90579EAE-A0A6-4CBD-9891-FDF922ABC52A}" dt="2026-10-12T11:06:21.067" v="155" actId="20577"/>
      <pc:docMkLst>
        <pc:docMk/>
      </pc:docMkLst>
      <pc:sldChg chg="modSp mod modCm">
        <pc:chgData name="병주 지" userId="fd91930182ed687b" providerId="LiveId" clId="{90579EAE-A0A6-4CBD-9891-FDF922ABC52A}" dt="2026-10-12T11:06:21.067" v="155" actId="20577"/>
        <pc:sldMkLst>
          <pc:docMk/>
          <pc:sldMk cId="0" sldId="262"/>
        </pc:sldMkLst>
        <pc:graphicFrameChg chg="mod modGraphic">
          <ac:chgData name="병주 지" userId="fd91930182ed687b" providerId="LiveId" clId="{90579EAE-A0A6-4CBD-9891-FDF922ABC52A}" dt="2026-10-12T11:06:21.067" v="155" actId="20577"/>
          <ac:graphicFrameMkLst>
            <pc:docMk/>
            <pc:sldMk cId="0" sldId="262"/>
            <ac:graphicFrameMk id="148" creationId="{00000000-0000-0000-0000-000000000000}"/>
          </ac:graphicFrameMkLst>
        </pc:graphicFrameChg>
        <pc:extLst>
          <p:ext xmlns:p="http://schemas.openxmlformats.org/presentationml/2006/main" uri="{D6D511B9-2390-475A-947B-AFAB55BFBCF1}">
            <pc226:cmChg xmlns:pc226="http://schemas.microsoft.com/office/powerpoint/2022/06/main/command" chg="mod">
              <pc226:chgData name="병주 지" userId="fd91930182ed687b" providerId="LiveId" clId="{90579EAE-A0A6-4CBD-9891-FDF922ABC52A}" dt="2026-10-12T10:25:39.393" v="97" actId="20577"/>
              <pc2:cmMkLst xmlns:pc2="http://schemas.microsoft.com/office/powerpoint/2019/9/main/command">
                <pc:docMk/>
                <pc:sldMk cId="0" sldId="262"/>
                <pc2:cmMk id="{F4296F83-180D-44CD-B132-72BEA05530A8}"/>
              </pc2:cmMkLst>
            </pc226:cmChg>
            <pc226:cmChg xmlns:pc226="http://schemas.microsoft.com/office/powerpoint/2022/06/main/command" chg="mod">
              <pc226:chgData name="병주 지" userId="fd91930182ed687b" providerId="LiveId" clId="{90579EAE-A0A6-4CBD-9891-FDF922ABC52A}" dt="2026-10-12T11:06:13.351" v="136" actId="20577"/>
              <pc2:cmMkLst xmlns:pc2="http://schemas.microsoft.com/office/powerpoint/2019/9/main/command">
                <pc:docMk/>
                <pc:sldMk cId="0" sldId="262"/>
                <pc2:cmMk id="{63D1C6B0-69B2-434C-B41D-C4D1353457E4}"/>
              </pc2:cmMkLst>
            </pc226:cmChg>
            <pc226:cmChg xmlns:pc226="http://schemas.microsoft.com/office/powerpoint/2022/06/main/command" chg="mod">
              <pc226:chgData name="병주 지" userId="fd91930182ed687b" providerId="LiveId" clId="{90579EAE-A0A6-4CBD-9891-FDF922ABC52A}" dt="2026-10-12T11:06:13.351" v="136" actId="20577"/>
              <pc2:cmMkLst xmlns:pc2="http://schemas.microsoft.com/office/powerpoint/2019/9/main/command">
                <pc:docMk/>
                <pc:sldMk cId="0" sldId="262"/>
                <pc2:cmMk id="{EBA42DB3-7F0C-4D42-B94E-07F0508399A3}"/>
              </pc2:cmMkLst>
            </pc226:cmChg>
            <pc226:cmChg xmlns:pc226="http://schemas.microsoft.com/office/powerpoint/2022/06/main/command" chg="mod">
              <pc226:chgData name="병주 지" userId="fd91930182ed687b" providerId="LiveId" clId="{90579EAE-A0A6-4CBD-9891-FDF922ABC52A}" dt="2026-10-12T11:06:21.067" v="155" actId="20577"/>
              <pc2:cmMkLst xmlns:pc2="http://schemas.microsoft.com/office/powerpoint/2019/9/main/command">
                <pc:docMk/>
                <pc:sldMk cId="0" sldId="262"/>
                <pc2:cmMk id="{6D9AA1BF-3956-4C53-BC6A-FD9A2CE1CFA8}"/>
              </pc2:cmMkLst>
            </pc226:cmChg>
            <pc226:cmChg xmlns:pc226="http://schemas.microsoft.com/office/powerpoint/2022/06/main/command" chg="mod">
              <pc226:chgData name="병주 지" userId="fd91930182ed687b" providerId="LiveId" clId="{90579EAE-A0A6-4CBD-9891-FDF922ABC52A}" dt="2026-10-12T10:25:39.393" v="97" actId="20577"/>
              <pc2:cmMkLst xmlns:pc2="http://schemas.microsoft.com/office/powerpoint/2019/9/main/command">
                <pc:docMk/>
                <pc:sldMk cId="0" sldId="262"/>
                <pc2:cmMk id="{52E6BAEF-0528-4C64-9B4B-C5D517CACBED}"/>
              </pc2:cmMkLst>
            </pc226:cmChg>
            <pc226:cmChg xmlns:pc226="http://schemas.microsoft.com/office/powerpoint/2022/06/main/command" chg="mod">
              <pc226:chgData name="병주 지" userId="fd91930182ed687b" providerId="LiveId" clId="{90579EAE-A0A6-4CBD-9891-FDF922ABC52A}" dt="2026-10-12T11:06:21.067" v="155" actId="20577"/>
              <pc2:cmMkLst xmlns:pc2="http://schemas.microsoft.com/office/powerpoint/2019/9/main/command">
                <pc:docMk/>
                <pc:sldMk cId="0" sldId="262"/>
                <pc2:cmMk id="{775867F9-132E-493B-9436-1A1DE53A5FAE}"/>
              </pc2:cmMkLst>
            </pc226:cmChg>
            <pc226:cmChg xmlns:pc226="http://schemas.microsoft.com/office/powerpoint/2022/06/main/command" chg="mod">
              <pc226:chgData name="병주 지" userId="fd91930182ed687b" providerId="LiveId" clId="{90579EAE-A0A6-4CBD-9891-FDF922ABC52A}" dt="2026-10-12T10:25:39.393" v="97" actId="20577"/>
              <pc2:cmMkLst xmlns:pc2="http://schemas.microsoft.com/office/powerpoint/2019/9/main/command">
                <pc:docMk/>
                <pc:sldMk cId="0" sldId="262"/>
                <pc2:cmMk id="{082A01FC-9AF1-461F-9E4B-1BF8177373D0}"/>
              </pc2:cmMkLst>
            </pc226:cmChg>
          </p:ext>
        </pc:extLst>
      </pc:sldChg>
    </pc:docChg>
  </pc:docChgLst>
</pc:chgInfo>
</file>

<file path=ppt/comments/modernComment_10A_7954FFFB.xml><?xml version="1.0" encoding="utf-8"?>
<p188:cmLst xmlns:a="http://schemas.openxmlformats.org/drawingml/2006/main" xmlns:r="http://schemas.openxmlformats.org/officeDocument/2006/relationships" xmlns:p188="http://schemas.microsoft.com/office/powerpoint/2018/8/main">
  <p188:cm id="{4BC35CEC-E4B7-4EF1-A376-EC5EB3F9F7C0}" authorId="{A1F4ACA4-32C5-3A05-D2BC-2194DD035544}" created="2026-08-04T10:29:38.055">
    <ac:txMkLst xmlns:ac="http://schemas.microsoft.com/office/drawing/2013/main/command">
      <pc:docMk xmlns:pc="http://schemas.microsoft.com/office/powerpoint/2013/main/command"/>
      <pc:sldMk xmlns:pc="http://schemas.microsoft.com/office/powerpoint/2013/main/command" cId="2035613691" sldId="266"/>
      <ac:graphicFrameMk id="164" creationId="{C97BDADF-5067-D699-DFFA-BE3167FE0740}"/>
      <ac:tblMk/>
      <ac:tcMk rowId="10005" colId="20001"/>
      <ac:txMk cp="962">
        <ac:context len="1493" hash="3055933658"/>
      </ac:txMk>
    </ac:txMkLst>
    <p188:pos x="4987369" y="4584829"/>
    <p188:replyLst>
      <p188:reply id="{62B84A5F-A9E2-46AA-B9C9-5CEF4D04C67D}" authorId="{0A894E26-C7D1-BA6A-00B6-2540C16AE08A}" created="2026-08-07T08:59:10.257">
        <p188:txBody>
          <a:bodyPr/>
          <a:lstStyle/>
          <a:p>
            <a:r>
              <a:rPr lang="ko-KR" altLang="en-US"/>
              <a:t>Ciq시절 과거 자료, 최신 양식으로 변경 요청</a:t>
            </a:r>
          </a:p>
        </p188:txBody>
      </p188:reply>
      <p188:reply id="{9B88460D-9C32-459F-98F9-A0994C0EFCAC}" authorId="{CDA6591C-037C-80BB-C6B4-608BD056B04D}" created="2026-08-25T07:51:12.043">
        <p188:txBody>
          <a:bodyPr/>
          <a:lstStyle/>
          <a:p>
            <a:r>
              <a:rPr lang="ko-KR" altLang="en-US"/>
              <a:t>1. 해관총서 공고 2025년 제255호 업데이트 링크 추가 
2. Single Window 공식 사용자 매뉴얼 업데이트 링크 추가
 </a:t>
            </a:r>
          </a:p>
        </p188:txBody>
      </p188:reply>
      <p188:reply id="{7159C226-4C9F-4154-8045-4358920DCA35}" authorId="{0A894E26-C7D1-BA6A-00B6-2540C16AE08A}" created="2026-09-11T01:42:50.807">
        <p188:txBody>
          <a:bodyPr/>
          <a:lstStyle/>
          <a:p>
            <a:r>
              <a:rPr lang="ko-KR" altLang="en-US"/>
              <a:t>“수출입화장품 검사검역 감독관리방법"링크를 최신 규정 링크로 변경, 조항도 신규 규정과 맞는지 재확인 요망
https://kcia.or.kr/home/law/law_09.php?type=view&amp;no=17610&amp;ss=page%3D%26skind%3DTITLE_CNTNT%26sword%3D%EA%B2%80%EC%97%AD%26ob%3D</a:t>
            </a:r>
          </a:p>
        </p188:txBody>
      </p188:reply>
      <p188:reply id="{199EC114-287A-4A8E-B5CD-6B103D60908B}" authorId="{0A894E26-C7D1-BA6A-00B6-2540C16AE08A}" created="2026-09-11T01:43:54.357">
        <p188:txBody>
          <a:bodyPr/>
          <a:lstStyle/>
          <a:p>
            <a:r>
              <a:rPr lang="ko-KR" altLang="en-US"/>
              <a:t>《입경화물검험검역증명(入境货物检验检疫证明)》 발급. 2025년 12월 25일부터 전자증명서와 종이증명서를 병행 운영하며
에 걸린 링크가 열리지 않습니다. </a:t>
            </a:r>
          </a:p>
        </p188:txBody>
        <p188:extLst>
          <p:ext xmlns:p="http://schemas.openxmlformats.org/presentationml/2006/main" uri="{57CB4572-C831-44C2-8A1C-0ADB6CCDFE69}">
            <p223:reactions xmlns:p223="http://schemas.microsoft.com/office/powerpoint/2022/03/main">
              <p223:rxn type="👍">
                <p223:instance time="2026-09-18T05:41:33.025" authorId="{A1F4ACA4-32C5-3A05-D2BC-2194DD035544}"/>
              </p223:rxn>
            </p223:reactions>
          </p:ext>
        </p188:extLst>
      </p188:reply>
      <p188:reply id="{6CF7653F-30E1-4B57-893C-845C0D0565F5}" authorId="{0A894E26-C7D1-BA6A-00B6-2540C16AE08A}" created="2026-09-11T01:45:51.801">
        <p188:txBody>
          <a:bodyPr/>
          <a:lstStyle/>
          <a:p>
            <a:r>
              <a:rPr lang="ko-KR" altLang="en-US"/>
              <a:t>첫번째 요청사항중 양식 변경은 보내주신 양식 첨부파일 중 "5-1. 입경화물검사검역 증명서”를 Ciq시절 과거 양식이 아닌 최신 양식으로 변경 요청한 것임</a:t>
            </a:r>
          </a:p>
        </p188:txBody>
      </p188:reply>
      <p188:reply id="{0AF16C7F-3709-4A07-9267-CB6EACBE2144}" authorId="{A1F4ACA4-32C5-3A05-D2BC-2194DD035544}" created="2026-09-21T05:42:37.064">
        <p188:txBody>
          <a:bodyPr/>
          <a:lstStyle/>
          <a:p>
            <a:r>
              <a:rPr lang="ko-KR" altLang="en-US"/>
              <a:t>기존 CIQ 체계의 「입경화물검험검역증명」이 중국 해관 체계로 전환된 이후 사용하는 현행 형태의 문서로 재첨부드립니다. </a:t>
            </a:r>
          </a:p>
        </p188:txBody>
      </p188:reply>
    </p188:replyLst>
    <p188:txBody>
      <a:bodyPr/>
      <a:lstStyle/>
      <a:p>
        <a:r>
          <a:rPr lang="ko-KR" altLang="en-US"/>
          <a:t>첨부파일 5-1</a:t>
        </a:r>
      </a:p>
    </p188:txBody>
  </p188:cm>
</p188:cmLst>
</file>

<file path=ppt/comments/modernComment_10E_6CB7AFF9.xml><?xml version="1.0" encoding="utf-8"?>
<p188:cmLst xmlns:a="http://schemas.openxmlformats.org/drawingml/2006/main" xmlns:r="http://schemas.openxmlformats.org/officeDocument/2006/relationships" xmlns:p188="http://schemas.microsoft.com/office/powerpoint/2018/8/main">
  <p188:cm id="{F129A026-E333-456F-A0C0-DDADAB00D237}" authorId="{A1F4ACA4-32C5-3A05-D2BC-2194DD035544}" created="2026-08-04T10:43:37.508">
    <ac:txMkLst xmlns:ac="http://schemas.microsoft.com/office/drawing/2013/main/command">
      <pc:docMk xmlns:pc="http://schemas.microsoft.com/office/powerpoint/2013/main/command"/>
      <pc:sldMk xmlns:pc="http://schemas.microsoft.com/office/powerpoint/2013/main/command" cId="1823977465" sldId="270"/>
      <ac:graphicFrameMk id="156" creationId="{6EAA9302-3522-19B8-F56F-8DEF7FB9E914}"/>
      <ac:tblMk/>
      <ac:tcMk rowId="10003" colId="20001"/>
      <ac:txMk cp="79" len="6">
        <ac:context len="137" hash="4274221892"/>
      </ac:txMk>
    </ac:txMkLst>
    <p188:pos x="4264073" y="2304876"/>
    <p188:txBody>
      <a:bodyPr/>
      <a:lstStyle/>
      <a:p>
        <a:r>
          <a:rPr lang="ko-KR" altLang="en-US"/>
          <a:t>첨부파일 4-3</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EEF8A89F-0775-41C5-A86F-C3D20DD346F8}" authorId="{0A894E26-C7D1-BA6A-00B6-2540C16AE08A}" status="resolved" created="2026-07-22T09:38:38.300" complete="100000">
    <ac:txMkLst xmlns:ac="http://schemas.microsoft.com/office/drawing/2013/main/command">
      <pc:docMk xmlns:pc="http://schemas.microsoft.com/office/powerpoint/2013/main/command"/>
      <pc:sldMk xmlns:pc="http://schemas.microsoft.com/office/powerpoint/2013/main/command" cId="0" sldId="258"/>
      <ac:graphicFrameMk id="117" creationId="{00000000-0000-0000-0000-000000000000}"/>
      <ac:tblMk/>
      <ac:tcMk rowId="10003" colId="20001"/>
      <ac:txMk cp="0" len="9">
        <ac:context len="22" hash="3483644318"/>
      </ac:txMk>
    </ac:txMkLst>
    <p188:pos x="2991820" y="2128069"/>
    <p188:replyLst>
      <p188:reply id="{B70948BE-4D64-4BDD-8F63-27E0030A2A1C}" authorId="{A1F4ACA4-32C5-3A05-D2BC-2194DD035544}" created="2026-08-04T09:15:54.481">
        <p188:txBody>
          <a:bodyPr/>
          <a:lstStyle/>
          <a:p>
            <a:r>
              <a:rPr lang="ko-KR" altLang="en-US"/>
              <a:t>수정완료</a:t>
            </a:r>
          </a:p>
        </p188:txBody>
      </p188:reply>
      <p188:reply id="{AD670E47-F301-443F-B359-6E09744286C3}" authorId="{0A894E26-C7D1-BA6A-00B6-2540C16AE08A}" created="2026-08-07T02:31:35.642">
        <p188:txBody>
          <a:bodyPr/>
          <a:lstStyle/>
          <a:p>
            <a:r>
              <a:rPr lang="ko-KR" altLang="en-US"/>
              <a:t>제목은 두개인데 링크는 동일한 링크입니다.</a:t>
            </a:r>
          </a:p>
        </p188:txBody>
      </p188:reply>
      <p188:reply id="{9069E70B-B791-4E3D-A8A8-B73BF336CF09}" authorId="{0A894E26-C7D1-BA6A-00B6-2540C16AE08A}" created="2026-09-11T01:24:42.074">
        <p188:txBody>
          <a:bodyPr/>
          <a:lstStyle/>
          <a:p>
            <a:r>
              <a:rPr lang="ko-KR" altLang="en-US"/>
              <a:t>수정사항이 반영되지 않은 것 같습니다</a:t>
            </a:r>
          </a:p>
        </p188:txBody>
      </p188:reply>
      <p188:reply id="{6E8C8702-78A8-424F-9EE0-7539B4AD45B5}" authorId="{A1F4ACA4-32C5-3A05-D2BC-2194DD035544}" created="2026-09-18T02:05:58.539">
        <p188:txBody>
          <a:bodyPr/>
          <a:lstStyle/>
          <a:p>
            <a:r>
              <a:rPr lang="ko-KR" altLang="en-US"/>
              <a:t>수정 완료</a:t>
            </a:r>
          </a:p>
        </p188:txBody>
      </p188:reply>
    </p188:replyLst>
    <p188:txBody>
      <a:bodyPr/>
      <a:lstStyle/>
      <a:p>
        <a:r>
          <a:rPr lang="ko-KR" altLang="en-US"/>
          <a:t>둘다 현재 홈페이지에 걸려 있는 링크는 존재하지 않는 페이지로 나옵니다. 
계약서 양식을 안내하는 타 사이트가 있으면 대체 부탁드립니다.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775867F9-132E-493B-9436-1A1DE53A5FAE}" authorId="{0A894E26-C7D1-BA6A-00B6-2540C16AE08A}" created="2026-07-22T09:47:40.140">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3" colId="20001"/>
      <ac:txMk cp="52">
        <ac:context len="272" hash="1387160207"/>
      </ac:txMk>
    </ac:txMkLst>
    <p188:pos x="5850523" y="5289968"/>
    <p188:replyLst>
      <p188:reply id="{6A04B130-6D74-4249-9C9B-A17DD263DF4C}" authorId="{A1F4ACA4-32C5-3A05-D2BC-2194DD035544}" created="2026-08-04T10:51:42.977">
        <p188:txBody>
          <a:bodyPr/>
          <a:lstStyle/>
          <a:p>
            <a:r>
              <a:rPr lang="ko-KR" altLang="en-US"/>
              <a:t>수정완료 </a:t>
            </a:r>
          </a:p>
        </p188:txBody>
      </p188:reply>
      <p188:reply id="{7D01FA71-7C27-469E-A5CF-BBDBEE88EADF}" authorId="{0A894E26-C7D1-BA6A-00B6-2540C16AE08A}" created="2026-08-07T02:49:58.346">
        <p188:txBody>
          <a:bodyPr/>
          <a:lstStyle/>
          <a:p>
            <a:r>
              <a:rPr lang="ko-KR" altLang="en-US"/>
              <a:t>신규 규정에 맞게 수정
현재 등록 불필요
업체 서류 구비 등 파악하고 계신 향후 관리방향에 맞게 수정 요망, 이제는 등록을 하지 않기 때문에 별도로 페이지를 만들필요는 없고 앞단의 절차에 적절하게 서류 구비 및 보관이 필요하다는 내용을 넣어주시면 되겠습니다. </a:t>
            </a:r>
          </a:p>
        </p188:txBody>
      </p188:reply>
      <p188:reply id="{344077D0-3A98-4011-97B3-7F8770572C5B}" authorId="{0A894E26-C7D1-BA6A-00B6-2540C16AE08A}" created="2026-09-11T01:29:42.944">
        <p188:txBody>
          <a:bodyPr/>
          <a:lstStyle/>
          <a:p>
            <a:r>
              <a:rPr lang="ko-KR" altLang="en-US"/>
              <a:t>신규 계정 등록 절차가 더 이상 요구되지 않는다면 코드등록 관련된 내용은 모두 삭제하고, 현행 규정에 따라 기업이 실무적으로 해야할 사항을 넣는게 맞겠습니다.  
아래에 단순히 간략한 설명만 넣고 기타 내용은 기존과 동일하게 수출절차에 넣으면 여전히 등록이 필요한 것으로 오해할 수 있습니다. 변경된 현행 규정에 맞게 전반적인 수정이 필요한 사항입니다. 
빨간색으로 수정한 부분들을 참고하여 재수정 부탁드립니다. </a:t>
            </a:r>
          </a:p>
        </p188:txBody>
      </p188:reply>
      <p188:reply id="{4184B229-D192-45F6-A05A-A9F4FBF8D6F0}" authorId="{A1F4ACA4-32C5-3A05-D2BC-2194DD035544}" created="2026-09-21T05:42:21.517">
        <p188:txBody>
          <a:bodyPr/>
          <a:lstStyle/>
          <a:p>
            <a:r>
              <a:rPr lang="ko-KR" altLang="en-US"/>
              <a:t>수정완료</a:t>
            </a:r>
          </a:p>
        </p188:txBody>
      </p188:reply>
    </p188:replyLst>
    <p188:txBody>
      <a:bodyPr/>
      <a:lstStyle/>
      <a:p>
        <a:r>
          <a:rPr lang="ko-KR" altLang="en-US"/>
          <a:t>현재 신규 계정을 만드는 것을 수리하고 있지 않다고 들었습니다. 아직 코드등록 관련 새로운 규정이 시행되고 있지는 않지만 현황과 일치한지 다시 한번 확인 부탁드립니다. </a:t>
        </a:r>
      </a:p>
    </p188:txBody>
  </p188:cm>
  <p188:cm id="{6D9AA1BF-3956-4C53-BC6A-FD9A2CE1CFA8}" authorId="{A1F4ACA4-32C5-3A05-D2BC-2194DD035544}" created="2026-09-18T05:40:45.421">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3" colId="20001"/>
      <ac:txMk cp="0" len="269">
        <ac:context len="272" hash="1387160207"/>
      </ac:txMk>
    </ac:txMkLst>
    <p188:pos x="6652127" y="2515787"/>
    <p188:txBody>
      <a:bodyPr/>
      <a:lstStyle/>
      <a:p>
        <a:r>
          <a:rPr lang="ko-KR" altLang="en-US"/>
          <a:t>NMPA_화장품_원료안전관련정보_부록14 첨부파일 확인.</a:t>
        </a:r>
      </a:p>
    </p188:txBody>
  </p188:cm>
  <p188:cm id="{52E6BAEF-0528-4C64-9B4B-C5D517CACBED}" authorId="{0A894E26-C7D1-BA6A-00B6-2540C16AE08A}" created="2026-09-30T02:55:58.393">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0" colId="20001"/>
      <ac:txMk cp="10" len="5">
        <ac:context len="308" hash="1973697271"/>
      </ac:txMk>
    </ac:txMkLst>
    <p188:pos x="3193950" y="265581"/>
    <p188:replyLst/>
    <p188:txBody>
      <a:bodyPr/>
      <a:lstStyle/>
      <a:p>
        <a:r>
          <a:rPr lang="ko-KR" altLang="en-US"/>
          <a:t>제도 용어를 "등록·비안" 대신 협회에서 사용하는 "허가·등록”으로 파일 전체 수정 부탁드립니다. 
许可-허가
备案- 등록</a:t>
        </a:r>
      </a:p>
    </p188:txBody>
    <p188:extLst>
      <p:ext xmlns:p="http://schemas.openxmlformats.org/presentationml/2006/main" uri="{57CB4572-C831-44C2-8A1C-0ADB6CCDFE69}">
        <p223:reactions xmlns:p223="http://schemas.microsoft.com/office/powerpoint/2022/03/main">
          <p223:rxn type="👍">
            <p223:instance time="2026-10-12T10:33:42.043" authorId="{CDA6591C-037C-80BB-C6B4-608BD056B04D}"/>
          </p223:rxn>
        </p223:reactions>
      </p:ext>
    </p188:extLst>
  </p188:cm>
  <p188:cm id="{F4296F83-180D-44CD-B132-72BEA05530A8}" authorId="{0A894E26-C7D1-BA6A-00B6-2540C16AE08A}" created="2026-09-30T02:57:43.978">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0" colId="20001"/>
      <ac:txMk cp="70" len="7">
        <ac:context len="308" hash="1973697271"/>
      </ac:txMk>
    </ac:txMkLst>
    <p188:pos x="9065361" y="265581"/>
    <p188:txBody>
      <a:bodyPr/>
      <a:lstStyle/>
      <a:p>
        <a:r>
          <a:rPr lang="ko-KR" altLang="en-US"/>
          <a:t>“원료보고코드"를 "원료 등록코드"로 통일</a:t>
        </a:r>
      </a:p>
    </p188:txBody>
    <p188:extLst>
      <p:ext xmlns:p="http://schemas.openxmlformats.org/presentationml/2006/main" uri="{57CB4572-C831-44C2-8A1C-0ADB6CCDFE69}">
        <p223:reactions xmlns:p223="http://schemas.microsoft.com/office/powerpoint/2022/03/main">
          <p223:rxn type="👍">
            <p223:instance time="2026-10-12T10:33:44.399" authorId="{CDA6591C-037C-80BB-C6B4-608BD056B04D}"/>
          </p223:rxn>
        </p223:reactions>
      </p:ext>
    </p188:extLst>
  </p188:cm>
  <p188:cm id="{A0B61491-EBFD-4762-8B47-3E3F109CF204}" authorId="{0A894E26-C7D1-BA6A-00B6-2540C16AE08A}" created="2026-09-30T02:58:57.273">
    <pc:sldMkLst xmlns:pc="http://schemas.microsoft.com/office/powerpoint/2013/main/command">
      <pc:docMk/>
      <pc:sldMk cId="0" sldId="262"/>
    </pc:sldMkLst>
    <p188:txBody>
      <a:bodyPr/>
      <a:lstStyle/>
      <a:p>
        <a:r>
          <a:rPr lang="ko-KR" altLang="en-US"/>
          <a:t>전체 파일에서 사용한 문체와 통일하여 변경되었다-&gt;변경됨으로 수정, 기타 부분도 마찬가지</a:t>
        </a:r>
      </a:p>
    </p188:txBody>
    <p188:extLst>
      <p:ext xmlns:p="http://schemas.openxmlformats.org/presentationml/2006/main" uri="{57CB4572-C831-44C2-8A1C-0ADB6CCDFE69}">
        <p223:reactions xmlns:p223="http://schemas.microsoft.com/office/powerpoint/2022/03/main">
          <p223:rxn type="👍">
            <p223:instance time="2026-10-12T10:33:45.270" authorId="{CDA6591C-037C-80BB-C6B4-608BD056B04D}"/>
          </p223:rxn>
        </p223:reactions>
      </p:ext>
    </p188:extLst>
  </p188:cm>
  <p188:cm id="{082A01FC-9AF1-461F-9E4B-1BF8177373D0}" authorId="{0A894E26-C7D1-BA6A-00B6-2540C16AE08A}" created="2026-09-30T02:59:45.066">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0" colId="20001"/>
      <ac:txMk cp="135" len="1">
        <ac:context len="308" hash="1973697271"/>
      </ac:txMk>
    </ac:txMkLst>
    <p188:pos x="4108350" y="573589"/>
    <p188:replyLst/>
    <p188:txBody>
      <a:bodyPr/>
      <a:lstStyle/>
      <a:p>
        <a:r>
          <a:rPr lang="ko-KR" altLang="en-US"/>
          <a:t>허가인·등록인으로 통일</a:t>
        </a:r>
      </a:p>
    </p188:txBody>
    <p188:extLst>
      <p:ext xmlns:p="http://schemas.openxmlformats.org/presentationml/2006/main" uri="{57CB4572-C831-44C2-8A1C-0ADB6CCDFE69}">
        <p223:reactions xmlns:p223="http://schemas.microsoft.com/office/powerpoint/2022/03/main">
          <p223:rxn type="👍">
            <p223:instance time="2026-10-12T10:33:46.604" authorId="{CDA6591C-037C-80BB-C6B4-608BD056B04D}"/>
          </p223:rxn>
        </p223:reactions>
      </p:ext>
    </p188:extLst>
  </p188:cm>
  <p188:cm id="{36ADB695-F918-4012-A739-D53C6D03AFFE}" authorId="{0A894E26-C7D1-BA6A-00B6-2540C16AE08A}" created="2026-09-30T03:01:17.672">
    <pc:sldMkLst xmlns:pc="http://schemas.microsoft.com/office/powerpoint/2013/main/command">
      <pc:docMk/>
      <pc:sldMk cId="0" sldId="262"/>
    </pc:sldMkLst>
    <p188:replyLst>
      <p188:reply id="{1DE528B5-BA93-40C6-8B5E-9B405EBC4991}" authorId="{A1F4ACA4-32C5-3A05-D2BC-2194DD035544}" created="2026-10-07T06:37:35.511">
        <p188:txBody>
          <a:bodyPr/>
          <a:lstStyle/>
          <a:p>
            <a:r>
              <a:rPr lang="ko-KR" altLang="en-US"/>
              <a:t>수정 완료</a:t>
            </a:r>
          </a:p>
        </p188:txBody>
      </p188:reply>
    </p188:replyLst>
    <p188:txBody>
      <a:bodyPr/>
      <a:lstStyle/>
      <a:p>
        <a:r>
          <a:rPr lang="ko-KR" altLang="en-US"/>
          <a:t>처방서라는 표현을 쓰지 않음. 처방으로 변경</a:t>
        </a:r>
      </a:p>
    </p188:txBody>
  </p188:cm>
  <p188:cm id="{EBA42DB3-7F0C-4D42-B94E-07F0508399A3}" authorId="{0A894E26-C7D1-BA6A-00B6-2540C16AE08A}" created="2026-09-30T03:02:47.940">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1" colId="20001"/>
      <ac:txMk cp="111" len="2">
        <ac:context len="336" hash="2579544659"/>
      </ac:txMk>
    </ac:txMkLst>
    <p188:pos x="5802397" y="2440890"/>
    <p188:replyLst>
      <p188:reply id="{A75A0981-EF1C-4403-B749-F0D6552DD83A}" authorId="{A1F4ACA4-32C5-3A05-D2BC-2194DD035544}" created="2026-10-07T06:37:16.902">
        <p188:txBody>
          <a:bodyPr/>
          <a:lstStyle/>
          <a:p>
            <a:r>
              <a:rPr lang="ko-KR" altLang="en-US"/>
              <a:t>수정 완료 </a:t>
            </a:r>
          </a:p>
        </p188:txBody>
      </p188:reply>
    </p188:replyLst>
    <p188:txBody>
      <a:bodyPr/>
      <a:lstStyle/>
      <a:p>
        <a:r>
          <a:rPr lang="ko-KR" altLang="en-US"/>
          <a:t>별표 14로 통일</a:t>
        </a:r>
      </a:p>
    </p188:txBody>
  </p188:cm>
  <p188:cm id="{63D1C6B0-69B2-434C-B41D-C4D1353457E4}" authorId="{0A894E26-C7D1-BA6A-00B6-2540C16AE08A}" created="2026-09-30T03:14:06.683">
    <ac:txMkLst xmlns:ac="http://schemas.microsoft.com/office/drawing/2013/main/command">
      <pc:docMk xmlns:pc="http://schemas.microsoft.com/office/powerpoint/2013/main/command"/>
      <pc:sldMk xmlns:pc="http://schemas.microsoft.com/office/powerpoint/2013/main/command" cId="0" sldId="262"/>
      <ac:graphicFrameMk id="148" creationId="{00000000-0000-0000-0000-000000000000}"/>
      <ac:tblMk/>
      <ac:tcMk rowId="10001" colId="20001"/>
      <ac:txMk cp="269">
        <ac:context len="336" hash="2579544659"/>
      </ac:txMk>
    </ac:txMkLst>
    <p188:pos x="3915845" y="2893278"/>
    <p188:replyLst>
      <p188:reply id="{B77DF33B-B134-4240-8C93-DDB5F8E2533B}" authorId="{A1F4ACA4-32C5-3A05-D2BC-2194DD035544}" created="2026-10-07T06:37:02.866">
        <p188:txBody>
          <a:bodyPr/>
          <a:lstStyle/>
          <a:p>
            <a:r>
              <a:rPr lang="ko-KR" altLang="en-US"/>
              <a:t>수정 완료</a:t>
            </a:r>
          </a:p>
        </p188:txBody>
      </p188:reply>
    </p188:replyLst>
    <p188:txBody>
      <a:bodyPr/>
      <a:lstStyle/>
      <a:p>
        <a:r>
          <a:rPr lang="ko-KR" altLang="en-US"/>
          <a:t>자채 보관 문서에 대한 정보 자체 업데이트를 말하는지? 그렇다면 업데이트를 사용하는 것이 적절할 것 같음</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48A4152C-3950-436F-8631-B968646A75F7}" authorId="{0A894E26-C7D1-BA6A-00B6-2540C16AE08A}" created="2026-07-22T10:02:00.348">
    <ac:txMkLst xmlns:ac="http://schemas.microsoft.com/office/drawing/2013/main/command">
      <pc:docMk xmlns:pc="http://schemas.microsoft.com/office/powerpoint/2013/main/command"/>
      <pc:sldMk xmlns:pc="http://schemas.microsoft.com/office/powerpoint/2013/main/command" cId="0" sldId="264"/>
      <ac:graphicFrameMk id="164" creationId="{00000000-0000-0000-0000-000000000000}"/>
      <ac:tblMk/>
      <ac:tcMk rowId="10003" colId="20000"/>
      <ac:txMk cp="0" len="10">
        <ac:context len="11" hash="4045128418"/>
      </ac:txMk>
    </ac:txMkLst>
    <p188:pos x="1201521" y="2643021"/>
    <p188:replyLst>
      <p188:reply id="{3C6D82A6-87C8-4E0F-8415-DC46FAE1A14E}" authorId="{A1F4ACA4-32C5-3A05-D2BC-2194DD035544}" created="2026-08-04T10:40:54.301">
        <p188:txBody>
          <a:bodyPr/>
          <a:lstStyle/>
          <a:p>
            <a:r>
              <a:rPr lang="ko-KR" altLang="en-US"/>
              <a:t>수정완료</a:t>
            </a:r>
          </a:p>
        </p188:txBody>
      </p188:reply>
    </p188:replyLst>
    <p188:txBody>
      <a:bodyPr/>
      <a:lstStyle/>
      <a:p>
        <a:r>
          <a:rPr lang="ko-KR" altLang="en-US"/>
          <a:t>첨부파일 이미지에서 누록된 자료가 있으면 추가 부탁드립니다</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ko-KR" sz="1200" b="0" i="0" u="none" strike="noStrike" cap="none">
                <a:solidFill>
                  <a:schemeClr val="dk1"/>
                </a:solidFill>
                <a:latin typeface="Malgun Gothic"/>
                <a:ea typeface="Malgun Gothic"/>
                <a:cs typeface="Malgun Gothic"/>
                <a:sym typeface="Malgun Gothic"/>
              </a:r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FBAADDA4-EB8A-000C-3640-BAC4F9B4674F}"/>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ED0738A5-BC15-8E70-44B4-36EF20692A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5:notes">
            <a:extLst>
              <a:ext uri="{FF2B5EF4-FFF2-40B4-BE49-F238E27FC236}">
                <a16:creationId xmlns:a16="http://schemas.microsoft.com/office/drawing/2014/main" id="{D9633C55-4449-3CF5-4963-5600CF0952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5:notes">
            <a:extLst>
              <a:ext uri="{FF2B5EF4-FFF2-40B4-BE49-F238E27FC236}">
                <a16:creationId xmlns:a16="http://schemas.microsoft.com/office/drawing/2014/main" id="{31BD4F9E-FD28-25C0-4049-7F724B0BDB0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6</a:t>
            </a:fld>
            <a:endParaRPr/>
          </a:p>
        </p:txBody>
      </p:sp>
    </p:spTree>
    <p:extLst>
      <p:ext uri="{BB962C8B-B14F-4D97-AF65-F5344CB8AC3E}">
        <p14:creationId xmlns:p14="http://schemas.microsoft.com/office/powerpoint/2010/main" val="1425195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30166E74-C1D8-2500-FB7C-DF09DCAA1906}"/>
            </a:ext>
          </a:extLst>
        </p:cNvPr>
        <p:cNvGrpSpPr/>
        <p:nvPr/>
      </p:nvGrpSpPr>
      <p:grpSpPr>
        <a:xfrm>
          <a:off x="0" y="0"/>
          <a:ext cx="0" cy="0"/>
          <a:chOff x="0" y="0"/>
          <a:chExt cx="0" cy="0"/>
        </a:xfrm>
      </p:grpSpPr>
      <p:sp>
        <p:nvSpPr>
          <p:cNvPr id="136" name="Google Shape;136;p6:notes">
            <a:extLst>
              <a:ext uri="{FF2B5EF4-FFF2-40B4-BE49-F238E27FC236}">
                <a16:creationId xmlns:a16="http://schemas.microsoft.com/office/drawing/2014/main" id="{4DEEF788-A02D-6D3B-526F-A2A2FF4309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6:notes">
            <a:extLst>
              <a:ext uri="{FF2B5EF4-FFF2-40B4-BE49-F238E27FC236}">
                <a16:creationId xmlns:a16="http://schemas.microsoft.com/office/drawing/2014/main" id="{0D0E958D-DA19-0AEA-6274-ECB68D3F2A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a:extLst>
              <a:ext uri="{FF2B5EF4-FFF2-40B4-BE49-F238E27FC236}">
                <a16:creationId xmlns:a16="http://schemas.microsoft.com/office/drawing/2014/main" id="{FA7D890B-F009-3066-176C-331309E4467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8</a:t>
            </a:fld>
            <a:endParaRPr/>
          </a:p>
        </p:txBody>
      </p:sp>
    </p:spTree>
    <p:extLst>
      <p:ext uri="{BB962C8B-B14F-4D97-AF65-F5344CB8AC3E}">
        <p14:creationId xmlns:p14="http://schemas.microsoft.com/office/powerpoint/2010/main" val="28518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F5835287-1381-20FC-07E1-26CDC340CBF1}"/>
            </a:ext>
          </a:extLst>
        </p:cNvPr>
        <p:cNvGrpSpPr/>
        <p:nvPr/>
      </p:nvGrpSpPr>
      <p:grpSpPr>
        <a:xfrm>
          <a:off x="0" y="0"/>
          <a:ext cx="0" cy="0"/>
          <a:chOff x="0" y="0"/>
          <a:chExt cx="0" cy="0"/>
        </a:xfrm>
      </p:grpSpPr>
      <p:sp>
        <p:nvSpPr>
          <p:cNvPr id="136" name="Google Shape;136;p6:notes">
            <a:extLst>
              <a:ext uri="{FF2B5EF4-FFF2-40B4-BE49-F238E27FC236}">
                <a16:creationId xmlns:a16="http://schemas.microsoft.com/office/drawing/2014/main" id="{58881306-42DC-E4CE-B9BE-72205D0478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6:notes">
            <a:extLst>
              <a:ext uri="{FF2B5EF4-FFF2-40B4-BE49-F238E27FC236}">
                <a16:creationId xmlns:a16="http://schemas.microsoft.com/office/drawing/2014/main" id="{295920AA-7229-FEE3-168C-49095BC02D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a:extLst>
              <a:ext uri="{FF2B5EF4-FFF2-40B4-BE49-F238E27FC236}">
                <a16:creationId xmlns:a16="http://schemas.microsoft.com/office/drawing/2014/main" id="{264C65EC-0380-3FB6-5608-69168D448DD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9</a:t>
            </a:fld>
            <a:endParaRPr/>
          </a:p>
        </p:txBody>
      </p:sp>
    </p:spTree>
    <p:extLst>
      <p:ext uri="{BB962C8B-B14F-4D97-AF65-F5344CB8AC3E}">
        <p14:creationId xmlns:p14="http://schemas.microsoft.com/office/powerpoint/2010/main" val="3591513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6" name="Google Shape;1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0E1E3CB2-107C-03E9-EBB0-7F1D13934691}"/>
            </a:ext>
          </a:extLst>
        </p:cNvPr>
        <p:cNvGrpSpPr/>
        <p:nvPr/>
      </p:nvGrpSpPr>
      <p:grpSpPr>
        <a:xfrm>
          <a:off x="0" y="0"/>
          <a:ext cx="0" cy="0"/>
          <a:chOff x="0" y="0"/>
          <a:chExt cx="0" cy="0"/>
        </a:xfrm>
      </p:grpSpPr>
      <p:sp>
        <p:nvSpPr>
          <p:cNvPr id="152" name="Google Shape;152;p8:notes">
            <a:extLst>
              <a:ext uri="{FF2B5EF4-FFF2-40B4-BE49-F238E27FC236}">
                <a16:creationId xmlns:a16="http://schemas.microsoft.com/office/drawing/2014/main" id="{310BB93F-415F-5524-7460-4ECE6B1401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8:notes">
            <a:extLst>
              <a:ext uri="{FF2B5EF4-FFF2-40B4-BE49-F238E27FC236}">
                <a16:creationId xmlns:a16="http://schemas.microsoft.com/office/drawing/2014/main" id="{5F81E879-A01B-D249-1B66-DAA509F113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8:notes">
            <a:extLst>
              <a:ext uri="{FF2B5EF4-FFF2-40B4-BE49-F238E27FC236}">
                <a16:creationId xmlns:a16="http://schemas.microsoft.com/office/drawing/2014/main" id="{0EE5F8D8-842F-1885-B29C-20B07B9088A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11</a:t>
            </a:fld>
            <a:endParaRPr/>
          </a:p>
        </p:txBody>
      </p:sp>
    </p:spTree>
    <p:extLst>
      <p:ext uri="{BB962C8B-B14F-4D97-AF65-F5344CB8AC3E}">
        <p14:creationId xmlns:p14="http://schemas.microsoft.com/office/powerpoint/2010/main" val="1435205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D2788849-0D0B-0359-0FAD-9E40EFB7B147}"/>
            </a:ext>
          </a:extLst>
        </p:cNvPr>
        <p:cNvGrpSpPr/>
        <p:nvPr/>
      </p:nvGrpSpPr>
      <p:grpSpPr>
        <a:xfrm>
          <a:off x="0" y="0"/>
          <a:ext cx="0" cy="0"/>
          <a:chOff x="0" y="0"/>
          <a:chExt cx="0" cy="0"/>
        </a:xfrm>
      </p:grpSpPr>
      <p:sp>
        <p:nvSpPr>
          <p:cNvPr id="160" name="Google Shape;160;p9:notes">
            <a:extLst>
              <a:ext uri="{FF2B5EF4-FFF2-40B4-BE49-F238E27FC236}">
                <a16:creationId xmlns:a16="http://schemas.microsoft.com/office/drawing/2014/main" id="{E6DB4474-3450-3275-5288-B898D61CE4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9:notes">
            <a:extLst>
              <a:ext uri="{FF2B5EF4-FFF2-40B4-BE49-F238E27FC236}">
                <a16:creationId xmlns:a16="http://schemas.microsoft.com/office/drawing/2014/main" id="{5ED09488-9BCB-BC21-9DAA-E7BF32AE87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2" name="Google Shape;162;p9:notes">
            <a:extLst>
              <a:ext uri="{FF2B5EF4-FFF2-40B4-BE49-F238E27FC236}">
                <a16:creationId xmlns:a16="http://schemas.microsoft.com/office/drawing/2014/main" id="{577E660A-A871-5F2A-2C29-C3E79EE3833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14</a:t>
            </a:fld>
            <a:endParaRPr/>
          </a:p>
        </p:txBody>
      </p:sp>
    </p:spTree>
    <p:extLst>
      <p:ext uri="{BB962C8B-B14F-4D97-AF65-F5344CB8AC3E}">
        <p14:creationId xmlns:p14="http://schemas.microsoft.com/office/powerpoint/2010/main" val="3913420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8BB231AF-D9CD-92B2-3736-202348B382A3}"/>
            </a:ext>
          </a:extLst>
        </p:cNvPr>
        <p:cNvGrpSpPr/>
        <p:nvPr/>
      </p:nvGrpSpPr>
      <p:grpSpPr>
        <a:xfrm>
          <a:off x="0" y="0"/>
          <a:ext cx="0" cy="0"/>
          <a:chOff x="0" y="0"/>
          <a:chExt cx="0" cy="0"/>
        </a:xfrm>
      </p:grpSpPr>
      <p:sp>
        <p:nvSpPr>
          <p:cNvPr id="152" name="Google Shape;152;p8:notes">
            <a:extLst>
              <a:ext uri="{FF2B5EF4-FFF2-40B4-BE49-F238E27FC236}">
                <a16:creationId xmlns:a16="http://schemas.microsoft.com/office/drawing/2014/main" id="{D4F9FF04-0E8C-4835-4995-C98A4F5609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8:notes">
            <a:extLst>
              <a:ext uri="{FF2B5EF4-FFF2-40B4-BE49-F238E27FC236}">
                <a16:creationId xmlns:a16="http://schemas.microsoft.com/office/drawing/2014/main" id="{62CFCA2E-02A8-E23C-7276-E2C220B5AB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8:notes">
            <a:extLst>
              <a:ext uri="{FF2B5EF4-FFF2-40B4-BE49-F238E27FC236}">
                <a16:creationId xmlns:a16="http://schemas.microsoft.com/office/drawing/2014/main" id="{2D514C18-C43F-CEFB-A554-58796BBC168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15</a:t>
            </a:fld>
            <a:endParaRPr/>
          </a:p>
        </p:txBody>
      </p:sp>
    </p:spTree>
    <p:extLst>
      <p:ext uri="{BB962C8B-B14F-4D97-AF65-F5344CB8AC3E}">
        <p14:creationId xmlns:p14="http://schemas.microsoft.com/office/powerpoint/2010/main" val="2601091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3BA579CC-AB9B-CE43-2D5A-77A6A12D62E4}"/>
            </a:ext>
          </a:extLst>
        </p:cNvPr>
        <p:cNvGrpSpPr/>
        <p:nvPr/>
      </p:nvGrpSpPr>
      <p:grpSpPr>
        <a:xfrm>
          <a:off x="0" y="0"/>
          <a:ext cx="0" cy="0"/>
          <a:chOff x="0" y="0"/>
          <a:chExt cx="0" cy="0"/>
        </a:xfrm>
      </p:grpSpPr>
      <p:sp>
        <p:nvSpPr>
          <p:cNvPr id="152" name="Google Shape;152;p8:notes">
            <a:extLst>
              <a:ext uri="{FF2B5EF4-FFF2-40B4-BE49-F238E27FC236}">
                <a16:creationId xmlns:a16="http://schemas.microsoft.com/office/drawing/2014/main" id="{CAB6FAD9-70C0-1D7E-C9EC-AC35701EE1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8:notes">
            <a:extLst>
              <a:ext uri="{FF2B5EF4-FFF2-40B4-BE49-F238E27FC236}">
                <a16:creationId xmlns:a16="http://schemas.microsoft.com/office/drawing/2014/main" id="{6D36BD20-0CB2-ADEF-8426-9CC5F11A7B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8:notes">
            <a:extLst>
              <a:ext uri="{FF2B5EF4-FFF2-40B4-BE49-F238E27FC236}">
                <a16:creationId xmlns:a16="http://schemas.microsoft.com/office/drawing/2014/main" id="{EBB8AF99-289C-1BCC-58AC-8D1C2CFBF29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ko-KR"/>
              <a:t>16</a:t>
            </a:fld>
            <a:endParaRPr/>
          </a:p>
        </p:txBody>
      </p:sp>
    </p:spTree>
    <p:extLst>
      <p:ext uri="{BB962C8B-B14F-4D97-AF65-F5344CB8AC3E}">
        <p14:creationId xmlns:p14="http://schemas.microsoft.com/office/powerpoint/2010/main" val="348327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54"/>
        <p:cNvGrpSpPr/>
        <p:nvPr/>
      </p:nvGrpSpPr>
      <p:grpSpPr>
        <a:xfrm>
          <a:off x="0" y="0"/>
          <a:ext cx="0" cy="0"/>
          <a:chOff x="0" y="0"/>
          <a:chExt cx="0" cy="0"/>
        </a:xfrm>
      </p:grpSpPr>
      <p:sp>
        <p:nvSpPr>
          <p:cNvPr id="55" name="Google Shape;5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8"/>
        <p:cNvGrpSpPr/>
        <p:nvPr/>
      </p:nvGrpSpPr>
      <p:grpSpPr>
        <a:xfrm>
          <a:off x="0" y="0"/>
          <a:ext cx="0" cy="0"/>
          <a:chOff x="0" y="0"/>
          <a:chExt cx="0" cy="0"/>
        </a:xfrm>
      </p:grpSpPr>
      <p:sp>
        <p:nvSpPr>
          <p:cNvPr id="59" name="Google Shape;59;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9"/>
          <p:cNvSpPr>
            <a:spLocks noGrp="1"/>
          </p:cNvSpPr>
          <p:nvPr>
            <p:ph type="pic" idx="2"/>
          </p:nvPr>
        </p:nvSpPr>
        <p:spPr>
          <a:xfrm>
            <a:off x="5183188" y="987425"/>
            <a:ext cx="6172200" cy="4873625"/>
          </a:xfrm>
          <a:prstGeom prst="rect">
            <a:avLst/>
          </a:prstGeom>
          <a:noFill/>
          <a:ln>
            <a:noFill/>
          </a:ln>
        </p:spPr>
      </p:sp>
      <p:sp>
        <p:nvSpPr>
          <p:cNvPr id="68" name="Google Shape;68;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12" name="Google Shape;1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3" name="Google Shape;1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4" name="Google Shape;1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757575"/>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757575"/>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757575"/>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757575"/>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757575"/>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757575"/>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757575"/>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757575"/>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kita.net/board/format/formatDetail.do?postIndex=1863913"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koipa.re.kr/home/board/000118Detail.do?menu_cd=000118&amp;num=5586"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sbj.cnipa.gov.cn/sbj/index.html"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s://kcia.or.kr/home/law/%EA%B2%BD%EB%82%B4%EC%B1%85%EC%9E%84%EC%9E%90%20%EC%A0%95%EB%B3%B4%ED%91%9C(%EC%96%91%EC%8B%9D).pdf" TargetMode="External"/><Relationship Id="rId3" Type="http://schemas.openxmlformats.org/officeDocument/2006/relationships/hyperlink" Target="https://kcia.or.kr/home/law/%EA%B2%BD%EB%82%B4%EC%B1%85%EC%9E%84%EC%9E%90%20%EC%88%98%EA%B6%8C%EC%84%9C(%EC%96%91%EC%8B%9D).pdf" TargetMode="External"/><Relationship Id="rId7" Type="http://schemas.openxmlformats.org/officeDocument/2006/relationships/hyperlink" Target="https://kcia.or.kr/home/law/%EB%B6%80%EC%9E%91%EC%9A%A9%20%EB%AA%A8%EB%8B%88%ED%84%B0%EB%A7%81%20%EB%B0%8F%20%ED%8F%89%EA%B0%80%20%EC%B2%B4%EA%B3%84%20%EA%B0%9C%EC%9A%94%ED%91%9C(%EC%96%91%EC%8B%9D).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kcia.or.kr/home/law/%ED%92%88%EC%A7%88%EA%B4%80%EB%A6%AC%EC%B2%B4%EA%B3%84%20%EA%B0%9C%EC%9A%94(%EC%96%91%EC%8B%9D).pdf" TargetMode="External"/><Relationship Id="rId5" Type="http://schemas.openxmlformats.org/officeDocument/2006/relationships/hyperlink" Target="https://kcia.or.kr/home/law/%ED%99%94%EC%9E%A5%ED%92%88%20%ED%97%88%EA%B0%80,%20%EB%93%B1%EB%A1%9D%20%EC%A0%95%EB%B3%B4%ED%91%9C(%EC%96%91%EC%8B%9D).pdf" TargetMode="External"/><Relationship Id="rId4" Type="http://schemas.openxmlformats.org/officeDocument/2006/relationships/hyperlink" Target="https://zwfw.nmpa.gov.cn/web/user/login?backUrl=https%3A%2F%2Fzwfw.nmpa.gov.cn%2Fweb%2Ftasklist%2Fcorporate%3Ftheme%3DHZP" TargetMode="External"/><Relationship Id="rId9" Type="http://schemas.openxmlformats.org/officeDocument/2006/relationships/hyperlink" Target="https://kcia.or.kr/home/law/%EC%83%9D%EC%82%B0%EA%B8%B0%EC%97%85%20%EC%A0%95%EB%B3%B4%ED%91%9C(%EC%96%91%EC%8B%9D).pdf"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kcia.or.kr/home/law/%EA%B2%80%EC%82%AC%EB%B3%B4%EA%B3%A0%EC%84%9C(%EC%98%88%EC%8B%9C).pdf" TargetMode="External"/><Relationship Id="rId3" Type="http://schemas.openxmlformats.org/officeDocument/2006/relationships/hyperlink" Target="https://kcia.or.kr/home/law/%ED%99%94%EC%9E%A5%ED%92%88%20%ED%97%88%EA%B0%80,%20%EB%93%B1%EB%A1%9D%20%EC%A0%95%EB%B3%B4%ED%91%9C(%EC%96%91%EC%8B%9D).pdf" TargetMode="External"/><Relationship Id="rId7" Type="http://schemas.openxmlformats.org/officeDocument/2006/relationships/hyperlink" Target="https://kcia.or.kr/home/law/%ED%99%94%EC%9E%A5%ED%92%88%20%EC%A0%9C%ED%92%88%20%EB%9D%BC%EB%B2%A8(%EC%96%91%EC%8B%9D).pdf"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kcia.or.kr/home/law/%ED%99%94%EC%9E%A5%ED%92%88%20%EC%A0%9C%ED%92%88%20%EC%A7%91%ED%96%89%ED%91%9C%EC%A4%80(%EC%96%91%EC%8B%9D).pdf" TargetMode="External"/><Relationship Id="rId5" Type="http://schemas.openxmlformats.org/officeDocument/2006/relationships/hyperlink" Target="https://kcia.or.kr/home/law/%EC%B2%98%EB%B0%A9%ED%91%9C(%EC%96%91%EC%8B%9D).pdf" TargetMode="External"/><Relationship Id="rId10" Type="http://schemas.openxmlformats.org/officeDocument/2006/relationships/hyperlink" Target="https://kcia.or.kr/home/law/%ED%9A%A8%EB%8A%A5%20%ED%81%B4%EB%A0%88%EC%9E%84%20%ED%8F%89%EA%B0%80%20%EA%B7%BC%EA%B1%B0%EC%9D%98%20%EA%B0%9C%EC%9A%94(%EC%96%91%EC%8B%9D).pdf" TargetMode="External"/><Relationship Id="rId4" Type="http://schemas.openxmlformats.org/officeDocument/2006/relationships/hyperlink" Target="https://kcia.or.kr/home/law/law_09.php?type=view&amp;no=5389&amp;ss=page%3D%26skind%3DTITLE_CNTNT%26sword%3D%EB%AA%85%EB%AA%85%26ob%3D" TargetMode="External"/><Relationship Id="rId9" Type="http://schemas.openxmlformats.org/officeDocument/2006/relationships/hyperlink" Target="https://kcia.or.kr/home/law/%EC%95%88%EC%A0%84%EC%84%B1%ED%8F%89%EA%B0%80%EB%B3%B4%EA%B3%A0%EC%84%9C(%EC%98%88%EC%8B%9C).pdf"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E_6CB7AFF9.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A_7954FFFB.xml"/><Relationship Id="rId7" Type="http://schemas.openxmlformats.org/officeDocument/2006/relationships/hyperlink" Target="https://www.singlewindow.cn/fs/STADOCROOT/09/B2/AE/C3E3F190560D2FCBCE8FF5C7ED.pdf?_downloadmode=1&amp;_rnd=1750819913812&amp;filenamex=201C53554E007A9753E3201D680751C6724875286237624B518CFF088D277269753362A5002D4E0AFF09005F00320030003200350030003600310038002E007000640066"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sc.singlewindow.cn/wmzx/zcfg?articleId=2005181785205510145" TargetMode="External"/><Relationship Id="rId5" Type="http://schemas.openxmlformats.org/officeDocument/2006/relationships/hyperlink" Target="https://kcia.or.kr/home/law/law_09.php?type=view&amp;no=17610&amp;ss=page%3D%26skind%3DTITLE_CNTNT%26sword%3D%EA%B2%80%EC%97%AD%26ob%3D" TargetMode="External"/><Relationship Id="rId4" Type="http://schemas.openxmlformats.org/officeDocument/2006/relationships/hyperlink" Target="https://www.singlewindow.cn/#/"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748029" y="3022573"/>
            <a:ext cx="5788354" cy="65537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ko-KR" sz="2800" b="1" i="0" u="none" strike="noStrike" cap="none">
                <a:solidFill>
                  <a:schemeClr val="dk1"/>
                </a:solidFill>
                <a:latin typeface="Malgun Gothic"/>
                <a:ea typeface="Malgun Gothic"/>
                <a:cs typeface="Malgun Gothic"/>
                <a:sym typeface="Malgun Gothic"/>
              </a:rPr>
              <a:t>중국 화장품 수출 절차</a:t>
            </a:r>
            <a:endParaRPr sz="2800" b="1" i="0" u="none" strike="noStrike" cap="none">
              <a:solidFill>
                <a:schemeClr val="dk1"/>
              </a:solidFill>
              <a:latin typeface="Malgun Gothic"/>
              <a:ea typeface="Malgun Gothic"/>
              <a:cs typeface="Malgun Gothic"/>
              <a:sym typeface="Malgun Gothic"/>
            </a:endParaRPr>
          </a:p>
        </p:txBody>
      </p:sp>
      <p:cxnSp>
        <p:nvCxnSpPr>
          <p:cNvPr id="92" name="Google Shape;92;p1"/>
          <p:cNvCxnSpPr/>
          <p:nvPr/>
        </p:nvCxnSpPr>
        <p:spPr>
          <a:xfrm>
            <a:off x="831214" y="865238"/>
            <a:ext cx="10529571" cy="0"/>
          </a:xfrm>
          <a:prstGeom prst="straightConnector1">
            <a:avLst/>
          </a:prstGeom>
          <a:noFill/>
          <a:ln w="28575" cap="flat" cmpd="sng">
            <a:solidFill>
              <a:schemeClr val="accent1"/>
            </a:solidFill>
            <a:prstDash val="solid"/>
            <a:miter lim="8000"/>
            <a:headEnd type="none" w="sm" len="sm"/>
            <a:tailEnd type="none" w="sm" len="sm"/>
          </a:ln>
        </p:spPr>
      </p:cxnSp>
      <p:cxnSp>
        <p:nvCxnSpPr>
          <p:cNvPr id="94" name="Google Shape;94;p1"/>
          <p:cNvCxnSpPr/>
          <p:nvPr/>
        </p:nvCxnSpPr>
        <p:spPr>
          <a:xfrm>
            <a:off x="831213" y="5963264"/>
            <a:ext cx="10529571" cy="0"/>
          </a:xfrm>
          <a:prstGeom prst="straightConnector1">
            <a:avLst/>
          </a:prstGeom>
          <a:noFill/>
          <a:ln w="19050" cap="flat" cmpd="sng">
            <a:solidFill>
              <a:srgbClr val="A5A5A5"/>
            </a:solidFill>
            <a:prstDash val="solid"/>
            <a:miter lim="8000"/>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p:nvPr/>
        </p:nvSpPr>
        <p:spPr>
          <a:xfrm>
            <a:off x="468066" y="528935"/>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화장품 수출 규제 주요 절차</a:t>
            </a:r>
            <a:endParaRPr sz="2000" b="1">
              <a:solidFill>
                <a:srgbClr val="0070C0"/>
              </a:solidFill>
              <a:latin typeface="Malgun Gothic"/>
              <a:ea typeface="Malgun Gothic"/>
              <a:cs typeface="Malgun Gothic"/>
              <a:sym typeface="Malgun Gothic"/>
            </a:endParaRPr>
          </a:p>
        </p:txBody>
      </p:sp>
      <p:cxnSp>
        <p:nvCxnSpPr>
          <p:cNvPr id="101" name="Google Shape;101;p2"/>
          <p:cNvCxnSpPr>
            <a:stCxn id="102" idx="1"/>
            <a:endCxn id="103" idx="3"/>
          </p:cNvCxnSpPr>
          <p:nvPr/>
        </p:nvCxnSpPr>
        <p:spPr>
          <a:xfrm rot="10800000" flipH="1">
            <a:off x="1258418" y="3168080"/>
            <a:ext cx="9639300" cy="8100"/>
          </a:xfrm>
          <a:prstGeom prst="straightConnector1">
            <a:avLst/>
          </a:prstGeom>
          <a:noFill/>
          <a:ln w="19050" cap="flat" cmpd="sng">
            <a:solidFill>
              <a:schemeClr val="accent1"/>
            </a:solidFill>
            <a:prstDash val="solid"/>
            <a:miter lim="8000"/>
            <a:headEnd type="none" w="sm" len="sm"/>
            <a:tailEnd type="none" w="sm" len="sm"/>
          </a:ln>
        </p:spPr>
      </p:cxnSp>
      <p:pic>
        <p:nvPicPr>
          <p:cNvPr id="102" name="Google Shape;102;p2" descr="image.png"/>
          <p:cNvPicPr preferRelativeResize="0"/>
          <p:nvPr/>
        </p:nvPicPr>
        <p:blipFill rotWithShape="1">
          <a:blip r:embed="rId3">
            <a:alphaModFix/>
          </a:blip>
          <a:srcRect/>
          <a:stretch/>
        </p:blipFill>
        <p:spPr>
          <a:xfrm>
            <a:off x="1258418" y="2838042"/>
            <a:ext cx="676275" cy="676275"/>
          </a:xfrm>
          <a:prstGeom prst="rect">
            <a:avLst/>
          </a:prstGeom>
          <a:noFill/>
          <a:ln>
            <a:noFill/>
          </a:ln>
        </p:spPr>
      </p:pic>
      <p:pic>
        <p:nvPicPr>
          <p:cNvPr id="104" name="Google Shape;104;p2" descr="image.png"/>
          <p:cNvPicPr preferRelativeResize="0"/>
          <p:nvPr/>
        </p:nvPicPr>
        <p:blipFill rotWithShape="1">
          <a:blip r:embed="rId4">
            <a:alphaModFix/>
          </a:blip>
          <a:srcRect/>
          <a:stretch/>
        </p:blipFill>
        <p:spPr>
          <a:xfrm>
            <a:off x="3428660" y="2838040"/>
            <a:ext cx="676275" cy="676275"/>
          </a:xfrm>
          <a:prstGeom prst="rect">
            <a:avLst/>
          </a:prstGeom>
          <a:noFill/>
          <a:ln>
            <a:noFill/>
          </a:ln>
        </p:spPr>
      </p:pic>
      <p:pic>
        <p:nvPicPr>
          <p:cNvPr id="105" name="Google Shape;105;p2" descr="image.png"/>
          <p:cNvPicPr preferRelativeResize="0"/>
          <p:nvPr/>
        </p:nvPicPr>
        <p:blipFill rotWithShape="1">
          <a:blip r:embed="rId5">
            <a:alphaModFix/>
          </a:blip>
          <a:srcRect/>
          <a:stretch/>
        </p:blipFill>
        <p:spPr>
          <a:xfrm>
            <a:off x="5692880" y="2838040"/>
            <a:ext cx="676275" cy="676275"/>
          </a:xfrm>
          <a:prstGeom prst="rect">
            <a:avLst/>
          </a:prstGeom>
          <a:noFill/>
          <a:ln>
            <a:noFill/>
          </a:ln>
        </p:spPr>
      </p:pic>
      <p:pic>
        <p:nvPicPr>
          <p:cNvPr id="106" name="Google Shape;106;p2" descr="image.png"/>
          <p:cNvPicPr preferRelativeResize="0"/>
          <p:nvPr/>
        </p:nvPicPr>
        <p:blipFill rotWithShape="1">
          <a:blip r:embed="rId6">
            <a:alphaModFix/>
          </a:blip>
          <a:srcRect/>
          <a:stretch/>
        </p:blipFill>
        <p:spPr>
          <a:xfrm>
            <a:off x="7957100" y="2834029"/>
            <a:ext cx="676275" cy="676275"/>
          </a:xfrm>
          <a:prstGeom prst="rect">
            <a:avLst/>
          </a:prstGeom>
          <a:noFill/>
          <a:ln>
            <a:noFill/>
          </a:ln>
        </p:spPr>
      </p:pic>
      <p:pic>
        <p:nvPicPr>
          <p:cNvPr id="103" name="Google Shape;103;p2" descr="image.png"/>
          <p:cNvPicPr preferRelativeResize="0"/>
          <p:nvPr/>
        </p:nvPicPr>
        <p:blipFill rotWithShape="1">
          <a:blip r:embed="rId7">
            <a:alphaModFix/>
          </a:blip>
          <a:srcRect/>
          <a:stretch/>
        </p:blipFill>
        <p:spPr>
          <a:xfrm>
            <a:off x="10221320" y="2830018"/>
            <a:ext cx="676275" cy="676275"/>
          </a:xfrm>
          <a:prstGeom prst="rect">
            <a:avLst/>
          </a:prstGeom>
          <a:noFill/>
          <a:ln>
            <a:noFill/>
          </a:ln>
        </p:spPr>
      </p:pic>
      <p:sp>
        <p:nvSpPr>
          <p:cNvPr id="107" name="Google Shape;107;p2"/>
          <p:cNvSpPr txBox="1"/>
          <p:nvPr/>
        </p:nvSpPr>
        <p:spPr>
          <a:xfrm>
            <a:off x="548905" y="3628652"/>
            <a:ext cx="209279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Malgun Gothic"/>
              <a:buNone/>
            </a:pPr>
            <a:r>
              <a:rPr lang="ko-KR" sz="1400" b="1">
                <a:solidFill>
                  <a:schemeClr val="dk1"/>
                </a:solidFill>
                <a:latin typeface="Malgun Gothic"/>
                <a:ea typeface="Malgun Gothic"/>
                <a:cs typeface="Malgun Gothic"/>
                <a:sym typeface="Malgun Gothic"/>
              </a:rPr>
              <a:t>수출 계약 및 상표등록</a:t>
            </a:r>
            <a:endParaRPr sz="1400" b="1">
              <a:solidFill>
                <a:schemeClr val="dk1"/>
              </a:solidFill>
              <a:latin typeface="Malgun Gothic"/>
              <a:ea typeface="Malgun Gothic"/>
              <a:cs typeface="Malgun Gothic"/>
              <a:sym typeface="Malgun Gothic"/>
            </a:endParaRPr>
          </a:p>
        </p:txBody>
      </p:sp>
      <p:sp>
        <p:nvSpPr>
          <p:cNvPr id="108" name="Google Shape;108;p2"/>
          <p:cNvSpPr txBox="1"/>
          <p:nvPr/>
        </p:nvSpPr>
        <p:spPr>
          <a:xfrm>
            <a:off x="2901056" y="3628652"/>
            <a:ext cx="173451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Malgun Gothic"/>
              <a:buNone/>
            </a:pPr>
            <a:r>
              <a:rPr lang="ko-KR" sz="1400" b="1">
                <a:solidFill>
                  <a:schemeClr val="dk1"/>
                </a:solidFill>
                <a:latin typeface="Malgun Gothic"/>
                <a:ea typeface="Malgun Gothic"/>
                <a:cs typeface="Malgun Gothic"/>
                <a:sym typeface="Malgun Gothic"/>
              </a:rPr>
              <a:t>경내책임자 선임</a:t>
            </a:r>
            <a:endParaRPr sz="1400" b="1">
              <a:solidFill>
                <a:schemeClr val="dk1"/>
              </a:solidFill>
              <a:latin typeface="Malgun Gothic"/>
              <a:ea typeface="Malgun Gothic"/>
              <a:cs typeface="Malgun Gothic"/>
              <a:sym typeface="Malgun Gothic"/>
            </a:endParaRPr>
          </a:p>
        </p:txBody>
      </p:sp>
      <p:sp>
        <p:nvSpPr>
          <p:cNvPr id="109" name="Google Shape;109;p2"/>
          <p:cNvSpPr txBox="1"/>
          <p:nvPr/>
        </p:nvSpPr>
        <p:spPr>
          <a:xfrm>
            <a:off x="5163761" y="3626294"/>
            <a:ext cx="173451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Malgun Gothic"/>
              <a:buNone/>
            </a:pPr>
            <a:r>
              <a:rPr lang="ko-KR" sz="1400" b="1">
                <a:solidFill>
                  <a:schemeClr val="dk1"/>
                </a:solidFill>
                <a:latin typeface="Malgun Gothic"/>
                <a:ea typeface="Malgun Gothic"/>
                <a:cs typeface="Malgun Gothic"/>
                <a:sym typeface="Malgun Gothic"/>
              </a:rPr>
              <a:t>제품 등록/허가</a:t>
            </a:r>
            <a:endParaRPr sz="1400" b="1">
              <a:solidFill>
                <a:schemeClr val="dk1"/>
              </a:solidFill>
              <a:latin typeface="Malgun Gothic"/>
              <a:ea typeface="Malgun Gothic"/>
              <a:cs typeface="Malgun Gothic"/>
              <a:sym typeface="Malgun Gothic"/>
            </a:endParaRPr>
          </a:p>
        </p:txBody>
      </p:sp>
      <p:sp>
        <p:nvSpPr>
          <p:cNvPr id="110" name="Google Shape;110;p2"/>
          <p:cNvSpPr txBox="1"/>
          <p:nvPr/>
        </p:nvSpPr>
        <p:spPr>
          <a:xfrm>
            <a:off x="7526648" y="3626293"/>
            <a:ext cx="153717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Malgun Gothic"/>
              <a:buNone/>
            </a:pPr>
            <a:r>
              <a:rPr lang="ko-KR" sz="1400" b="1">
                <a:solidFill>
                  <a:schemeClr val="dk1"/>
                </a:solidFill>
                <a:latin typeface="Malgun Gothic"/>
                <a:ea typeface="Malgun Gothic"/>
                <a:cs typeface="Malgun Gothic"/>
                <a:sym typeface="Malgun Gothic"/>
              </a:rPr>
              <a:t>수출통관/선적</a:t>
            </a:r>
            <a:endParaRPr sz="1400" b="1">
              <a:solidFill>
                <a:schemeClr val="dk1"/>
              </a:solidFill>
              <a:latin typeface="Malgun Gothic"/>
              <a:ea typeface="Malgun Gothic"/>
              <a:cs typeface="Malgun Gothic"/>
              <a:sym typeface="Malgun Gothic"/>
            </a:endParaRPr>
          </a:p>
        </p:txBody>
      </p:sp>
      <p:sp>
        <p:nvSpPr>
          <p:cNvPr id="111" name="Google Shape;111;p2"/>
          <p:cNvSpPr txBox="1"/>
          <p:nvPr/>
        </p:nvSpPr>
        <p:spPr>
          <a:xfrm>
            <a:off x="9916323" y="3626293"/>
            <a:ext cx="1286268"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Malgun Gothic"/>
              <a:buNone/>
            </a:pPr>
            <a:r>
              <a:rPr lang="ko-KR" sz="1400" b="1">
                <a:solidFill>
                  <a:schemeClr val="dk1"/>
                </a:solidFill>
                <a:latin typeface="Malgun Gothic"/>
                <a:ea typeface="Malgun Gothic"/>
                <a:cs typeface="Malgun Gothic"/>
                <a:sym typeface="Malgun Gothic"/>
              </a:rPr>
              <a:t>현지통관</a:t>
            </a:r>
            <a:endParaRPr sz="1400" b="1">
              <a:solidFill>
                <a:schemeClr val="dk1"/>
              </a:solidFill>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605705806"/>
              </p:ext>
            </p:extLst>
          </p:nvPr>
        </p:nvGraphicFramePr>
        <p:xfrm>
          <a:off x="405898" y="1616158"/>
          <a:ext cx="11178500" cy="4095850"/>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618000">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 수출을 위해 수출자와 중국 구매자 또는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간 제품</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가격</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수량</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결제조건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인도조건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납기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통관</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인허가 책임 등을 확정하는 단계</a:t>
                      </a:r>
                      <a:endParaRPr i="0" dirty="0"/>
                    </a:p>
                  </a:txBody>
                  <a:tcPr marL="91450" marR="91450" marT="45725" marB="45725" anchor="ctr"/>
                </a:tc>
                <a:extLst>
                  <a:ext uri="{0D108BD9-81ED-4DB2-BD59-A6C34878D82A}">
                    <a16:rowId xmlns:a16="http://schemas.microsoft.com/office/drawing/2014/main" val="10000"/>
                  </a:ext>
                </a:extLst>
              </a:tr>
              <a:tr h="618000">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수출계약서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발주서</a:t>
                      </a:r>
                      <a:r>
                        <a:rPr lang="en-US" altLang="ko-KR" sz="1000" b="0" i="0" u="none" strike="noStrike" cap="none" dirty="0">
                          <a:solidFill>
                            <a:schemeClr val="dk1"/>
                          </a:solidFill>
                          <a:latin typeface="Malgun Gothic"/>
                          <a:ea typeface="Malgun Gothic"/>
                          <a:cs typeface="Malgun Gothic"/>
                          <a:sym typeface="Malgun Gothic"/>
                        </a:rPr>
                        <a:t>(PO), </a:t>
                      </a:r>
                      <a:r>
                        <a:rPr lang="ko-KR" altLang="en-US" sz="1000" b="0" i="0" u="none" strike="noStrike" cap="none" dirty="0">
                          <a:solidFill>
                            <a:schemeClr val="dk1"/>
                          </a:solidFill>
                          <a:latin typeface="Malgun Gothic"/>
                          <a:ea typeface="Malgun Gothic"/>
                          <a:cs typeface="Malgun Gothic"/>
                          <a:sym typeface="Malgun Gothic"/>
                        </a:rPr>
                        <a:t>주문확인서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견적송장</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err="1">
                          <a:solidFill>
                            <a:schemeClr val="dk1"/>
                          </a:solidFill>
                          <a:latin typeface="Malgun Gothic"/>
                          <a:ea typeface="Malgun Gothic"/>
                          <a:cs typeface="Malgun Gothic"/>
                          <a:sym typeface="Malgun Gothic"/>
                        </a:rPr>
                        <a:t>형식송장</a:t>
                      </a:r>
                      <a:r>
                        <a:rPr lang="en-US" altLang="ko-KR" sz="1000" b="0" i="0" u="none" strike="noStrike" cap="none" dirty="0">
                          <a:solidFill>
                            <a:schemeClr val="dk1"/>
                          </a:solidFill>
                          <a:latin typeface="Malgun Gothic"/>
                          <a:ea typeface="Malgun Gothic"/>
                          <a:cs typeface="Malgun Gothic"/>
                          <a:sym typeface="Malgun Gothic"/>
                        </a:rPr>
                        <a:t>(Proforma Invoice) </a:t>
                      </a:r>
                      <a:r>
                        <a:rPr lang="ko-KR" altLang="en-US" sz="1000" b="0" i="0" u="none" strike="noStrike" cap="none" dirty="0">
                          <a:solidFill>
                            <a:schemeClr val="dk1"/>
                          </a:solidFill>
                          <a:latin typeface="Malgun Gothic"/>
                          <a:ea typeface="Malgun Gothic"/>
                          <a:cs typeface="Malgun Gothic"/>
                          <a:sym typeface="Malgun Gothic"/>
                        </a:rPr>
                        <a:t>등을 통해 거래조건 확정</a:t>
                      </a:r>
                      <a:endParaRPr dirty="0"/>
                    </a:p>
                  </a:txBody>
                  <a:tcPr marL="91450" marR="91450" marT="45725" marB="45725" anchor="ctr"/>
                </a:tc>
                <a:extLst>
                  <a:ext uri="{0D108BD9-81ED-4DB2-BD59-A6C34878D82A}">
                    <a16:rowId xmlns:a16="http://schemas.microsoft.com/office/drawing/2014/main" val="10001"/>
                  </a:ext>
                </a:extLst>
              </a:tr>
              <a:tr h="618000">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국내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한국무역협회</a:t>
                      </a:r>
                      <a:r>
                        <a:rPr lang="en-US" altLang="ko-KR" sz="1000" b="0" i="0" u="none" strike="noStrike" cap="none" dirty="0">
                          <a:solidFill>
                            <a:schemeClr val="dk1"/>
                          </a:solidFill>
                          <a:latin typeface="Malgun Gothic"/>
                          <a:ea typeface="Malgun Gothic"/>
                          <a:cs typeface="Malgun Gothic"/>
                          <a:sym typeface="Malgun Gothic"/>
                        </a:rPr>
                        <a:t>, KOTRA, </a:t>
                      </a:r>
                      <a:r>
                        <a:rPr lang="ko-KR" altLang="en-US" sz="1000" b="0" i="0" u="none" strike="noStrike" cap="none" dirty="0">
                          <a:solidFill>
                            <a:schemeClr val="dk1"/>
                          </a:solidFill>
                          <a:latin typeface="Malgun Gothic"/>
                          <a:ea typeface="Malgun Gothic"/>
                          <a:cs typeface="Malgun Gothic"/>
                          <a:sym typeface="Malgun Gothic"/>
                        </a:rPr>
                        <a:t>관세청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한국무역보험공사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대한상사중재원 </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해관총서</a:t>
                      </a: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지방 약품감독관리국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시장감독관리총국</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계약서 서식 참고</a:t>
                      </a:r>
                      <a:endParaRPr sz="1000" b="0" i="0" u="none" strike="noStrike" cap="none" dirty="0">
                        <a:solidFill>
                          <a:schemeClr val="dk1"/>
                        </a:solidFill>
                        <a:latin typeface="Malgun Gothic"/>
                        <a:ea typeface="Malgun Gothic"/>
                        <a:cs typeface="Malgun Gothic"/>
                        <a:sym typeface="Malgun Gothic"/>
                      </a:endParaRPr>
                    </a:p>
                    <a:p>
                      <a:pPr latinLnBrk="0">
                        <a:lnSpc>
                          <a:spcPct val="150000"/>
                        </a:lnSpc>
                      </a:pPr>
                      <a:r>
                        <a:rPr lang="en-US" altLang="ko-KR" sz="1000" b="0" i="0" u="none" strike="noStrike" kern="1200" cap="none" dirty="0">
                          <a:solidFill>
                            <a:schemeClr val="tx1"/>
                          </a:solidFill>
                          <a:effectLst/>
                          <a:latin typeface="맑은 고딕"/>
                          <a:ea typeface="맑은 고딕"/>
                          <a:cs typeface="맑은 고딕"/>
                          <a:sym typeface="Arial"/>
                        </a:rPr>
                        <a:t>* </a:t>
                      </a:r>
                      <a:r>
                        <a:rPr lang="ko-KR" altLang="en-US" sz="1000" b="0" i="0" u="none" strike="noStrike" kern="1200" cap="none" dirty="0">
                          <a:solidFill>
                            <a:schemeClr val="tx1"/>
                          </a:solidFill>
                          <a:effectLst/>
                          <a:latin typeface="맑은 고딕"/>
                          <a:ea typeface="맑은 고딕"/>
                          <a:cs typeface="맑은 고딕"/>
                          <a:sym typeface="Arial"/>
                          <a:hlinkClick r:id="rId4"/>
                        </a:rPr>
                        <a:t>통합무역정보서비스</a:t>
                      </a:r>
                      <a:endParaRPr lang="en-US" altLang="ko-KR" sz="1000" b="0" i="0" u="none" strike="noStrike" kern="1200" cap="none" dirty="0">
                        <a:solidFill>
                          <a:schemeClr val="tx1"/>
                        </a:solidFill>
                        <a:effectLst/>
                        <a:latin typeface="맑은 고딕"/>
                        <a:ea typeface="맑은 고딕"/>
                        <a:cs typeface="맑은 고딕"/>
                        <a:sym typeface="Arial"/>
                      </a:endParaRPr>
                    </a:p>
                  </a:txBody>
                  <a:tcPr marL="91450" marR="91450" marT="45725" marB="45725" anchor="ctr"/>
                </a:tc>
                <a:extLst>
                  <a:ext uri="{0D108BD9-81ED-4DB2-BD59-A6C34878D82A}">
                    <a16:rowId xmlns:a16="http://schemas.microsoft.com/office/drawing/2014/main" val="10003"/>
                  </a:ext>
                </a:extLst>
              </a:tr>
              <a:tr h="618000">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a:txBody>
                    <a:bodyPr/>
                    <a:lstStyle/>
                    <a:p>
                      <a:pPr marL="0" marR="0" lvl="0" indent="0" algn="l" rtl="0">
                        <a:spcBef>
                          <a:spcPts val="0"/>
                        </a:spcBef>
                        <a:spcAft>
                          <a:spcPts val="0"/>
                        </a:spcAft>
                        <a:buNone/>
                      </a:pPr>
                      <a:r>
                        <a:rPr lang="ko-KR" altLang="ko-KR" sz="1000" b="0" i="0" u="none" strike="noStrike" cap="none" dirty="0">
                          <a:solidFill>
                            <a:schemeClr val="dk1"/>
                          </a:solidFill>
                          <a:effectLst/>
                          <a:latin typeface="맑은 고딕"/>
                          <a:ea typeface="맑은 고딕"/>
                          <a:cs typeface="맑은 고딕"/>
                          <a:sym typeface="Arial"/>
                        </a:rPr>
                        <a:t>① 중국 거래상대방 및 수입업자 정보 확인 → ② 제품의 중국 수입 가능 여부, HS </a:t>
                      </a:r>
                      <a:r>
                        <a:rPr lang="ko-KR" altLang="ko-KR" sz="1000" b="0" i="0" u="none" strike="noStrike" cap="none" dirty="0" err="1">
                          <a:solidFill>
                            <a:schemeClr val="dk1"/>
                          </a:solidFill>
                          <a:effectLst/>
                          <a:latin typeface="맑은 고딕"/>
                          <a:ea typeface="맑은 고딕"/>
                          <a:cs typeface="맑은 고딕"/>
                          <a:sym typeface="Arial"/>
                        </a:rPr>
                        <a:t>Code</a:t>
                      </a:r>
                      <a:r>
                        <a:rPr lang="ko-KR" altLang="ko-KR" sz="1000" b="0" i="0" u="none" strike="noStrike" cap="none" dirty="0">
                          <a:solidFill>
                            <a:schemeClr val="dk1"/>
                          </a:solidFill>
                          <a:effectLst/>
                          <a:latin typeface="맑은 고딕"/>
                          <a:ea typeface="맑은 고딕"/>
                          <a:cs typeface="맑은 고딕"/>
                          <a:sym typeface="Arial"/>
                        </a:rPr>
                        <a:t>, 관세율, NMPA </a:t>
                      </a:r>
                      <a:r>
                        <a:rPr lang="ko-KR" altLang="ko-KR" sz="1000" b="0" i="0" u="none" strike="noStrike" cap="none" dirty="0" err="1">
                          <a:solidFill>
                            <a:schemeClr val="dk1"/>
                          </a:solidFill>
                          <a:effectLst/>
                          <a:latin typeface="맑은 고딕"/>
                          <a:ea typeface="맑은 고딕"/>
                          <a:cs typeface="맑은 고딕"/>
                          <a:sym typeface="Arial"/>
                        </a:rPr>
                        <a:t>등록·허가</a:t>
                      </a:r>
                      <a:r>
                        <a:rPr lang="ko-KR" altLang="ko-KR" sz="1000" b="0" i="0" u="none" strike="noStrike" cap="none" dirty="0">
                          <a:solidFill>
                            <a:schemeClr val="dk1"/>
                          </a:solidFill>
                          <a:effectLst/>
                          <a:latin typeface="맑은 고딕"/>
                          <a:ea typeface="맑은 고딕"/>
                          <a:cs typeface="맑은 고딕"/>
                          <a:sym typeface="Arial"/>
                        </a:rPr>
                        <a:t>, </a:t>
                      </a:r>
                      <a:r>
                        <a:rPr lang="ko-KR" altLang="ko-KR" sz="1000" b="0" i="0" u="none" strike="noStrike" cap="none" dirty="0" err="1">
                          <a:solidFill>
                            <a:schemeClr val="dk1"/>
                          </a:solidFill>
                          <a:effectLst/>
                          <a:latin typeface="맑은 고딕"/>
                          <a:ea typeface="맑은 고딕"/>
                          <a:cs typeface="맑은 고딕"/>
                          <a:sym typeface="Arial"/>
                        </a:rPr>
                        <a:t>라벨링</a:t>
                      </a:r>
                      <a:r>
                        <a:rPr lang="ko-KR" altLang="ko-KR" sz="1000" b="0" i="0" u="none" strike="noStrike" cap="none" dirty="0">
                          <a:solidFill>
                            <a:schemeClr val="dk1"/>
                          </a:solidFill>
                          <a:effectLst/>
                          <a:latin typeface="맑은 고딕"/>
                          <a:ea typeface="맑은 고딕"/>
                          <a:cs typeface="맑은 고딕"/>
                          <a:sym typeface="Arial"/>
                        </a:rPr>
                        <a:t> 요건 확인 → ③ </a:t>
                      </a:r>
                      <a:r>
                        <a:rPr lang="ko-KR" altLang="ko-KR" sz="1000" b="0" i="0" u="none" strike="noStrike" cap="none" dirty="0" err="1">
                          <a:solidFill>
                            <a:schemeClr val="dk1"/>
                          </a:solidFill>
                          <a:effectLst/>
                          <a:latin typeface="맑은 고딕"/>
                          <a:ea typeface="맑은 고딕"/>
                          <a:cs typeface="맑은 고딕"/>
                          <a:sym typeface="Arial"/>
                        </a:rPr>
                        <a:t>제품명·브랜드명·규격·수량·단가·통화</a:t>
                      </a:r>
                      <a:r>
                        <a:rPr lang="ko-KR" altLang="ko-KR" sz="1000" b="0" i="0" u="none" strike="noStrike" cap="none" dirty="0">
                          <a:solidFill>
                            <a:schemeClr val="dk1"/>
                          </a:solidFill>
                          <a:effectLst/>
                          <a:latin typeface="맑은 고딕"/>
                          <a:ea typeface="맑은 고딕"/>
                          <a:cs typeface="맑은 고딕"/>
                          <a:sym typeface="Arial"/>
                        </a:rPr>
                        <a:t> 확정 → ④ </a:t>
                      </a:r>
                      <a:r>
                        <a:rPr lang="ko-KR" altLang="ko-KR" sz="1000" b="0" i="0" u="none" strike="noStrike" cap="none" dirty="0" err="1">
                          <a:solidFill>
                            <a:schemeClr val="dk1"/>
                          </a:solidFill>
                          <a:effectLst/>
                          <a:latin typeface="맑은 고딕"/>
                          <a:ea typeface="맑은 고딕"/>
                          <a:cs typeface="맑은 고딕"/>
                          <a:sym typeface="Arial"/>
                        </a:rPr>
                        <a:t>결제조건·Incoterms·선적조건·납기</a:t>
                      </a:r>
                      <a:r>
                        <a:rPr lang="ko-KR" altLang="ko-KR" sz="1000" b="0" i="0" u="none" strike="noStrike" cap="none" dirty="0">
                          <a:solidFill>
                            <a:schemeClr val="dk1"/>
                          </a:solidFill>
                          <a:effectLst/>
                          <a:latin typeface="맑은 고딕"/>
                          <a:ea typeface="맑은 고딕"/>
                          <a:cs typeface="맑은 고딕"/>
                          <a:sym typeface="Arial"/>
                        </a:rPr>
                        <a:t> 확정 → ⑤ NMPA </a:t>
                      </a:r>
                      <a:r>
                        <a:rPr lang="ko-KR" altLang="ko-KR" sz="1000" b="0" i="0" u="none" strike="noStrike" cap="none" dirty="0" err="1">
                          <a:solidFill>
                            <a:schemeClr val="dk1"/>
                          </a:solidFill>
                          <a:effectLst/>
                          <a:latin typeface="맑은 고딕"/>
                          <a:ea typeface="맑은 고딕"/>
                          <a:cs typeface="맑은 고딕"/>
                          <a:sym typeface="Arial"/>
                        </a:rPr>
                        <a:t>등록·허가</a:t>
                      </a:r>
                      <a:r>
                        <a:rPr lang="ko-KR" altLang="ko-KR" sz="1000" b="0" i="0" u="none" strike="noStrike" cap="none" dirty="0">
                          <a:solidFill>
                            <a:schemeClr val="dk1"/>
                          </a:solidFill>
                          <a:effectLst/>
                          <a:latin typeface="맑은 고딕"/>
                          <a:ea typeface="맑은 고딕"/>
                          <a:cs typeface="맑은 고딕"/>
                          <a:sym typeface="Arial"/>
                        </a:rPr>
                        <a:t>, 경내책임자, </a:t>
                      </a:r>
                      <a:r>
                        <a:rPr lang="ko-KR" altLang="ko-KR" sz="1000" b="0" i="0" u="none" strike="noStrike" cap="none" dirty="0" err="1">
                          <a:solidFill>
                            <a:schemeClr val="dk1"/>
                          </a:solidFill>
                          <a:effectLst/>
                          <a:latin typeface="맑은 고딕"/>
                          <a:ea typeface="맑은 고딕"/>
                          <a:cs typeface="맑은 고딕"/>
                          <a:sym typeface="Arial"/>
                        </a:rPr>
                        <a:t>라벨링</a:t>
                      </a:r>
                      <a:r>
                        <a:rPr lang="ko-KR" altLang="ko-KR" sz="1000" b="0" i="0" u="none" strike="noStrike" cap="none" dirty="0">
                          <a:solidFill>
                            <a:schemeClr val="dk1"/>
                          </a:solidFill>
                          <a:effectLst/>
                          <a:latin typeface="맑은 고딕"/>
                          <a:ea typeface="맑은 고딕"/>
                          <a:cs typeface="맑은 고딕"/>
                          <a:sym typeface="Arial"/>
                        </a:rPr>
                        <a:t> 및 통관 책임 주체 확인 → ⑥ 발주서/</a:t>
                      </a:r>
                      <a:r>
                        <a:rPr lang="ko-KR" altLang="ko-KR" sz="1000" b="0" i="0" u="none" strike="noStrike" cap="none" dirty="0" err="1">
                          <a:solidFill>
                            <a:schemeClr val="dk1"/>
                          </a:solidFill>
                          <a:effectLst/>
                          <a:latin typeface="맑은 고딕"/>
                          <a:ea typeface="맑은 고딕"/>
                          <a:cs typeface="맑은 고딕"/>
                          <a:sym typeface="Arial"/>
                        </a:rPr>
                        <a:t>견적송장</a:t>
                      </a:r>
                      <a:r>
                        <a:rPr lang="ko-KR" altLang="ko-KR" sz="1000" b="0" i="0" u="none" strike="noStrike" cap="none" dirty="0">
                          <a:solidFill>
                            <a:schemeClr val="dk1"/>
                          </a:solidFill>
                          <a:effectLst/>
                          <a:latin typeface="맑은 고딕"/>
                          <a:ea typeface="맑은 고딕"/>
                          <a:cs typeface="맑은 고딕"/>
                          <a:sym typeface="Arial"/>
                        </a:rPr>
                        <a:t> 확인 → ⑦ 수출계약 체결 → ⑧ 계약내용과 </a:t>
                      </a:r>
                      <a:r>
                        <a:rPr lang="ko-KR" altLang="ko-KR" sz="1000" b="0" i="0" u="none" strike="noStrike" cap="none" dirty="0" err="1">
                          <a:solidFill>
                            <a:schemeClr val="dk1"/>
                          </a:solidFill>
                          <a:effectLst/>
                          <a:latin typeface="맑은 고딕"/>
                          <a:ea typeface="맑은 고딕"/>
                          <a:cs typeface="맑은 고딕"/>
                          <a:sym typeface="Arial"/>
                        </a:rPr>
                        <a:t>상업송장·포장명세서</a:t>
                      </a:r>
                      <a:r>
                        <a:rPr lang="ko-KR" altLang="ko-KR" sz="1000" b="0" i="0" u="none" strike="noStrike" cap="none" dirty="0">
                          <a:solidFill>
                            <a:schemeClr val="dk1"/>
                          </a:solidFill>
                          <a:effectLst/>
                          <a:latin typeface="맑은 고딕"/>
                          <a:ea typeface="맑은 고딕"/>
                          <a:cs typeface="맑은 고딕"/>
                          <a:sym typeface="Arial"/>
                        </a:rPr>
                        <a:t> 기재정보의 정합성 확인</a:t>
                      </a:r>
                      <a:endParaRPr sz="1000" dirty="0"/>
                    </a:p>
                  </a:txBody>
                  <a:tcPr marL="91450" marR="91450" marT="45725" marB="45725" anchor="ct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a:t>주의사항</a:t>
                      </a:r>
                      <a:endParaRPr sz="1200" b="1" u="none" strike="noStrike" cap="none"/>
                    </a:p>
                    <a:p>
                      <a:pPr marL="0" marR="0" lvl="0" indent="0" algn="ctr" rtl="0">
                        <a:spcBef>
                          <a:spcPts val="0"/>
                        </a:spcBef>
                        <a:spcAft>
                          <a:spcPts val="0"/>
                        </a:spcAft>
                        <a:buNone/>
                      </a:pPr>
                      <a:r>
                        <a:rPr lang="ko-KR" sz="1200" b="1" u="none" strike="noStrike" cap="none"/>
                        <a:t>또는</a:t>
                      </a:r>
                      <a:endParaRPr sz="1200" b="1" u="none" strike="noStrike" cap="none"/>
                    </a:p>
                    <a:p>
                      <a:pPr marL="0" marR="0" lvl="0" indent="0" algn="ctr" rtl="0">
                        <a:spcBef>
                          <a:spcPts val="0"/>
                        </a:spcBef>
                        <a:spcAft>
                          <a:spcPts val="0"/>
                        </a:spcAft>
                        <a:buNone/>
                      </a:pPr>
                      <a:r>
                        <a:rPr lang="ko-KR" sz="1200" b="1" u="none" strike="noStrike" cap="none"/>
                        <a:t>확인사항</a:t>
                      </a:r>
                      <a:endParaRPr/>
                    </a:p>
                  </a:txBody>
                  <a:tcPr marL="91450" marR="91450" marT="45725" marB="45725" anchor="ctr"/>
                </a:tc>
                <a:tc>
                  <a:txBody>
                    <a:bodyPr/>
                    <a:lstStyle/>
                    <a:p>
                      <a:pPr marL="285750" marR="0" lvl="0" indent="-285750" algn="l" rtl="0">
                        <a:spcBef>
                          <a:spcPts val="0"/>
                        </a:spcBef>
                        <a:spcAft>
                          <a:spcPts val="0"/>
                        </a:spcAft>
                        <a:buFont typeface="Arial" panose="020B0604020202020204" pitchFamily="34" charset="0"/>
                        <a:buChar char="•"/>
                      </a:pPr>
                      <a:r>
                        <a:rPr lang="ko-KR" altLang="en-US" sz="1000" dirty="0"/>
                        <a:t>계약상 매수인</a:t>
                      </a:r>
                      <a:r>
                        <a:rPr lang="en-US" altLang="ko-KR" sz="1000" dirty="0"/>
                        <a:t>, </a:t>
                      </a:r>
                      <a:r>
                        <a:rPr lang="ko-KR" altLang="en-US" sz="1000" dirty="0"/>
                        <a:t>수하인</a:t>
                      </a:r>
                      <a:r>
                        <a:rPr lang="en-US" altLang="ko-KR" sz="1000" dirty="0"/>
                        <a:t>, </a:t>
                      </a:r>
                      <a:r>
                        <a:rPr lang="ko-KR" altLang="en-US" sz="1000" dirty="0"/>
                        <a:t>중국 수입업자</a:t>
                      </a:r>
                      <a:r>
                        <a:rPr lang="en-US" altLang="ko-KR" sz="1000" dirty="0"/>
                        <a:t>, </a:t>
                      </a:r>
                      <a:r>
                        <a:rPr lang="ko-KR" altLang="en-US" sz="1000" dirty="0"/>
                        <a:t>경내책임자 정보 구분 및 정합성 확인 필요</a:t>
                      </a:r>
                    </a:p>
                    <a:p>
                      <a:pPr marL="285750" marR="0" lvl="0" indent="-285750" algn="l" rtl="0">
                        <a:spcBef>
                          <a:spcPts val="0"/>
                        </a:spcBef>
                        <a:spcAft>
                          <a:spcPts val="0"/>
                        </a:spcAft>
                        <a:buFont typeface="Arial" panose="020B0604020202020204" pitchFamily="34" charset="0"/>
                        <a:buChar char="•"/>
                      </a:pPr>
                      <a:r>
                        <a:rPr lang="ko-KR" altLang="en-US" sz="1000" dirty="0"/>
                        <a:t>제품명</a:t>
                      </a:r>
                      <a:r>
                        <a:rPr lang="en-US" altLang="ko-KR" sz="1000" dirty="0"/>
                        <a:t>, </a:t>
                      </a:r>
                      <a:r>
                        <a:rPr lang="ko-KR" altLang="en-US" sz="1000" dirty="0"/>
                        <a:t>브랜드명</a:t>
                      </a:r>
                      <a:r>
                        <a:rPr lang="en-US" altLang="ko-KR" sz="1000" dirty="0"/>
                        <a:t>, </a:t>
                      </a:r>
                      <a:r>
                        <a:rPr lang="ko-KR" altLang="en-US" sz="1000" dirty="0"/>
                        <a:t>규격</a:t>
                      </a:r>
                      <a:r>
                        <a:rPr lang="en-US" altLang="ko-KR" sz="1000" dirty="0"/>
                        <a:t>, </a:t>
                      </a:r>
                      <a:r>
                        <a:rPr lang="ko-KR" altLang="en-US" sz="1000" dirty="0"/>
                        <a:t>수량</a:t>
                      </a:r>
                      <a:r>
                        <a:rPr lang="en-US" altLang="ko-KR" sz="1000" dirty="0"/>
                        <a:t>, </a:t>
                      </a:r>
                      <a:r>
                        <a:rPr lang="ko-KR" altLang="en-US" sz="1000" dirty="0"/>
                        <a:t>단가 등 계약정보와 </a:t>
                      </a:r>
                      <a:r>
                        <a:rPr lang="ko-KR" altLang="en-US" sz="1000" dirty="0" err="1"/>
                        <a:t>상업송장</a:t>
                      </a:r>
                      <a:r>
                        <a:rPr lang="en-US" altLang="ko-KR" sz="1000" dirty="0"/>
                        <a:t>·</a:t>
                      </a:r>
                      <a:r>
                        <a:rPr lang="ko-KR" altLang="en-US" sz="1000" dirty="0"/>
                        <a:t>포장명세서 기재정보 일치 필요</a:t>
                      </a:r>
                    </a:p>
                    <a:p>
                      <a:pPr marL="285750" marR="0" lvl="0" indent="-285750" algn="l" rtl="0">
                        <a:spcBef>
                          <a:spcPts val="0"/>
                        </a:spcBef>
                        <a:spcAft>
                          <a:spcPts val="0"/>
                        </a:spcAft>
                        <a:buFont typeface="Arial" panose="020B0604020202020204" pitchFamily="34" charset="0"/>
                        <a:buChar char="•"/>
                      </a:pPr>
                      <a:r>
                        <a:rPr lang="en-US" altLang="ko-KR" sz="1000" dirty="0"/>
                        <a:t>Incoterms 2020 </a:t>
                      </a:r>
                      <a:r>
                        <a:rPr lang="ko-KR" altLang="en-US" sz="1000" dirty="0"/>
                        <a:t>기준 비용</a:t>
                      </a:r>
                      <a:r>
                        <a:rPr lang="en-US" altLang="ko-KR" sz="1000" dirty="0"/>
                        <a:t>·</a:t>
                      </a:r>
                      <a:r>
                        <a:rPr lang="ko-KR" altLang="en-US" sz="1000" dirty="0"/>
                        <a:t>위험 이전 시점 명확화 필요</a:t>
                      </a:r>
                    </a:p>
                    <a:p>
                      <a:pPr marL="285750" marR="0" lvl="0" indent="-285750" algn="l" rtl="0">
                        <a:spcBef>
                          <a:spcPts val="0"/>
                        </a:spcBef>
                        <a:spcAft>
                          <a:spcPts val="0"/>
                        </a:spcAft>
                        <a:buFont typeface="Arial" panose="020B0604020202020204" pitchFamily="34" charset="0"/>
                        <a:buChar char="•"/>
                      </a:pPr>
                      <a:r>
                        <a:rPr lang="en-US" altLang="ko-KR" sz="1000" dirty="0"/>
                        <a:t>NMPA </a:t>
                      </a:r>
                      <a:r>
                        <a:rPr lang="ko-KR" altLang="en-US" sz="1000" dirty="0"/>
                        <a:t>등록</a:t>
                      </a:r>
                      <a:r>
                        <a:rPr lang="en-US" altLang="ko-KR" sz="1000" dirty="0"/>
                        <a:t>·</a:t>
                      </a:r>
                      <a:r>
                        <a:rPr lang="ko-KR" altLang="en-US" sz="1000" dirty="0"/>
                        <a:t>허가</a:t>
                      </a:r>
                      <a:r>
                        <a:rPr lang="en-US" altLang="ko-KR" sz="1000" dirty="0"/>
                        <a:t>, </a:t>
                      </a:r>
                      <a:r>
                        <a:rPr lang="ko-KR" altLang="en-US" sz="1000" dirty="0"/>
                        <a:t>중문라벨</a:t>
                      </a:r>
                      <a:r>
                        <a:rPr lang="en-US" altLang="ko-KR" sz="1000" dirty="0"/>
                        <a:t>, </a:t>
                      </a:r>
                      <a:r>
                        <a:rPr lang="ko-KR" altLang="en-US" sz="1000" dirty="0"/>
                        <a:t>통관 불합격</a:t>
                      </a:r>
                      <a:r>
                        <a:rPr lang="en-US" altLang="ko-KR" sz="1000" dirty="0"/>
                        <a:t>, </a:t>
                      </a:r>
                      <a:r>
                        <a:rPr lang="ko-KR" altLang="en-US" sz="1000" dirty="0"/>
                        <a:t>반송</a:t>
                      </a:r>
                      <a:r>
                        <a:rPr lang="en-US" altLang="ko-KR" sz="1000" dirty="0"/>
                        <a:t>·</a:t>
                      </a:r>
                      <a:r>
                        <a:rPr lang="ko-KR" altLang="en-US" sz="1000" dirty="0"/>
                        <a:t>폐기 책임 주체를 계약 단계에서 확인 필요</a:t>
                      </a:r>
                    </a:p>
                    <a:p>
                      <a:pPr marL="285750" marR="0" lvl="0" indent="-285750" algn="l" rtl="0">
                        <a:spcBef>
                          <a:spcPts val="0"/>
                        </a:spcBef>
                        <a:spcAft>
                          <a:spcPts val="0"/>
                        </a:spcAft>
                        <a:buFont typeface="Arial" panose="020B0604020202020204" pitchFamily="34" charset="0"/>
                        <a:buChar char="•"/>
                      </a:pPr>
                      <a:r>
                        <a:rPr lang="ko-KR" altLang="en-US" sz="1000" dirty="0"/>
                        <a:t>현지 수입업자 또는 총판의 상표 임의 출원을 방지하기 위해 상표권 귀속 및 사용제한 조항 검토 필요</a:t>
                      </a:r>
                    </a:p>
                    <a:p>
                      <a:pPr marL="285750" marR="0" lvl="0" indent="-285750" algn="l" rtl="0">
                        <a:spcBef>
                          <a:spcPts val="0"/>
                        </a:spcBef>
                        <a:spcAft>
                          <a:spcPts val="0"/>
                        </a:spcAft>
                        <a:buFont typeface="Arial" panose="020B0604020202020204" pitchFamily="34" charset="0"/>
                        <a:buChar char="•"/>
                      </a:pPr>
                      <a:r>
                        <a:rPr lang="ko-KR" altLang="en-US" sz="1000" dirty="0"/>
                        <a:t>신규 거래처는 선금</a:t>
                      </a:r>
                      <a:r>
                        <a:rPr lang="en-US" altLang="ko-KR" sz="1000" dirty="0"/>
                        <a:t>, </a:t>
                      </a:r>
                      <a:r>
                        <a:rPr lang="ko-KR" altLang="en-US" sz="1000" dirty="0"/>
                        <a:t>신용장</a:t>
                      </a:r>
                      <a:r>
                        <a:rPr lang="en-US" altLang="ko-KR" sz="1000" dirty="0"/>
                        <a:t>, </a:t>
                      </a:r>
                      <a:r>
                        <a:rPr lang="ko-KR" altLang="en-US" sz="1000" dirty="0"/>
                        <a:t>지급보증</a:t>
                      </a:r>
                      <a:r>
                        <a:rPr lang="en-US" altLang="ko-KR" sz="1000" dirty="0"/>
                        <a:t>, </a:t>
                      </a:r>
                      <a:r>
                        <a:rPr lang="ko-KR" altLang="en-US" sz="1000" dirty="0"/>
                        <a:t>무역보험 등 대금 회수 안전장치 검토 필요</a:t>
                      </a:r>
                      <a:endParaRPr sz="1000" dirty="0"/>
                    </a:p>
                  </a:txBody>
                  <a:tcPr marL="91450" marR="91450" marT="45725" marB="45725" anchor="ctr"/>
                </a:tc>
                <a:extLst>
                  <a:ext uri="{0D108BD9-81ED-4DB2-BD59-A6C34878D82A}">
                    <a16:rowId xmlns:a16="http://schemas.microsoft.com/office/drawing/2014/main" val="10005"/>
                  </a:ext>
                </a:extLst>
              </a:tr>
            </a:tbl>
          </a:graphicData>
        </a:graphic>
      </p:graphicFrame>
      <p:sp>
        <p:nvSpPr>
          <p:cNvPr id="118" name="Google Shape;118;p3"/>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01. 수출계약 및 상표등록</a:t>
            </a:r>
            <a:endParaRPr sz="2000" b="1">
              <a:solidFill>
                <a:srgbClr val="0070C0"/>
              </a:solidFill>
              <a:latin typeface="Malgun Gothic"/>
              <a:ea typeface="Malgun Gothic"/>
              <a:cs typeface="Malgun Gothic"/>
              <a:sym typeface="Malgun Gothic"/>
            </a:endParaRPr>
          </a:p>
        </p:txBody>
      </p:sp>
      <p:sp>
        <p:nvSpPr>
          <p:cNvPr id="119" name="Google Shape;119;p3"/>
          <p:cNvSpPr txBox="1"/>
          <p:nvPr/>
        </p:nvSpPr>
        <p:spPr>
          <a:xfrm>
            <a:off x="325826" y="1119957"/>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400" b="1">
                <a:solidFill>
                  <a:schemeClr val="dk1"/>
                </a:solidFill>
                <a:latin typeface="Malgun Gothic"/>
                <a:ea typeface="Malgun Gothic"/>
                <a:cs typeface="Malgun Gothic"/>
                <a:sym typeface="Malgun Gothic"/>
              </a:rPr>
              <a:t>수출계약</a:t>
            </a:r>
            <a:endParaRPr sz="1400" b="1">
              <a:solidFill>
                <a:schemeClr val="dk1"/>
              </a:solidFill>
              <a:latin typeface="Malgun Gothic"/>
              <a:ea typeface="Malgun Gothic"/>
              <a:cs typeface="Malgun Gothic"/>
              <a:sym typeface="Malgun Gothic"/>
            </a:endParaRPr>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graphicFrame>
        <p:nvGraphicFramePr>
          <p:cNvPr id="125" name="Google Shape;125;p4"/>
          <p:cNvGraphicFramePr/>
          <p:nvPr>
            <p:extLst>
              <p:ext uri="{D42A27DB-BD31-4B8C-83A1-F6EECF244321}">
                <p14:modId xmlns:p14="http://schemas.microsoft.com/office/powerpoint/2010/main" val="380413754"/>
              </p:ext>
            </p:extLst>
          </p:nvPr>
        </p:nvGraphicFramePr>
        <p:xfrm>
          <a:off x="405898" y="1194386"/>
          <a:ext cx="11178500" cy="5861650"/>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4802200">
                  <a:extLst>
                    <a:ext uri="{9D8B030D-6E8A-4147-A177-3AD203B41FA5}">
                      <a16:colId xmlns:a16="http://schemas.microsoft.com/office/drawing/2014/main" val="20001"/>
                    </a:ext>
                  </a:extLst>
                </a:gridCol>
                <a:gridCol w="4802200">
                  <a:extLst>
                    <a:ext uri="{9D8B030D-6E8A-4147-A177-3AD203B41FA5}">
                      <a16:colId xmlns:a16="http://schemas.microsoft.com/office/drawing/2014/main" val="20002"/>
                    </a:ext>
                  </a:extLst>
                </a:gridCol>
              </a:tblGrid>
              <a:tr h="618000">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gridSpan="2">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중국은 상표 선출원주의를 채택하고 있어 동일</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유사 상표가 먼저 출원될 경우 </a:t>
                      </a:r>
                      <a:r>
                        <a:rPr lang="ko-KR" altLang="en-US" sz="1000" b="0" i="0" u="none" strike="noStrike" cap="none" dirty="0" err="1">
                          <a:solidFill>
                            <a:schemeClr val="dk1"/>
                          </a:solidFill>
                          <a:latin typeface="Malgun Gothic"/>
                          <a:ea typeface="Malgun Gothic"/>
                          <a:cs typeface="Malgun Gothic"/>
                          <a:sym typeface="Malgun Gothic"/>
                        </a:rPr>
                        <a:t>후출원자의</a:t>
                      </a:r>
                      <a:r>
                        <a:rPr lang="ko-KR" altLang="en-US" sz="1000" b="0" i="0" u="none" strike="noStrike" cap="none" dirty="0">
                          <a:solidFill>
                            <a:schemeClr val="dk1"/>
                          </a:solidFill>
                          <a:latin typeface="Malgun Gothic"/>
                          <a:ea typeface="Malgun Gothic"/>
                          <a:cs typeface="Malgun Gothic"/>
                          <a:sym typeface="Malgun Gothic"/>
                        </a:rPr>
                        <a:t> 등록이 제한될 수 있음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화장품 수출 전 브랜드명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로고</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중문명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제품명에 대한 선행상표 검색 및 조기 출원이 권장됨</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'짝퉁 </a:t>
                      </a:r>
                      <a:r>
                        <a:rPr lang="ko-KR" sz="1000" b="0" i="0" u="none" strike="noStrike" cap="none" dirty="0" err="1">
                          <a:solidFill>
                            <a:schemeClr val="dk1"/>
                          </a:solidFill>
                          <a:latin typeface="Malgun Gothic"/>
                          <a:ea typeface="Malgun Gothic"/>
                          <a:cs typeface="Malgun Gothic"/>
                          <a:sym typeface="Malgun Gothic"/>
                        </a:rPr>
                        <a:t>제품'이나</a:t>
                      </a:r>
                      <a:r>
                        <a:rPr lang="ko-KR" sz="1000" b="0" i="0" u="none" strike="noStrike" cap="none" dirty="0">
                          <a:solidFill>
                            <a:schemeClr val="dk1"/>
                          </a:solidFill>
                          <a:latin typeface="Malgun Gothic"/>
                          <a:ea typeface="Malgun Gothic"/>
                          <a:cs typeface="Malgun Gothic"/>
                          <a:sym typeface="Malgun Gothic"/>
                        </a:rPr>
                        <a:t> 브로커의 악의적인 상표의 선점이 발생할 수 있기에 유사 상표의 사전 검색 및 신속한 상표 출원이 중요</a:t>
                      </a:r>
                      <a:endParaRPr dirty="0"/>
                    </a:p>
                    <a:p>
                      <a:pPr marL="0" marR="0" lvl="0" indent="0" algn="l" rtl="0">
                        <a:spcBef>
                          <a:spcPts val="0"/>
                        </a:spcBef>
                        <a:spcAft>
                          <a:spcPts val="0"/>
                        </a:spcAft>
                        <a:buNone/>
                      </a:pPr>
                      <a:r>
                        <a:rPr lang="ko-KR" sz="1000" b="0" i="0" u="sng" strike="noStrike" cap="none" dirty="0">
                          <a:solidFill>
                            <a:schemeClr val="dk1"/>
                          </a:solidFill>
                          <a:latin typeface="Malgun Gothic"/>
                          <a:ea typeface="Malgun Gothic"/>
                          <a:cs typeface="Malgun Gothic"/>
                          <a:sym typeface="Malgun Gothic"/>
                          <a:hlinkClick r:id="rId3">
                            <a:extLst>
                              <a:ext uri="{A12FA001-AC4F-418D-AE19-62706E023703}">
                                <ahyp:hlinkClr xmlns:ahyp="http://schemas.microsoft.com/office/drawing/2018/hyperlinkcolor" val="tx"/>
                              </a:ext>
                            </a:extLst>
                          </a:hlinkClick>
                        </a:rPr>
                        <a:t>* 참고: 중국 내 상표 출원 현황 검색방법 및 피해 발견 시 대응방안</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hMerge="1">
                  <a:txBody>
                    <a:bodyPr/>
                    <a:lstStyle/>
                    <a:p>
                      <a:endParaRPr lang="ko-KR"/>
                    </a:p>
                  </a:txBody>
                  <a:tcP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dirty="0"/>
                        <a:t>방식</a:t>
                      </a:r>
                      <a:endParaRPr dirty="0"/>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err="1">
                          <a:solidFill>
                            <a:schemeClr val="dk1"/>
                          </a:solidFill>
                          <a:latin typeface="Malgun Gothic"/>
                          <a:ea typeface="Malgun Gothic"/>
                          <a:cs typeface="Malgun Gothic"/>
                          <a:sym typeface="Malgun Gothic"/>
                        </a:rPr>
                        <a:t>중국국가지식재산국</a:t>
                      </a:r>
                      <a:r>
                        <a:rPr lang="en-US" altLang="ko-KR" sz="1000" b="0" i="0" u="none" strike="noStrike" cap="none" dirty="0">
                          <a:solidFill>
                            <a:schemeClr val="dk1"/>
                          </a:solidFill>
                          <a:latin typeface="Malgun Gothic"/>
                          <a:ea typeface="Malgun Gothic"/>
                          <a:cs typeface="Malgun Gothic"/>
                          <a:sym typeface="Malgun Gothic"/>
                        </a:rPr>
                        <a:t>(CNIPA)</a:t>
                      </a:r>
                      <a:r>
                        <a:rPr lang="ko-KR" altLang="en-US" sz="1000" b="0" i="0" u="none" strike="noStrike" cap="none" dirty="0">
                          <a:solidFill>
                            <a:schemeClr val="dk1"/>
                          </a:solidFill>
                          <a:latin typeface="Malgun Gothic"/>
                          <a:ea typeface="Malgun Gothic"/>
                          <a:cs typeface="Malgun Gothic"/>
                          <a:sym typeface="Malgun Gothic"/>
                        </a:rPr>
                        <a:t>에 개별 출원</a:t>
                      </a: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마드리드 국제상표출원을 통한 중국 지정 출원</a:t>
                      </a:r>
                    </a:p>
                  </a:txBody>
                  <a:tcPr marL="91450" marR="91450" marT="45725" marB="45725" anchor="ct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dirty="0"/>
                        <a:t>기관</a:t>
                      </a:r>
                      <a:endParaRPr dirty="0"/>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err="1">
                          <a:solidFill>
                            <a:schemeClr val="dk1"/>
                          </a:solidFill>
                          <a:latin typeface="Malgun Gothic"/>
                          <a:ea typeface="Malgun Gothic"/>
                          <a:cs typeface="Malgun Gothic"/>
                          <a:sym typeface="Malgun Gothic"/>
                        </a:rPr>
                        <a:t>중국국가지식재산국</a:t>
                      </a:r>
                      <a:r>
                        <a:rPr lang="en-US" altLang="ko-KR" sz="1000" b="0" i="0" u="none" strike="noStrike" cap="none" dirty="0">
                          <a:solidFill>
                            <a:schemeClr val="dk1"/>
                          </a:solidFill>
                          <a:latin typeface="Malgun Gothic"/>
                          <a:ea typeface="Malgun Gothic"/>
                          <a:cs typeface="Malgun Gothic"/>
                          <a:sym typeface="Malgun Gothic"/>
                        </a:rPr>
                        <a:t>(CNIPA), </a:t>
                      </a:r>
                      <a:r>
                        <a:rPr lang="ko-KR" altLang="en-US" sz="1000" b="0" i="0" u="none" strike="noStrike" cap="none" dirty="0">
                          <a:solidFill>
                            <a:schemeClr val="dk1"/>
                          </a:solidFill>
                          <a:latin typeface="Malgun Gothic"/>
                          <a:ea typeface="Malgun Gothic"/>
                          <a:cs typeface="Malgun Gothic"/>
                          <a:sym typeface="Malgun Gothic"/>
                        </a:rPr>
                        <a:t>중국 현지 상표대리기관</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a:solidFill>
                            <a:schemeClr val="dk1"/>
                          </a:solidFill>
                          <a:latin typeface="Malgun Gothic"/>
                          <a:ea typeface="Malgun Gothic"/>
                          <a:cs typeface="Malgun Gothic"/>
                          <a:sym typeface="Malgun Gothic"/>
                        </a:rPr>
                        <a:t>한국 지식재산처</a:t>
                      </a:r>
                      <a:r>
                        <a:rPr lang="en-US" altLang="ko-KR" sz="1000" b="0" i="0" u="none" strike="noStrike" cap="none">
                          <a:solidFill>
                            <a:schemeClr val="dk1"/>
                          </a:solidFill>
                          <a:latin typeface="Malgun Gothic"/>
                          <a:ea typeface="Malgun Gothic"/>
                          <a:cs typeface="Malgun Gothic"/>
                          <a:sym typeface="Malgun Gothic"/>
                        </a:rPr>
                        <a:t>(MOIP), </a:t>
                      </a:r>
                      <a:r>
                        <a:rPr lang="en-US" altLang="ko-KR" sz="1000" b="0" i="0" u="none" strike="noStrike" cap="none" dirty="0">
                          <a:solidFill>
                            <a:schemeClr val="dk1"/>
                          </a:solidFill>
                          <a:latin typeface="Malgun Gothic"/>
                          <a:ea typeface="Malgun Gothic"/>
                          <a:cs typeface="Malgun Gothic"/>
                          <a:sym typeface="Malgun Gothic"/>
                        </a:rPr>
                        <a:t>WIPO </a:t>
                      </a:r>
                      <a:r>
                        <a:rPr lang="ko-KR" altLang="en-US" sz="1000" b="0" i="0" u="none" strike="noStrike" cap="none" dirty="0">
                          <a:solidFill>
                            <a:schemeClr val="dk1"/>
                          </a:solidFill>
                          <a:latin typeface="Malgun Gothic"/>
                          <a:ea typeface="Malgun Gothic"/>
                          <a:cs typeface="Malgun Gothic"/>
                          <a:sym typeface="Malgun Gothic"/>
                        </a:rPr>
                        <a:t>국제사무국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중국국가지식재산국</a:t>
                      </a:r>
                      <a:r>
                        <a:rPr lang="en-US" altLang="ko-KR" sz="1000" b="0" i="0" u="none" strike="noStrike" cap="none" dirty="0">
                          <a:solidFill>
                            <a:schemeClr val="dk1"/>
                          </a:solidFill>
                          <a:latin typeface="Malgun Gothic"/>
                          <a:ea typeface="Malgun Gothic"/>
                          <a:cs typeface="Malgun Gothic"/>
                          <a:sym typeface="Malgun Gothic"/>
                        </a:rPr>
                        <a:t>(CNIPA)</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dirty="0"/>
                        <a:t>참고 또는</a:t>
                      </a:r>
                      <a:endParaRPr sz="1200" b="1" u="none" strike="noStrike" cap="none" dirty="0"/>
                    </a:p>
                    <a:p>
                      <a:pPr marL="0" marR="0" lvl="0" indent="0" algn="ctr" rtl="0">
                        <a:spcBef>
                          <a:spcPts val="0"/>
                        </a:spcBef>
                        <a:spcAft>
                          <a:spcPts val="0"/>
                        </a:spcAft>
                        <a:buNone/>
                      </a:pPr>
                      <a:r>
                        <a:rPr lang="ko-KR" sz="1200" b="1" u="none" strike="noStrike" cap="none" dirty="0"/>
                        <a:t>필요서류</a:t>
                      </a:r>
                      <a:endParaRPr dirty="0"/>
                    </a:p>
                  </a:txBody>
                  <a:tcPr marL="91450" marR="91450" marT="45725" marB="45725" anchor="ctr"/>
                </a:tc>
                <a:tc>
                  <a:txBody>
                    <a:bodyPr/>
                    <a:lstStyle/>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출원인 정보</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상표 견본</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지정상품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서비스 목록</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법인 또는 사업자 증명서류</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위임장</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대리인 선임 시</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우선권 주장서류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해당 시</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중문 상표명 후보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해당 시</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실제 판매 제품 목록 또는 제품 카테고리</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Font typeface="Arial" panose="020B0604020202020204" pitchFamily="34" charset="0"/>
                        <a:buNone/>
                      </a:pPr>
                      <a:r>
                        <a:rPr lang="ko-KR" sz="1000" b="0" i="0" u="none" strike="noStrike" cap="none" dirty="0">
                          <a:solidFill>
                            <a:schemeClr val="dk1"/>
                          </a:solidFill>
                          <a:latin typeface="Malgun Gothic"/>
                          <a:ea typeface="Malgun Gothic"/>
                          <a:cs typeface="Malgun Gothic"/>
                          <a:sym typeface="Malgun Gothic"/>
                        </a:rPr>
                        <a:t>* 상황에 따라 적절한 출원방식을 선택하고, 변리사의 조언을 받아 관련 업무를</a:t>
                      </a:r>
                      <a:r>
                        <a:rPr lang="en-US" altLang="ko-KR" sz="1000" b="0" i="0" u="none" strike="noStrike" cap="none" dirty="0">
                          <a:solidFill>
                            <a:schemeClr val="dk1"/>
                          </a:solidFill>
                          <a:latin typeface="Malgun Gothic"/>
                          <a:ea typeface="Malgun Gothic"/>
                          <a:cs typeface="Malgun Gothic"/>
                          <a:sym typeface="Malgun Gothic"/>
                        </a:rPr>
                        <a:t> </a:t>
                      </a:r>
                      <a:r>
                        <a:rPr lang="ko-KR" sz="1000" b="0" i="0" u="none" strike="noStrike" cap="none" dirty="0">
                          <a:solidFill>
                            <a:schemeClr val="dk1"/>
                          </a:solidFill>
                          <a:latin typeface="Malgun Gothic"/>
                          <a:ea typeface="Malgun Gothic"/>
                          <a:cs typeface="Malgun Gothic"/>
                          <a:sym typeface="Malgun Gothic"/>
                        </a:rPr>
                        <a:t>진행하는 것이 </a:t>
                      </a:r>
                      <a:r>
                        <a:rPr lang="ko-KR" sz="1000" b="0" i="0" u="none" strike="noStrike" cap="none" dirty="0" err="1">
                          <a:solidFill>
                            <a:schemeClr val="dk1"/>
                          </a:solidFill>
                          <a:latin typeface="Malgun Gothic"/>
                          <a:ea typeface="Malgun Gothic"/>
                          <a:cs typeface="Malgun Gothic"/>
                          <a:sym typeface="Malgun Gothic"/>
                        </a:rPr>
                        <a:t>바람직</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a:txBody>
                    <a:bodyPr/>
                    <a:lstStyle/>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국내 기초출원 또는 기초등록 상표 정보</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국제출원서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영문</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출원인 정보</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상표 견본</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지정상품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서비스 목록</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err="1">
                          <a:solidFill>
                            <a:schemeClr val="dk1"/>
                          </a:solidFill>
                          <a:latin typeface="Malgun Gothic"/>
                          <a:ea typeface="Malgun Gothic"/>
                          <a:cs typeface="Malgun Gothic"/>
                          <a:sym typeface="Malgun Gothic"/>
                        </a:rPr>
                        <a:t>지정국</a:t>
                      </a:r>
                      <a:r>
                        <a:rPr lang="ko-KR" altLang="en-US" sz="1000" b="0" i="0" u="none" strike="noStrike" cap="none" dirty="0">
                          <a:solidFill>
                            <a:schemeClr val="dk1"/>
                          </a:solidFill>
                          <a:latin typeface="Malgun Gothic"/>
                          <a:ea typeface="Malgun Gothic"/>
                          <a:cs typeface="Malgun Gothic"/>
                          <a:sym typeface="Malgun Gothic"/>
                        </a:rPr>
                        <a:t> 목록</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포함</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수수료 납부자료</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우선권 주장서류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해당 시</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기존 한국 상표출원서 또는 등록증</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중문 상표명 후보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필요 시 별도 중국 출원 검토</a:t>
                      </a:r>
                      <a:endParaRPr lang="en-US" altLang="ko-K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618000">
                <a:tc>
                  <a:txBody>
                    <a:bodyPr/>
                    <a:lstStyle/>
                    <a:p>
                      <a:pPr marL="0" marR="0" lvl="0" indent="0" algn="ctr" rtl="0">
                        <a:spcBef>
                          <a:spcPts val="0"/>
                        </a:spcBef>
                        <a:spcAft>
                          <a:spcPts val="0"/>
                        </a:spcAft>
                        <a:buNone/>
                      </a:pPr>
                      <a:r>
                        <a:rPr lang="ko-KR" sz="1200" b="1" u="none" strike="noStrike" cap="none" dirty="0"/>
                        <a:t>절차</a:t>
                      </a:r>
                      <a:endParaRPr dirty="0"/>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① 수출 제품 및 사용 상표 확정 → ② 영문</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한글</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중문 브랜드명 및 로고 검토 → ③ 중국 내 선행상표 검색</a:t>
                      </a:r>
                      <a:r>
                        <a:rPr lang="ko-KR" altLang="ko-KR" sz="1000" b="0" i="0" u="none" strike="noStrike" cap="none" dirty="0">
                          <a:solidFill>
                            <a:schemeClr val="tx1"/>
                          </a:solidFill>
                          <a:latin typeface="Malgun Gothic"/>
                          <a:ea typeface="Malgun Gothic"/>
                          <a:cs typeface="Malgun Gothic"/>
                          <a:sym typeface="Malgun Gothic"/>
                        </a:rPr>
                        <a:t>(</a:t>
                      </a:r>
                      <a:r>
                        <a:rPr lang="ko-KR" altLang="ko-KR" sz="1000" u="sng" dirty="0">
                          <a:solidFill>
                            <a:schemeClr val="tx1"/>
                          </a:solidFill>
                          <a:latin typeface="Malgun Gothic"/>
                          <a:ea typeface="Malgun Gothic"/>
                          <a:cs typeface="Malgun Gothic"/>
                          <a:sym typeface="Malgun Gothic"/>
                          <a:hlinkClick r:id="rId4">
                            <a:extLst>
                              <a:ext uri="{A12FA001-AC4F-418D-AE19-62706E023703}">
                                <ahyp:hlinkClr xmlns:ahyp="http://schemas.microsoft.com/office/drawing/2018/hyperlinkcolor" val="tx"/>
                              </a:ext>
                            </a:extLst>
                          </a:hlinkClick>
                        </a:rPr>
                        <a:t>https://sbj.cnipa.gov.cn/sbj/index.html</a:t>
                      </a:r>
                      <a:r>
                        <a:rPr lang="ko-KR" altLang="ko-KR" sz="1000" dirty="0">
                          <a:solidFill>
                            <a:schemeClr val="tx1"/>
                          </a:solidFill>
                          <a:latin typeface="Malgun Gothic"/>
                          <a:ea typeface="Malgun Gothic"/>
                          <a:cs typeface="Malgun Gothic"/>
                          <a:sym typeface="Malgun Gothic"/>
                        </a:rPr>
                        <a:t>, ※ 중국 </a:t>
                      </a:r>
                      <a:r>
                        <a:rPr lang="ko-KR" altLang="ko-KR" sz="1000" dirty="0" err="1">
                          <a:solidFill>
                            <a:schemeClr val="tx1"/>
                          </a:solidFill>
                          <a:latin typeface="Malgun Gothic"/>
                          <a:ea typeface="Malgun Gothic"/>
                          <a:cs typeface="Malgun Gothic"/>
                          <a:sym typeface="Malgun Gothic"/>
                        </a:rPr>
                        <a:t>상표망</a:t>
                      </a:r>
                      <a:r>
                        <a:rPr lang="ko-KR" altLang="ko-KR" sz="1000" dirty="0">
                          <a:solidFill>
                            <a:schemeClr val="tx1"/>
                          </a:solidFill>
                          <a:latin typeface="Malgun Gothic"/>
                          <a:ea typeface="Malgun Gothic"/>
                          <a:cs typeface="Malgun Gothic"/>
                          <a:sym typeface="Malgun Gothic"/>
                        </a:rPr>
                        <a:t> 검색 시 해외 사용자 계정 가입 및 로그인 필수</a:t>
                      </a:r>
                      <a:r>
                        <a:rPr lang="ko-KR"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 → ④ 지정상품</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서비스류 확정 → ⑤ 출원인 명의 및 대리인 선임 → ⑥ </a:t>
                      </a:r>
                      <a:r>
                        <a:rPr lang="en-US" altLang="ko-KR" sz="1000" b="0" i="0" u="none" strike="noStrike" cap="none" dirty="0">
                          <a:solidFill>
                            <a:schemeClr val="tx1"/>
                          </a:solidFill>
                          <a:latin typeface="Malgun Gothic"/>
                          <a:ea typeface="Malgun Gothic"/>
                          <a:cs typeface="Malgun Gothic"/>
                          <a:sym typeface="Malgun Gothic"/>
                        </a:rPr>
                        <a:t>CNIPA </a:t>
                      </a:r>
                      <a:r>
                        <a:rPr lang="ko-KR" altLang="en-US" sz="1000" b="0" i="0" u="none" strike="noStrike" cap="none" dirty="0">
                          <a:solidFill>
                            <a:schemeClr val="tx1"/>
                          </a:solidFill>
                          <a:latin typeface="Malgun Gothic"/>
                          <a:ea typeface="Malgun Gothic"/>
                          <a:cs typeface="Malgun Gothic"/>
                          <a:sym typeface="Malgun Gothic"/>
                        </a:rPr>
                        <a:t>상표출원 → ⑦ 형식심사 및 실질심사 → ⑧ 공고 및 이의신청 기간 경과 → ⑨ 등록 및 갱신기한 관리</a:t>
                      </a:r>
                      <a:endParaRPr lang="en-US" altLang="ko-K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국내 기초출원 또는 기초등록 확인</a:t>
                      </a:r>
                      <a:r>
                        <a:rPr lang="ko-KR" altLang="ko-KR" sz="1000" b="0" i="0" u="none" strike="noStrike" cap="none" dirty="0">
                          <a:solidFill>
                            <a:schemeClr val="dk1"/>
                          </a:solidFill>
                          <a:latin typeface="Malgun Gothic"/>
                          <a:ea typeface="Malgun Gothic"/>
                          <a:cs typeface="Malgun Gothic"/>
                          <a:sym typeface="Malgun Gothic"/>
                        </a:rPr>
                        <a:t>(http://www.wipo.int/madrid/en/romarin) </a:t>
                      </a:r>
                      <a:r>
                        <a:rPr lang="ko-KR" altLang="en-US" sz="1000" b="0" i="0" u="none" strike="noStrike" cap="none" dirty="0">
                          <a:solidFill>
                            <a:schemeClr val="dk1"/>
                          </a:solidFill>
                          <a:latin typeface="Malgun Gothic"/>
                          <a:ea typeface="Malgun Gothic"/>
                          <a:cs typeface="Malgun Gothic"/>
                          <a:sym typeface="Malgun Gothic"/>
                        </a:rPr>
                        <a:t> → ② 국제출원 대상 상표 및 지정상품 범위 확인 → ③ 중국 지정 여부 결정 → ④ 국제출원서 작성 및 </a:t>
                      </a:r>
                      <a:r>
                        <a:rPr lang="ko-KR" altLang="en-US" sz="1000" b="0" i="0" u="none" strike="noStrike" cap="none">
                          <a:solidFill>
                            <a:schemeClr val="dk1"/>
                          </a:solidFill>
                          <a:latin typeface="Malgun Gothic"/>
                          <a:ea typeface="Malgun Gothic"/>
                          <a:cs typeface="Malgun Gothic"/>
                          <a:sym typeface="Malgun Gothic"/>
                        </a:rPr>
                        <a:t>한국 지식재산처</a:t>
                      </a:r>
                      <a:r>
                        <a:rPr lang="en-US" altLang="ko-KR" sz="1000" b="0" i="0" u="none" strike="noStrike" cap="none">
                          <a:solidFill>
                            <a:schemeClr val="dk1"/>
                          </a:solidFill>
                          <a:latin typeface="Malgun Gothic"/>
                          <a:ea typeface="Malgun Gothic"/>
                          <a:cs typeface="Malgun Gothic"/>
                          <a:sym typeface="Malgun Gothic"/>
                        </a:rPr>
                        <a:t>(MOIP)</a:t>
                      </a:r>
                      <a:r>
                        <a:rPr lang="ko-KR" altLang="en-US" sz="1000" b="0" i="0" u="none" strike="noStrike" cap="none">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제출 → </a:t>
                      </a:r>
                      <a:r>
                        <a:rPr lang="ko-KR" altLang="en-US" sz="1000" b="0" i="0" u="none" strike="noStrike" cap="none">
                          <a:solidFill>
                            <a:schemeClr val="dk1"/>
                          </a:solidFill>
                          <a:latin typeface="Malgun Gothic"/>
                          <a:ea typeface="Malgun Gothic"/>
                          <a:cs typeface="Malgun Gothic"/>
                          <a:sym typeface="Malgun Gothic"/>
                        </a:rPr>
                        <a:t>⑤ 한국 지식재산처</a:t>
                      </a:r>
                      <a:r>
                        <a:rPr lang="en-US" altLang="ko-KR" sz="1000" b="0" i="0" u="none" strike="noStrike" cap="none">
                          <a:solidFill>
                            <a:schemeClr val="dk1"/>
                          </a:solidFill>
                          <a:latin typeface="Malgun Gothic"/>
                          <a:ea typeface="Malgun Gothic"/>
                          <a:cs typeface="Malgun Gothic"/>
                          <a:sym typeface="Malgun Gothic"/>
                        </a:rPr>
                        <a:t>(MOIP)</a:t>
                      </a:r>
                      <a:r>
                        <a:rPr lang="ko-KR" altLang="en-US" sz="1000" b="0" i="0" u="none" strike="noStrike" cap="none">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방식심사 → ⑥ </a:t>
                      </a:r>
                      <a:r>
                        <a:rPr lang="en-US" altLang="ko-KR" sz="1000" b="0" i="0" u="none" strike="noStrike" cap="none" dirty="0">
                          <a:solidFill>
                            <a:schemeClr val="dk1"/>
                          </a:solidFill>
                          <a:latin typeface="Malgun Gothic"/>
                          <a:ea typeface="Malgun Gothic"/>
                          <a:cs typeface="Malgun Gothic"/>
                          <a:sym typeface="Malgun Gothic"/>
                        </a:rPr>
                        <a:t>WIPO </a:t>
                      </a:r>
                      <a:r>
                        <a:rPr lang="ko-KR" altLang="en-US" sz="1000" b="0" i="0" u="none" strike="noStrike" cap="none" dirty="0">
                          <a:solidFill>
                            <a:schemeClr val="dk1"/>
                          </a:solidFill>
                          <a:latin typeface="Malgun Gothic"/>
                          <a:ea typeface="Malgun Gothic"/>
                          <a:cs typeface="Malgun Gothic"/>
                          <a:sym typeface="Malgun Gothic"/>
                        </a:rPr>
                        <a:t>국제사무국 심사 및 국제등록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공고 → ⑦ 중국 </a:t>
                      </a:r>
                      <a:r>
                        <a:rPr lang="en-US" altLang="ko-KR" sz="1000" b="0" i="0" u="none" strike="noStrike" cap="none" dirty="0">
                          <a:solidFill>
                            <a:schemeClr val="dk1"/>
                          </a:solidFill>
                          <a:latin typeface="Malgun Gothic"/>
                          <a:ea typeface="Malgun Gothic"/>
                          <a:cs typeface="Malgun Gothic"/>
                          <a:sym typeface="Malgun Gothic"/>
                        </a:rPr>
                        <a:t>CNIPA </a:t>
                      </a:r>
                      <a:r>
                        <a:rPr lang="ko-KR" altLang="en-US" sz="1000" b="0" i="0" u="none" strike="noStrike" cap="none" dirty="0" err="1">
                          <a:solidFill>
                            <a:schemeClr val="dk1"/>
                          </a:solidFill>
                          <a:latin typeface="Malgun Gothic"/>
                          <a:ea typeface="Malgun Gothic"/>
                          <a:cs typeface="Malgun Gothic"/>
                          <a:sym typeface="Malgun Gothic"/>
                        </a:rPr>
                        <a:t>지정국</a:t>
                      </a:r>
                      <a:r>
                        <a:rPr lang="ko-KR" altLang="en-US" sz="1000" b="0" i="0" u="none" strike="noStrike" cap="none" dirty="0">
                          <a:solidFill>
                            <a:schemeClr val="dk1"/>
                          </a:solidFill>
                          <a:latin typeface="Malgun Gothic"/>
                          <a:ea typeface="Malgun Gothic"/>
                          <a:cs typeface="Malgun Gothic"/>
                          <a:sym typeface="Malgun Gothic"/>
                        </a:rPr>
                        <a:t> 심사 → ⑧ 보정</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거절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이의신청 대응 → ⑨ 중국 내 보호 인정 및 갱신기한 관리</a:t>
                      </a:r>
                      <a:endParaRPr lang="en-US" altLang="ko-K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dirty="0"/>
                        <a:t>주의사항</a:t>
                      </a:r>
                      <a:endParaRPr sz="1200" b="1" u="none" strike="noStrike" cap="none" dirty="0"/>
                    </a:p>
                    <a:p>
                      <a:pPr marL="0" marR="0" lvl="0" indent="0" algn="ctr" rtl="0">
                        <a:spcBef>
                          <a:spcPts val="0"/>
                        </a:spcBef>
                        <a:spcAft>
                          <a:spcPts val="0"/>
                        </a:spcAft>
                        <a:buNone/>
                      </a:pPr>
                      <a:r>
                        <a:rPr lang="ko-KR" sz="1200" b="1" u="none" strike="noStrike" cap="none" dirty="0"/>
                        <a:t>또는</a:t>
                      </a:r>
                      <a:endParaRPr sz="1200" b="1" u="none" strike="noStrike" cap="none" dirty="0"/>
                    </a:p>
                    <a:p>
                      <a:pPr marL="0" marR="0" lvl="0" indent="0" algn="ctr" rtl="0">
                        <a:spcBef>
                          <a:spcPts val="0"/>
                        </a:spcBef>
                        <a:spcAft>
                          <a:spcPts val="0"/>
                        </a:spcAft>
                        <a:buNone/>
                      </a:pPr>
                      <a:r>
                        <a:rPr lang="ko-KR" sz="1200" b="1" u="none" strike="noStrike" cap="none" dirty="0"/>
                        <a:t>확인사항</a:t>
                      </a:r>
                      <a:endParaRPr dirty="0"/>
                    </a:p>
                  </a:txBody>
                  <a:tcPr marL="91450" marR="91450" marT="45725" marB="45725" anchor="ctr"/>
                </a:tc>
                <a:tc>
                  <a:txBody>
                    <a:bodyPr/>
                    <a:lstStyle/>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중국 내 별도 상표출원이 필요하며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한국 또는 다른 국가의 상표등록만으로 중국에서 자동 보호되지 않음</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외국 기업은 중국 내 상표대리기관을 통해 출원하는 경우가 일반적이므로 대리기관의 검색</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거절대응</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분쟁대응 경험 확인 필요</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현지 수입업자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총판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대리점 명의 출원 시 계약 종료 후 분쟁 가능성이 있으므로 브랜드 권리자 명의 출원 권장</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영문 브랜드명뿐 아니라 중문 브랜드명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음역명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의역명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로고</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제품명도 보호 필요성 검토</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예상 소요기간은 통상 약 </a:t>
                      </a:r>
                      <a:r>
                        <a:rPr lang="en-US" altLang="ko-KR" sz="1000" b="0" i="0" u="none" strike="noStrike" cap="none" dirty="0">
                          <a:solidFill>
                            <a:schemeClr val="dk1"/>
                          </a:solidFill>
                          <a:latin typeface="Malgun Gothic"/>
                          <a:ea typeface="Malgun Gothic"/>
                          <a:cs typeface="Malgun Gothic"/>
                          <a:sym typeface="Malgun Gothic"/>
                        </a:rPr>
                        <a:t>8~12</a:t>
                      </a:r>
                      <a:r>
                        <a:rPr lang="ko-KR" altLang="en-US" sz="1000" b="0" i="0" u="none" strike="noStrike" cap="none" dirty="0">
                          <a:solidFill>
                            <a:schemeClr val="dk1"/>
                          </a:solidFill>
                          <a:latin typeface="Malgun Gothic"/>
                          <a:ea typeface="Malgun Gothic"/>
                          <a:cs typeface="Malgun Gothic"/>
                          <a:sym typeface="Malgun Gothic"/>
                        </a:rPr>
                        <a:t>개월 내외이나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보정</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거절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이의신청 발생 시 연장 가능</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상표권 존속기간은 등록일로부터 </a:t>
                      </a:r>
                      <a:r>
                        <a:rPr lang="en-US" altLang="ko-KR" sz="1000" b="0" i="0" u="none" strike="noStrike" cap="none" dirty="0">
                          <a:solidFill>
                            <a:schemeClr val="dk1"/>
                          </a:solidFill>
                          <a:latin typeface="Malgun Gothic"/>
                          <a:ea typeface="Malgun Gothic"/>
                          <a:cs typeface="Malgun Gothic"/>
                          <a:sym typeface="Malgun Gothic"/>
                        </a:rPr>
                        <a:t>10</a:t>
                      </a:r>
                      <a:r>
                        <a:rPr lang="ko-KR" altLang="en-US" sz="1000" b="0" i="0" u="none" strike="noStrike" cap="none" dirty="0">
                          <a:solidFill>
                            <a:schemeClr val="dk1"/>
                          </a:solidFill>
                          <a:latin typeface="Malgun Gothic"/>
                          <a:ea typeface="Malgun Gothic"/>
                          <a:cs typeface="Malgun Gothic"/>
                          <a:sym typeface="Malgun Gothic"/>
                        </a:rPr>
                        <a:t>년이며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만료 전 갱신 필요</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a:txBody>
                    <a:bodyPr/>
                    <a:lstStyle/>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마드리드 국제출원은 국내 기초출원 또는 기초등록을 전제로 하므로 기초상표와 국제출원 상표의 정합성 확인 필요</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국제등록일로부터 </a:t>
                      </a:r>
                      <a:r>
                        <a:rPr lang="en-US" altLang="ko-KR" sz="1000" b="0" i="0" u="none" strike="noStrike" cap="none" dirty="0">
                          <a:solidFill>
                            <a:schemeClr val="dk1"/>
                          </a:solidFill>
                          <a:latin typeface="Malgun Gothic"/>
                          <a:ea typeface="Malgun Gothic"/>
                          <a:cs typeface="Malgun Gothic"/>
                          <a:sym typeface="Malgun Gothic"/>
                        </a:rPr>
                        <a:t>5</a:t>
                      </a:r>
                      <a:r>
                        <a:rPr lang="ko-KR" altLang="en-US" sz="1000" b="0" i="0" u="none" strike="noStrike" cap="none" dirty="0">
                          <a:solidFill>
                            <a:schemeClr val="dk1"/>
                          </a:solidFill>
                          <a:latin typeface="Malgun Gothic"/>
                          <a:ea typeface="Malgun Gothic"/>
                          <a:cs typeface="Malgun Gothic"/>
                          <a:sym typeface="Malgun Gothic"/>
                        </a:rPr>
                        <a:t>년 내 국내 기초상표가 거절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취소</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무효 등으로 소멸할 경우 국제등록에도 영향을 줄 수 있음</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여러 국가를 동시에 지정할 경우 관리 편의성이 있으나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내 거절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보정 대응은 별도 현지 대응이 필요할 수 있음</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중문 브랜드명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음역명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의역명은 국제출원 상표와 별도로 중국 개별출원이 필요한지 검토 필요</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중국 지정 후 심사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거절이유 통지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이의신청 등에 따라 소요기간이 연장될 수 있음</a:t>
                      </a:r>
                    </a:p>
                    <a:p>
                      <a:pPr marL="171450" marR="0" lvl="0" indent="-171450" algn="l" rtl="0">
                        <a:spcBef>
                          <a:spcPts val="0"/>
                        </a:spcBef>
                        <a:spcAft>
                          <a:spcPts val="0"/>
                        </a:spcAft>
                        <a:buFont typeface="Arial" panose="020B0604020202020204" pitchFamily="34" charset="0"/>
                        <a:buChar char="•"/>
                      </a:pPr>
                      <a:r>
                        <a:rPr lang="ko-KR" altLang="en-US" sz="1000" b="0" i="0" u="none" strike="noStrike" cap="none" dirty="0">
                          <a:solidFill>
                            <a:schemeClr val="dk1"/>
                          </a:solidFill>
                          <a:latin typeface="Malgun Gothic"/>
                          <a:ea typeface="Malgun Gothic"/>
                          <a:cs typeface="Malgun Gothic"/>
                          <a:sym typeface="Malgun Gothic"/>
                        </a:rPr>
                        <a:t>상표권 존속기간은 국제등록일 기준 </a:t>
                      </a:r>
                      <a:r>
                        <a:rPr lang="en-US" altLang="ko-KR" sz="1000" b="0" i="0" u="none" strike="noStrike" cap="none" dirty="0">
                          <a:solidFill>
                            <a:schemeClr val="dk1"/>
                          </a:solidFill>
                          <a:latin typeface="Malgun Gothic"/>
                          <a:ea typeface="Malgun Gothic"/>
                          <a:cs typeface="Malgun Gothic"/>
                          <a:sym typeface="Malgun Gothic"/>
                        </a:rPr>
                        <a:t>10</a:t>
                      </a:r>
                      <a:r>
                        <a:rPr lang="ko-KR" altLang="en-US" sz="1000" b="0" i="0" u="none" strike="noStrike" cap="none" dirty="0">
                          <a:solidFill>
                            <a:schemeClr val="dk1"/>
                          </a:solidFill>
                          <a:latin typeface="Malgun Gothic"/>
                          <a:ea typeface="Malgun Gothic"/>
                          <a:cs typeface="Malgun Gothic"/>
                          <a:sym typeface="Malgun Gothic"/>
                        </a:rPr>
                        <a:t>년이며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갱신 관리 필요</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126" name="Google Shape;126;p4"/>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01. 수출계약 및 상표등록</a:t>
            </a:r>
            <a:endParaRPr sz="2000" b="1">
              <a:solidFill>
                <a:srgbClr val="0070C0"/>
              </a:solidFill>
              <a:latin typeface="Malgun Gothic"/>
              <a:ea typeface="Malgun Gothic"/>
              <a:cs typeface="Malgun Gothic"/>
              <a:sym typeface="Malgun Gothic"/>
            </a:endParaRPr>
          </a:p>
        </p:txBody>
      </p:sp>
      <p:sp>
        <p:nvSpPr>
          <p:cNvPr id="127" name="Google Shape;127;p4"/>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400" b="1">
                <a:solidFill>
                  <a:schemeClr val="dk1"/>
                </a:solidFill>
                <a:latin typeface="Malgun Gothic"/>
                <a:ea typeface="Malgun Gothic"/>
                <a:cs typeface="Malgun Gothic"/>
                <a:sym typeface="Malgun Gothic"/>
              </a:rPr>
              <a:t>상표등록</a:t>
            </a:r>
            <a:endParaRPr sz="1400" b="1">
              <a:solidFill>
                <a:schemeClr val="dk1"/>
              </a:solidFill>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graphicFrame>
        <p:nvGraphicFramePr>
          <p:cNvPr id="133" name="Google Shape;133;p5"/>
          <p:cNvGraphicFramePr/>
          <p:nvPr>
            <p:extLst>
              <p:ext uri="{D42A27DB-BD31-4B8C-83A1-F6EECF244321}">
                <p14:modId xmlns:p14="http://schemas.microsoft.com/office/powerpoint/2010/main" val="3166425488"/>
              </p:ext>
            </p:extLst>
          </p:nvPr>
        </p:nvGraphicFramePr>
        <p:xfrm>
          <a:off x="325826" y="865735"/>
          <a:ext cx="11175300" cy="3474750"/>
        </p:xfrm>
        <a:graphic>
          <a:graphicData uri="http://schemas.openxmlformats.org/drawingml/2006/table">
            <a:tbl>
              <a:tblPr firstRow="1" bandRow="1">
                <a:noFill/>
                <a:tableStyleId>{FDF456CB-F135-4C2A-B49E-3954C3F3A06D}</a:tableStyleId>
              </a:tblPr>
              <a:tblGrid>
                <a:gridCol w="1228650">
                  <a:extLst>
                    <a:ext uri="{9D8B030D-6E8A-4147-A177-3AD203B41FA5}">
                      <a16:colId xmlns:a16="http://schemas.microsoft.com/office/drawing/2014/main" val="20000"/>
                    </a:ext>
                  </a:extLst>
                </a:gridCol>
                <a:gridCol w="3475500">
                  <a:extLst>
                    <a:ext uri="{9D8B030D-6E8A-4147-A177-3AD203B41FA5}">
                      <a16:colId xmlns:a16="http://schemas.microsoft.com/office/drawing/2014/main" val="20001"/>
                    </a:ext>
                  </a:extLst>
                </a:gridCol>
                <a:gridCol w="6471150">
                  <a:extLst>
                    <a:ext uri="{9D8B030D-6E8A-4147-A177-3AD203B41FA5}">
                      <a16:colId xmlns:a16="http://schemas.microsoft.com/office/drawing/2014/main" val="20002"/>
                    </a:ext>
                  </a:extLst>
                </a:gridCol>
              </a:tblGrid>
              <a:tr h="757325">
                <a:tc rowSpan="3">
                  <a:txBody>
                    <a:bodyPr/>
                    <a:lstStyle/>
                    <a:p>
                      <a:pPr marL="0" marR="0" lvl="0" indent="0" algn="l" rtl="0">
                        <a:spcBef>
                          <a:spcPts val="0"/>
                        </a:spcBef>
                        <a:spcAft>
                          <a:spcPts val="0"/>
                        </a:spcAft>
                        <a:buNone/>
                      </a:pPr>
                      <a:r>
                        <a:rPr lang="ko-KR" b="1" dirty="0">
                          <a:latin typeface="Malgun Gothic"/>
                          <a:ea typeface="Malgun Gothic"/>
                          <a:cs typeface="Malgun Gothic"/>
                          <a:sym typeface="Malgun Gothic"/>
                        </a:rPr>
                        <a:t>경내책임자 </a:t>
                      </a:r>
                      <a:endParaRPr b="1" dirty="0">
                        <a:latin typeface="Malgun Gothic"/>
                        <a:ea typeface="Malgun Gothic"/>
                        <a:cs typeface="Malgun Gothic"/>
                        <a:sym typeface="Malgun Gothic"/>
                      </a:endParaRPr>
                    </a:p>
                    <a:p>
                      <a:pPr marL="0" marR="0" lvl="0" indent="0" algn="l" rtl="0">
                        <a:spcBef>
                          <a:spcPts val="0"/>
                        </a:spcBef>
                        <a:spcAft>
                          <a:spcPts val="0"/>
                        </a:spcAft>
                        <a:buNone/>
                      </a:pPr>
                      <a:r>
                        <a:rPr lang="ko-KR" b="1" dirty="0">
                          <a:latin typeface="Malgun Gothic"/>
                          <a:ea typeface="Malgun Gothic"/>
                          <a:cs typeface="Malgun Gothic"/>
                          <a:sym typeface="Malgun Gothic"/>
                        </a:rPr>
                        <a:t>선정</a:t>
                      </a:r>
                      <a:endParaRPr b="1" dirty="0">
                        <a:latin typeface="Malgun Gothic"/>
                        <a:ea typeface="Malgun Gothic"/>
                        <a:cs typeface="Malgun Gothic"/>
                        <a:sym typeface="Malgun Gothic"/>
                      </a:endParaRPr>
                    </a:p>
                  </a:txBody>
                  <a:tcPr marL="91450" marR="91450" marT="45725" marB="45725" anchor="ctr"/>
                </a:tc>
                <a:tc>
                  <a:txBody>
                    <a:bodyPr/>
                    <a:lstStyle/>
                    <a:p>
                      <a:pPr marL="0" marR="0" lvl="0" indent="0" algn="l" rtl="0">
                        <a:spcBef>
                          <a:spcPts val="0"/>
                        </a:spcBef>
                        <a:spcAft>
                          <a:spcPts val="0"/>
                        </a:spcAft>
                        <a:buNone/>
                      </a:pPr>
                      <a:r>
                        <a:rPr lang="ko-KR" sz="1400" b="1" i="0" u="none" strike="noStrike" cap="none">
                          <a:solidFill>
                            <a:schemeClr val="dk1"/>
                          </a:solidFill>
                          <a:latin typeface="Malgun Gothic"/>
                          <a:ea typeface="Malgun Gothic"/>
                          <a:cs typeface="Malgun Gothic"/>
                          <a:sym typeface="Malgun Gothic"/>
                        </a:rPr>
                        <a:t>경내책임자의 역할</a:t>
                      </a:r>
                      <a:endParaRPr sz="1400" b="1" i="0" u="none" strike="noStrike" cap="none">
                        <a:solidFill>
                          <a:schemeClr val="dk1"/>
                        </a:solidFill>
                        <a:latin typeface="Malgun Gothic"/>
                        <a:ea typeface="Malgun Gothic"/>
                        <a:cs typeface="Malgun Gothic"/>
                        <a:sym typeface="Malgun Gothic"/>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화장품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및 </a:t>
                      </a:r>
                      <a:r>
                        <a:rPr lang="ko-KR" altLang="en-US" sz="1000" b="0" i="0" u="none" strike="noStrike" cap="none" dirty="0" err="1">
                          <a:solidFill>
                            <a:schemeClr val="dk1"/>
                          </a:solidFill>
                          <a:latin typeface="Malgun Gothic"/>
                          <a:ea typeface="Malgun Gothic"/>
                          <a:cs typeface="Malgun Gothic"/>
                          <a:sym typeface="Malgun Gothic"/>
                        </a:rPr>
                        <a:t>신원료</a:t>
                      </a:r>
                      <a:r>
                        <a:rPr lang="ko-KR" altLang="en-US" sz="1000" b="0" i="0" u="none" strike="noStrike" cap="none" dirty="0">
                          <a:solidFill>
                            <a:schemeClr val="dk1"/>
                          </a:solidFill>
                          <a:latin typeface="Malgun Gothic"/>
                          <a:ea typeface="Malgun Gothic"/>
                          <a:cs typeface="Malgun Gothic"/>
                          <a:sym typeface="Malgun Gothic"/>
                        </a:rPr>
                        <a:t>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비안 관련 업무 협조</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② 화장품 이상반응 모니터링</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신원료</a:t>
                      </a:r>
                      <a:r>
                        <a:rPr lang="ko-KR" altLang="en-US" sz="1000" b="0" i="0" u="none" strike="noStrike" cap="none" dirty="0">
                          <a:solidFill>
                            <a:schemeClr val="dk1"/>
                          </a:solidFill>
                          <a:latin typeface="Malgun Gothic"/>
                          <a:ea typeface="Malgun Gothic"/>
                          <a:cs typeface="Malgun Gothic"/>
                          <a:sym typeface="Malgun Gothic"/>
                        </a:rPr>
                        <a:t> 안전성 모니터링 및 보고업무 수행</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③ 필요 시 화장품 및 </a:t>
                      </a:r>
                      <a:r>
                        <a:rPr lang="ko-KR" altLang="en-US" sz="1000" b="0" i="0" u="none" strike="noStrike" cap="none" dirty="0" err="1">
                          <a:solidFill>
                            <a:schemeClr val="dk1"/>
                          </a:solidFill>
                          <a:latin typeface="Malgun Gothic"/>
                          <a:ea typeface="Malgun Gothic"/>
                          <a:cs typeface="Malgun Gothic"/>
                          <a:sym typeface="Malgun Gothic"/>
                        </a:rPr>
                        <a:t>신원료</a:t>
                      </a:r>
                      <a:r>
                        <a:rPr lang="ko-KR" altLang="en-US" sz="1000" b="0" i="0" u="none" strike="noStrike" cap="none" dirty="0">
                          <a:solidFill>
                            <a:schemeClr val="dk1"/>
                          </a:solidFill>
                          <a:latin typeface="Malgun Gothic"/>
                          <a:ea typeface="Malgun Gothic"/>
                          <a:cs typeface="Malgun Gothic"/>
                          <a:sym typeface="Malgun Gothic"/>
                        </a:rPr>
                        <a:t> 회수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소비자 고지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관계기관 보고 업무 협조</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④ 수권 범위 및 관련 규정에 따라 중국 내 유통 제품의 품질안전 관련 책임 수행</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⑤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및 지방 약품감독관리국의 감독검사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자료제출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시정요구 대응 협조</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0"/>
                  </a:ext>
                </a:extLst>
              </a:tr>
              <a:tr h="757325">
                <a:tc vMerge="1">
                  <a:txBody>
                    <a:bodyPr/>
                    <a:lstStyle/>
                    <a:p>
                      <a:endParaRPr lang="ko-KR"/>
                    </a:p>
                  </a:txBody>
                  <a:tcPr/>
                </a:tc>
                <a:tc>
                  <a:txBody>
                    <a:bodyPr/>
                    <a:lstStyle/>
                    <a:p>
                      <a:pPr marL="0" marR="0" lvl="0" indent="0" algn="l" rtl="0">
                        <a:spcBef>
                          <a:spcPts val="0"/>
                        </a:spcBef>
                        <a:spcAft>
                          <a:spcPts val="0"/>
                        </a:spcAft>
                        <a:buNone/>
                      </a:pPr>
                      <a:r>
                        <a:rPr lang="ko-KR" sz="1400" b="1" u="none" strike="noStrike" cap="none" dirty="0"/>
                        <a:t>경내책임자 자격 요건</a:t>
                      </a:r>
                      <a:endParaRPr dirty="0"/>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중국 내에 법에 따라 설립된 법인 또는 기타 조직일 것</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② 화장품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판매 또는 관련 업무 수행이 가능한 경영범위와 조직체계를 갖출 것</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altLang="ko-KR" sz="1000" b="0" dirty="0"/>
                        <a:t>※</a:t>
                      </a:r>
                      <a:r>
                        <a:rPr lang="ko-KR" altLang="ko-KR" sz="1000" b="0" dirty="0" err="1"/>
                        <a:t>영업집조</a:t>
                      </a:r>
                      <a:r>
                        <a:rPr lang="ko-KR" altLang="ko-KR" sz="1000" b="0" dirty="0"/>
                        <a:t>(사업자등록증) : 경영범위에 </a:t>
                      </a:r>
                      <a:r>
                        <a:rPr lang="ko-KR" altLang="ko-KR" sz="1000" b="0" i="1" dirty="0"/>
                        <a:t>화장품 </a:t>
                      </a:r>
                      <a:r>
                        <a:rPr lang="ko-KR" altLang="ko-KR" sz="1000" b="0" i="1" dirty="0" err="1"/>
                        <a:t>판매·수입</a:t>
                      </a:r>
                      <a:r>
                        <a:rPr lang="ko-KR" altLang="ko-KR" sz="1000" b="0" dirty="0"/>
                        <a:t> 관련 사업이 포함되어 있는지 확인</a:t>
                      </a:r>
                      <a:endParaRPr lang="ko-KR" altLang="en-US"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③ 실제 수입업무를 수행하는 경우 세관 등록</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대외무역 관련 자격 등 수입업무 수행 요건을 별도 확인할 것</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altLang="ko-KR" sz="1000" b="0" dirty="0"/>
                        <a:t>※</a:t>
                      </a:r>
                      <a:r>
                        <a:rPr lang="ko-KR" altLang="ko-KR" sz="1000" dirty="0" err="1"/>
                        <a:t>대외무역경영자비안등기표</a:t>
                      </a:r>
                      <a:r>
                        <a:rPr lang="ko-KR" altLang="ko-KR" sz="1000" dirty="0"/>
                        <a:t>(수출입 경영자 등록), 세관등록(海关备案), 중국전자포트 등록 등 수입업무 수행 요건</a:t>
                      </a:r>
                      <a:r>
                        <a:rPr lang="en-US" altLang="ko-KR" sz="1000" dirty="0"/>
                        <a:t> </a:t>
                      </a:r>
                      <a:r>
                        <a:rPr lang="ko-KR" altLang="en-US" sz="1000" dirty="0"/>
                        <a:t>확인 </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1"/>
                  </a:ext>
                </a:extLst>
              </a:tr>
              <a:tr h="757325">
                <a:tc vMerge="1">
                  <a:txBody>
                    <a:bodyPr/>
                    <a:lstStyle/>
                    <a:p>
                      <a:endParaRPr lang="ko-KR"/>
                    </a:p>
                  </a:txBody>
                  <a:tcPr/>
                </a:tc>
                <a:tc>
                  <a:txBody>
                    <a:bodyPr/>
                    <a:lstStyle/>
                    <a:p>
                      <a:pPr marL="0" marR="0" lvl="0" indent="0" algn="l" rtl="0">
                        <a:spcBef>
                          <a:spcPts val="0"/>
                        </a:spcBef>
                        <a:spcAft>
                          <a:spcPts val="0"/>
                        </a:spcAft>
                        <a:buNone/>
                      </a:pPr>
                      <a:r>
                        <a:rPr lang="ko-KR" sz="1400" b="1" u="none" strike="noStrike" cap="none"/>
                        <a:t>선정 요령/체크포인트</a:t>
                      </a:r>
                      <a:endParaRPr/>
                    </a:p>
                  </a:txBody>
                  <a:tcPr marL="91450" marR="91450" marT="45725" marB="45725" anchor="ctr"/>
                </a:tc>
                <a:tc>
                  <a:txBody>
                    <a:bodyPr/>
                    <a:lstStyle/>
                    <a:p>
                      <a:pPr marL="0" marR="0" lvl="0" indent="0" algn="l" rtl="0">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[중국지사]</a:t>
                      </a:r>
                      <a:endParaRP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장점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등록정보</a:t>
                      </a: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계정</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시험자료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안전성평가보고서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사후관리 권한을 직접 통제 가능</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단점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법인 설립</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운영비 및 현지 규제 대응 인력 필요</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a:t>
                      </a:r>
                      <a:r>
                        <a:rPr lang="ko-KR" sz="1000" b="0" i="0" u="none" strike="noStrike" cap="none" dirty="0" err="1">
                          <a:solidFill>
                            <a:schemeClr val="dk1"/>
                          </a:solidFill>
                          <a:latin typeface="Malgun Gothic"/>
                          <a:ea typeface="Malgun Gothic"/>
                          <a:cs typeface="Malgun Gothic"/>
                          <a:sym typeface="Malgun Gothic"/>
                        </a:rPr>
                        <a:t>유통사</a:t>
                      </a:r>
                      <a:r>
                        <a:rPr lang="ko-KR" sz="1000" b="0" i="0" u="none" strike="noStrike" cap="none" dirty="0">
                          <a:solidFill>
                            <a:schemeClr val="dk1"/>
                          </a:solidFill>
                          <a:latin typeface="Malgun Gothic"/>
                          <a:ea typeface="Malgun Gothic"/>
                          <a:cs typeface="Malgun Gothic"/>
                          <a:sym typeface="Malgun Gothic"/>
                        </a:rPr>
                        <a:t>]</a:t>
                      </a:r>
                      <a:endParaRP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장점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초기 진입과 유통망 확보에 유리하며 총판 역할 수행 가능</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단점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등록정보</a:t>
                      </a: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계정</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고객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유통채널 권한이 유통업체에 집중될 수 있으므로 계약상 권한</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이전 조건 명확화 필요</a:t>
                      </a:r>
                      <a:endParaRPr lang="en-US" altLang="ko-K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[대행업체]</a:t>
                      </a:r>
                      <a:endParaRPr sz="1000" b="0" i="0" u="none" strike="noStrike" cap="none" dirty="0">
                        <a:solidFill>
                          <a:schemeClr val="dk1"/>
                        </a:solidFill>
                        <a:latin typeface="Malgun Gothic"/>
                        <a:ea typeface="Malgun Gothic"/>
                        <a:cs typeface="Malgun Gothic"/>
                        <a:sym typeface="Malgun Gothic"/>
                      </a:endParaRP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장점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규제 전문성 및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절차 이해도가 높고 단기간 내 업무 착수 가능</a:t>
                      </a:r>
                    </a:p>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단점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대행료가</a:t>
                      </a:r>
                      <a:r>
                        <a:rPr lang="ko-KR" altLang="en-US" sz="1000" b="0" i="0" u="none" strike="noStrike" cap="none" dirty="0">
                          <a:solidFill>
                            <a:schemeClr val="dk1"/>
                          </a:solidFill>
                          <a:latin typeface="Malgun Gothic"/>
                          <a:ea typeface="Malgun Gothic"/>
                          <a:cs typeface="Malgun Gothic"/>
                          <a:sym typeface="Malgun Gothic"/>
                        </a:rPr>
                        <a:t> 발생하며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실제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또는 제품 책임주체 역할 수행 가능 여부와 자료 보안 체계 확인 필요</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bl>
          </a:graphicData>
        </a:graphic>
      </p:graphicFrame>
      <p:sp>
        <p:nvSpPr>
          <p:cNvPr id="134" name="Google Shape;134;p5"/>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02. 경내책임자 선임</a:t>
            </a:r>
            <a:endParaRPr sz="2000" b="1">
              <a:solidFill>
                <a:srgbClr val="0070C0"/>
              </a:solidFill>
              <a:latin typeface="Malgun Gothic"/>
              <a:ea typeface="Malgun Gothic"/>
              <a:cs typeface="Malgun Gothic"/>
              <a:sym typeface="Malgun Gothic"/>
            </a:endParaRPr>
          </a:p>
        </p:txBody>
      </p:sp>
      <p:sp>
        <p:nvSpPr>
          <p:cNvPr id="3" name="TextBox 2">
            <a:extLst>
              <a:ext uri="{FF2B5EF4-FFF2-40B4-BE49-F238E27FC236}">
                <a16:creationId xmlns:a16="http://schemas.microsoft.com/office/drawing/2014/main" id="{DA0F8D8B-9AD5-919D-53B2-CD0E92E2548C}"/>
              </a:ext>
            </a:extLst>
          </p:cNvPr>
          <p:cNvSpPr txBox="1"/>
          <p:nvPr/>
        </p:nvSpPr>
        <p:spPr>
          <a:xfrm>
            <a:off x="0" y="6596390"/>
            <a:ext cx="1634308" cy="261610"/>
          </a:xfrm>
          <a:prstGeom prst="rect">
            <a:avLst/>
          </a:prstGeom>
          <a:solidFill>
            <a:srgbClr val="FFFF00"/>
          </a:solidFill>
          <a:ln>
            <a:noFill/>
            <a:prstDash val="dash"/>
          </a:ln>
          <a:effectLst>
            <a:outerShdw blurRad="50800" dist="38100" dir="2700000" algn="tl" rotWithShape="0">
              <a:prstClr val="black">
                <a:alpha val="40000"/>
              </a:prstClr>
            </a:outerShdw>
          </a:effectLst>
        </p:spPr>
        <p:txBody>
          <a:bodyPr wrap="square" rtlCol="0">
            <a:spAutoFit/>
          </a:bodyPr>
          <a:lstStyle/>
          <a:p>
            <a:r>
              <a:rPr lang="ko-KR" altLang="en-US" sz="1100" b="1" dirty="0"/>
              <a:t>다음 페이지에 이어서</a:t>
            </a:r>
            <a:endParaRPr lang="ko-KR" alt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032DB21-E80C-5404-1FD5-B3DB63B14FD0}"/>
            </a:ext>
          </a:extLst>
        </p:cNvPr>
        <p:cNvGrpSpPr/>
        <p:nvPr/>
      </p:nvGrpSpPr>
      <p:grpSpPr>
        <a:xfrm>
          <a:off x="0" y="0"/>
          <a:ext cx="0" cy="0"/>
          <a:chOff x="0" y="0"/>
          <a:chExt cx="0" cy="0"/>
        </a:xfrm>
      </p:grpSpPr>
      <p:graphicFrame>
        <p:nvGraphicFramePr>
          <p:cNvPr id="133" name="Google Shape;133;p5">
            <a:extLst>
              <a:ext uri="{FF2B5EF4-FFF2-40B4-BE49-F238E27FC236}">
                <a16:creationId xmlns:a16="http://schemas.microsoft.com/office/drawing/2014/main" id="{F6127A92-94CC-F77C-2125-15FE4E33A3C8}"/>
              </a:ext>
            </a:extLst>
          </p:cNvPr>
          <p:cNvGraphicFramePr/>
          <p:nvPr>
            <p:extLst>
              <p:ext uri="{D42A27DB-BD31-4B8C-83A1-F6EECF244321}">
                <p14:modId xmlns:p14="http://schemas.microsoft.com/office/powerpoint/2010/main" val="3849374117"/>
              </p:ext>
            </p:extLst>
          </p:nvPr>
        </p:nvGraphicFramePr>
        <p:xfrm>
          <a:off x="325826" y="865735"/>
          <a:ext cx="11175300" cy="5087225"/>
        </p:xfrm>
        <a:graphic>
          <a:graphicData uri="http://schemas.openxmlformats.org/drawingml/2006/table">
            <a:tbl>
              <a:tblPr firstRow="1" bandRow="1">
                <a:noFill/>
                <a:tableStyleId>{FDF456CB-F135-4C2A-B49E-3954C3F3A06D}</a:tableStyleId>
              </a:tblPr>
              <a:tblGrid>
                <a:gridCol w="1228650">
                  <a:extLst>
                    <a:ext uri="{9D8B030D-6E8A-4147-A177-3AD203B41FA5}">
                      <a16:colId xmlns:a16="http://schemas.microsoft.com/office/drawing/2014/main" val="20000"/>
                    </a:ext>
                  </a:extLst>
                </a:gridCol>
                <a:gridCol w="3475500">
                  <a:extLst>
                    <a:ext uri="{9D8B030D-6E8A-4147-A177-3AD203B41FA5}">
                      <a16:colId xmlns:a16="http://schemas.microsoft.com/office/drawing/2014/main" val="20001"/>
                    </a:ext>
                  </a:extLst>
                </a:gridCol>
                <a:gridCol w="6471150">
                  <a:extLst>
                    <a:ext uri="{9D8B030D-6E8A-4147-A177-3AD203B41FA5}">
                      <a16:colId xmlns:a16="http://schemas.microsoft.com/office/drawing/2014/main" val="20002"/>
                    </a:ext>
                  </a:extLst>
                </a:gridCol>
              </a:tblGrid>
              <a:tr h="449600">
                <a:tc rowSpan="2">
                  <a:txBody>
                    <a:bodyPr/>
                    <a:lstStyle/>
                    <a:p>
                      <a:pPr marL="0" marR="0" lvl="0" indent="0" algn="l" rtl="0">
                        <a:spcBef>
                          <a:spcPts val="0"/>
                        </a:spcBef>
                        <a:spcAft>
                          <a:spcPts val="0"/>
                        </a:spcAft>
                        <a:buNone/>
                      </a:pPr>
                      <a:r>
                        <a:rPr lang="ko-KR" b="1">
                          <a:latin typeface="Malgun Gothic"/>
                          <a:ea typeface="Malgun Gothic"/>
                          <a:cs typeface="Malgun Gothic"/>
                          <a:sym typeface="Malgun Gothic"/>
                        </a:rPr>
                        <a:t>수권계약 </a:t>
                      </a:r>
                      <a:endParaRPr b="1">
                        <a:latin typeface="Malgun Gothic"/>
                        <a:ea typeface="Malgun Gothic"/>
                        <a:cs typeface="Malgun Gothic"/>
                        <a:sym typeface="Malgun Gothic"/>
                      </a:endParaRPr>
                    </a:p>
                    <a:p>
                      <a:pPr marL="0" marR="0" lvl="0" indent="0" algn="l" rtl="0">
                        <a:spcBef>
                          <a:spcPts val="0"/>
                        </a:spcBef>
                        <a:spcAft>
                          <a:spcPts val="0"/>
                        </a:spcAft>
                        <a:buNone/>
                      </a:pPr>
                      <a:r>
                        <a:rPr lang="ko-KR" b="1">
                          <a:latin typeface="Malgun Gothic"/>
                          <a:ea typeface="Malgun Gothic"/>
                          <a:cs typeface="Malgun Gothic"/>
                          <a:sym typeface="Malgun Gothic"/>
                        </a:rPr>
                        <a:t>채결</a:t>
                      </a:r>
                      <a:endParaRPr b="1">
                        <a:latin typeface="Malgun Gothic"/>
                        <a:ea typeface="Malgun Gothic"/>
                        <a:cs typeface="Malgun Gothic"/>
                        <a:sym typeface="Malgun Gothic"/>
                      </a:endParaRPr>
                    </a:p>
                  </a:txBody>
                  <a:tcPr marL="91450" marR="91450" marT="45725" marB="45725" anchor="ctr"/>
                </a:tc>
                <a:tc>
                  <a:txBody>
                    <a:bodyPr/>
                    <a:lstStyle/>
                    <a:p>
                      <a:pPr marL="0" marR="0" lvl="0" indent="0" algn="l" rtl="0">
                        <a:spcBef>
                          <a:spcPts val="0"/>
                        </a:spcBef>
                        <a:spcAft>
                          <a:spcPts val="0"/>
                        </a:spcAft>
                        <a:buNone/>
                      </a:pPr>
                      <a:r>
                        <a:rPr lang="ko-KR" sz="1400" b="1" i="0" u="none" strike="noStrike" cap="none">
                          <a:solidFill>
                            <a:schemeClr val="dk1"/>
                          </a:solidFill>
                          <a:latin typeface="Malgun Gothic"/>
                          <a:ea typeface="Malgun Gothic"/>
                          <a:cs typeface="Malgun Gothic"/>
                          <a:sym typeface="Malgun Gothic"/>
                        </a:rPr>
                        <a:t>수권 계약서</a:t>
                      </a:r>
                      <a:endParaRPr sz="1400" b="1" i="0" u="none" strike="noStrike" cap="none">
                        <a:solidFill>
                          <a:schemeClr val="dk1"/>
                        </a:solidFill>
                        <a:latin typeface="Malgun Gothic"/>
                        <a:ea typeface="Malgun Gothic"/>
                        <a:cs typeface="Malgun Gothic"/>
                        <a:sym typeface="Malgun Gothic"/>
                      </a:endParaRPr>
                    </a:p>
                  </a:txBody>
                  <a:tcPr marL="91450" marR="91450" marT="45725" marB="45725" anchor="ctr"/>
                </a:tc>
                <a:tc>
                  <a:txBody>
                    <a:bodyPr/>
                    <a:lstStyle/>
                    <a:p>
                      <a:pPr marL="0" marR="0" lvl="0" indent="0" algn="l" rtl="0">
                        <a:spcBef>
                          <a:spcPts val="0"/>
                        </a:spcBef>
                        <a:spcAft>
                          <a:spcPts val="0"/>
                        </a:spcAft>
                        <a:buNone/>
                      </a:pPr>
                      <a:r>
                        <a:rPr lang="ko-KR" sz="1000" b="0" i="0" u="sng" strike="noStrike" cap="none" dirty="0">
                          <a:solidFill>
                            <a:schemeClr val="dk1"/>
                          </a:solidFill>
                          <a:highlight>
                            <a:srgbClr val="FFFF00"/>
                          </a:highlight>
                          <a:latin typeface="Malgun Gothic"/>
                          <a:ea typeface="Malgun Gothic"/>
                          <a:cs typeface="Malgun Gothic"/>
                          <a:sym typeface="Malgun Gothic"/>
                          <a:hlinkClick r:id="rId3">
                            <a:extLst>
                              <a:ext uri="{A12FA001-AC4F-418D-AE19-62706E023703}">
                                <ahyp:hlinkClr xmlns:ahyp="http://schemas.microsoft.com/office/drawing/2018/hyperlinkcolor" val="tx"/>
                              </a:ext>
                            </a:extLst>
                          </a:hlinkClick>
                        </a:rPr>
                        <a:t>경내책임자 수권서 양식</a:t>
                      </a:r>
                      <a:endParaRPr sz="1000" b="0" i="0" u="none" strike="noStrike" cap="none" dirty="0">
                        <a:solidFill>
                          <a:schemeClr val="dk1"/>
                        </a:solidFill>
                        <a:highlight>
                          <a:srgbClr val="FFFF00"/>
                        </a:highlight>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620150">
                <a:tc vMerge="1">
                  <a:txBody>
                    <a:bodyPr/>
                    <a:lstStyle/>
                    <a:p>
                      <a:endParaRPr lang="ko-KR"/>
                    </a:p>
                  </a:txBody>
                  <a:tcPr/>
                </a:tc>
                <a:tc>
                  <a:txBody>
                    <a:bodyPr/>
                    <a:lstStyle/>
                    <a:p>
                      <a:pPr marL="0" marR="0" lvl="0" indent="0" algn="l" rtl="0">
                        <a:spcBef>
                          <a:spcPts val="0"/>
                        </a:spcBef>
                        <a:spcAft>
                          <a:spcPts val="0"/>
                        </a:spcAft>
                        <a:buNone/>
                      </a:pPr>
                      <a:r>
                        <a:rPr lang="ko-KR" sz="1400" b="1" u="none" strike="noStrike" cap="none"/>
                        <a:t>주의사항</a:t>
                      </a:r>
                      <a:endParaRPr/>
                    </a:p>
                  </a:txBody>
                  <a:tcPr marL="91450" marR="91450" marT="45725" marB="45725" anchor="ctr"/>
                </a:tc>
                <a:tc>
                  <a:txBody>
                    <a:bodyPr/>
                    <a:lstStyle/>
                    <a:p>
                      <a:pPr marL="0" marR="0" lvl="0" indent="0" algn="l" rtl="0">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수권서에는 </a:t>
                      </a:r>
                      <a:r>
                        <a:rPr lang="ko-KR" altLang="en-US" sz="1000" b="0" i="0" u="none" strike="noStrike" cap="none" dirty="0" err="1">
                          <a:solidFill>
                            <a:schemeClr val="dk1"/>
                          </a:solidFill>
                          <a:latin typeface="Malgun Gothic"/>
                          <a:ea typeface="Malgun Gothic"/>
                          <a:cs typeface="Malgun Gothic"/>
                          <a:sym typeface="Malgun Gothic"/>
                        </a:rPr>
                        <a:t>수권자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피수권자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수권범위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수권기간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수권내용</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범위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자료 제출 및 보관 책임을 명확히 기재할 것</a:t>
                      </a:r>
                    </a:p>
                    <a:p>
                      <a:pPr marL="0" marR="0" lvl="0" indent="0" algn="l" rtl="0">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동일 제품에 대해 복수 경내책임자를 중복 </a:t>
                      </a:r>
                      <a:r>
                        <a:rPr lang="ko-KR" altLang="en-US" sz="1000" b="0" i="0" u="none" strike="noStrike" cap="none" dirty="0" err="1">
                          <a:solidFill>
                            <a:schemeClr val="dk1"/>
                          </a:solidFill>
                          <a:latin typeface="Malgun Gothic"/>
                          <a:ea typeface="Malgun Gothic"/>
                          <a:cs typeface="Malgun Gothic"/>
                          <a:sym typeface="Malgun Gothic"/>
                        </a:rPr>
                        <a:t>수권할</a:t>
                      </a:r>
                      <a:r>
                        <a:rPr lang="ko-KR" altLang="en-US" sz="1000" b="0" i="0" u="none" strike="noStrike" cap="none" dirty="0">
                          <a:solidFill>
                            <a:schemeClr val="dk1"/>
                          </a:solidFill>
                          <a:latin typeface="Malgun Gothic"/>
                          <a:ea typeface="Malgun Gothic"/>
                          <a:cs typeface="Malgun Gothic"/>
                          <a:sym typeface="Malgun Gothic"/>
                        </a:rPr>
                        <a:t> 수 없으므로 제품별 수권관계 확인 필요</a:t>
                      </a:r>
                    </a:p>
                    <a:p>
                      <a:pPr marL="0" marR="0" lvl="0" indent="0" algn="l" rtl="0">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시스템 계정</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정보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시험자료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안전성평가보고서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원료 안전정보 등 자료 접근권한과 비밀유지의무를 계약서에 명시할 것</a:t>
                      </a:r>
                    </a:p>
                    <a:p>
                      <a:pPr marL="0" marR="0" lvl="0" indent="0" algn="l" rtl="0">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계약 해지 또는 경내책임자 변경 시 자료 반환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변경신청 협조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계정 권한 이전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비용 부담 기준을 사전에 정할 것</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4"/>
                  </a:ext>
                </a:extLst>
              </a:tr>
              <a:tr h="644725">
                <a:tc rowSpan="2">
                  <a:txBody>
                    <a:bodyPr/>
                    <a:lstStyle/>
                    <a:p>
                      <a:pPr marL="0" marR="0" lvl="0" indent="0" algn="l" rtl="0">
                        <a:spcBef>
                          <a:spcPts val="0"/>
                        </a:spcBef>
                        <a:spcAft>
                          <a:spcPts val="0"/>
                        </a:spcAft>
                        <a:buClr>
                          <a:schemeClr val="dk1"/>
                        </a:buClr>
                        <a:buSzPts val="1400"/>
                        <a:buFont typeface="Malgun Gothic"/>
                        <a:buNone/>
                      </a:pPr>
                      <a:r>
                        <a:rPr lang="ko-KR" b="1" dirty="0">
                          <a:hlinkClick r:id="rId4"/>
                        </a:rPr>
                        <a:t>시스템 </a:t>
                      </a:r>
                      <a:endParaRPr b="1" dirty="0">
                        <a:hlinkClick r:id="rId4"/>
                      </a:endParaRPr>
                    </a:p>
                    <a:p>
                      <a:pPr marL="0" marR="0" lvl="0" indent="0" algn="l" rtl="0">
                        <a:spcBef>
                          <a:spcPts val="0"/>
                        </a:spcBef>
                        <a:spcAft>
                          <a:spcPts val="0"/>
                        </a:spcAft>
                        <a:buClr>
                          <a:schemeClr val="dk1"/>
                        </a:buClr>
                        <a:buSzPts val="1400"/>
                        <a:buFont typeface="Malgun Gothic"/>
                        <a:buNone/>
                      </a:pPr>
                      <a:r>
                        <a:rPr lang="ko-KR" b="1" dirty="0">
                          <a:hlinkClick r:id="rId4"/>
                        </a:rPr>
                        <a:t>ID/PW 신청</a:t>
                      </a:r>
                      <a:endParaRPr b="1" dirty="0"/>
                    </a:p>
                  </a:txBody>
                  <a:tcPr marL="91450" marR="91450" marT="45725" marB="45725" anchor="ctr"/>
                </a:tc>
                <a:tc>
                  <a:txBody>
                    <a:bodyPr/>
                    <a:lstStyle/>
                    <a:p>
                      <a:pPr marL="0" marR="0" lvl="0" indent="0" algn="l" rtl="0">
                        <a:spcBef>
                          <a:spcPts val="0"/>
                        </a:spcBef>
                        <a:spcAft>
                          <a:spcPts val="0"/>
                        </a:spcAft>
                        <a:buClr>
                          <a:schemeClr val="dk1"/>
                        </a:buClr>
                        <a:buSzPts val="1400"/>
                        <a:buFont typeface="Malgun Gothic"/>
                        <a:buNone/>
                      </a:pPr>
                      <a:r>
                        <a:rPr lang="ko-KR" sz="1400" b="1" u="none" strike="noStrike" cap="none">
                          <a:solidFill>
                            <a:schemeClr val="tx1"/>
                          </a:solidFill>
                        </a:rPr>
                        <a:t>필요서류</a:t>
                      </a:r>
                      <a:endParaRPr sz="1400" b="1" u="none" strike="noStrike" cap="none">
                        <a:solidFill>
                          <a:schemeClr val="tx1"/>
                        </a:solidFill>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① 허가인</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등록인 </a:t>
                      </a:r>
                      <a:r>
                        <a:rPr lang="ko-KR" altLang="en-US" sz="1000" b="0" i="0" u="none" strike="noStrike" cap="none" dirty="0" err="1">
                          <a:solidFill>
                            <a:schemeClr val="tx1"/>
                          </a:solidFill>
                          <a:latin typeface="Malgun Gothic"/>
                          <a:ea typeface="Malgun Gothic"/>
                          <a:cs typeface="Malgun Gothic"/>
                          <a:sym typeface="Malgun Gothic"/>
                        </a:rPr>
                        <a:t>정보표</a:t>
                      </a:r>
                      <a:r>
                        <a:rPr lang="ko-KR" altLang="en-US" sz="1000" b="0" i="0" u="none" strike="noStrike" cap="none" dirty="0">
                          <a:solidFill>
                            <a:schemeClr val="tx1"/>
                          </a:solidFill>
                          <a:latin typeface="Malgun Gothic"/>
                          <a:ea typeface="Malgun Gothic"/>
                          <a:cs typeface="Malgun Gothic"/>
                          <a:sym typeface="Malgun Gothic"/>
                        </a:rPr>
                        <a:t> 및 품질안전책임자 이력서</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② 허가인</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등록인 품질관리체계 개요</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③ 허가인</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등록인 이상반응 모니터링 및 평가 체계 개요</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④ 경내책임자 </a:t>
                      </a:r>
                      <a:r>
                        <a:rPr lang="ko-KR" altLang="en-US" sz="1000" b="0" i="0" u="none" strike="noStrike" cap="none" dirty="0" err="1">
                          <a:solidFill>
                            <a:schemeClr val="tx1"/>
                          </a:solidFill>
                          <a:latin typeface="Malgun Gothic"/>
                          <a:ea typeface="Malgun Gothic"/>
                          <a:cs typeface="Malgun Gothic"/>
                          <a:sym typeface="Malgun Gothic"/>
                        </a:rPr>
                        <a:t>정보표</a:t>
                      </a:r>
                      <a:endParaRPr lang="ko-KR" altLang="en-US" sz="1000" b="0" i="0" u="none" strike="noStrike" cap="none" dirty="0">
                        <a:solidFill>
                          <a:schemeClr val="tx1"/>
                        </a:solidFill>
                        <a:latin typeface="Malgun Gothic"/>
                        <a:ea typeface="Malgun Gothic"/>
                        <a:cs typeface="Malgun Gothic"/>
                        <a:sym typeface="Malgun Gothic"/>
                      </a:endParaRP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⑤ 경내책임자 수권서 원본 및 공증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인증 서류</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해당 시</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⑥ 생산기업 </a:t>
                      </a:r>
                      <a:r>
                        <a:rPr lang="ko-KR" altLang="en-US" sz="1000" b="0" i="0" u="none" strike="noStrike" cap="none" dirty="0" err="1">
                          <a:solidFill>
                            <a:schemeClr val="tx1"/>
                          </a:solidFill>
                          <a:latin typeface="Malgun Gothic"/>
                          <a:ea typeface="Malgun Gothic"/>
                          <a:cs typeface="Malgun Gothic"/>
                          <a:sym typeface="Malgun Gothic"/>
                        </a:rPr>
                        <a:t>정보표</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품질안전책임자 정보</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생산품질관리 관련 증명서류</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⑦ 허가인</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등록인 법인 또는 사업자 증명서류</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⑧ 경내책임자 </a:t>
                      </a:r>
                      <a:r>
                        <a:rPr lang="ko-KR" altLang="en-US" sz="1000" b="0" i="0" u="none" strike="noStrike" cap="none" dirty="0" err="1">
                          <a:solidFill>
                            <a:schemeClr val="tx1"/>
                          </a:solidFill>
                          <a:latin typeface="Malgun Gothic"/>
                          <a:ea typeface="Malgun Gothic"/>
                          <a:cs typeface="Malgun Gothic"/>
                          <a:sym typeface="Malgun Gothic"/>
                        </a:rPr>
                        <a:t>영업집조</a:t>
                      </a:r>
                      <a:r>
                        <a:rPr lang="ko-KR" altLang="en-US" sz="1000" b="0" i="0" u="none" strike="noStrike" cap="none" dirty="0">
                          <a:solidFill>
                            <a:schemeClr val="tx1"/>
                          </a:solidFill>
                          <a:latin typeface="Malgun Gothic"/>
                          <a:ea typeface="Malgun Gothic"/>
                          <a:cs typeface="Malgun Gothic"/>
                          <a:sym typeface="Malgun Gothic"/>
                        </a:rPr>
                        <a:t> 및 담당자 정보</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⑨ 시스템 등록 담당자 연락처 및 위임자료</a:t>
                      </a:r>
                    </a:p>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⑩ 제품 등록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허가 진행 예정 목록</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필요 시</a:t>
                      </a:r>
                      <a:endParaRPr lang="en-US" altLang="ko-KR" sz="1000" b="0" i="0" u="none" strike="noStrike" cap="none" dirty="0">
                        <a:solidFill>
                          <a:schemeClr val="tx1"/>
                        </a:solidFill>
                        <a:latin typeface="Malgun Gothic"/>
                        <a:ea typeface="Malgun Gothic"/>
                        <a:cs typeface="Malgun Gothic"/>
                        <a:sym typeface="Malgun Gothic"/>
                      </a:endParaRPr>
                    </a:p>
                    <a:p>
                      <a:pPr marL="0" marR="0" lvl="0" indent="0" algn="l" rtl="0">
                        <a:spcBef>
                          <a:spcPts val="0"/>
                        </a:spcBef>
                        <a:spcAft>
                          <a:spcPts val="0"/>
                        </a:spcAft>
                        <a:buNone/>
                      </a:pPr>
                      <a:endParaRPr lang="en-US" altLang="ko-KR" sz="1000" b="0" i="0" u="none" strike="noStrike" cap="none" dirty="0">
                        <a:solidFill>
                          <a:schemeClr val="tx1"/>
                        </a:solidFill>
                        <a:latin typeface="Malgun Gothic"/>
                        <a:ea typeface="Malgun Gothic"/>
                        <a:cs typeface="Malgun Gothic"/>
                        <a:sym typeface="Malgun Gothic"/>
                      </a:endParaRPr>
                    </a:p>
                    <a:p>
                      <a:pPr marL="0" marR="0" lvl="0" indent="0" algn="l" rtl="0">
                        <a:spcBef>
                          <a:spcPts val="0"/>
                        </a:spcBef>
                        <a:spcAft>
                          <a:spcPts val="0"/>
                        </a:spcAft>
                        <a:buNone/>
                      </a:pPr>
                      <a:endParaRPr lang="en-US" altLang="ko-KR" sz="1000" b="0" i="0" u="none" strike="noStrike" cap="none" dirty="0">
                        <a:solidFill>
                          <a:schemeClr val="tx1"/>
                        </a:solidFill>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① </a:t>
                      </a:r>
                      <a:r>
                        <a:rPr lang="ko-KR" sz="1000" b="0" i="0" u="sng" strike="noStrike" cap="none" dirty="0">
                          <a:solidFill>
                            <a:schemeClr val="tx1"/>
                          </a:solidFill>
                          <a:highlight>
                            <a:srgbClr val="FFFF00"/>
                          </a:highlight>
                          <a:latin typeface="Malgun Gothic"/>
                          <a:ea typeface="Malgun Gothic"/>
                          <a:cs typeface="Malgun Gothic"/>
                          <a:sym typeface="Malgun Gothic"/>
                          <a:hlinkClick r:id="rId5">
                            <a:extLst>
                              <a:ext uri="{A12FA001-AC4F-418D-AE19-62706E023703}">
                                <ahyp:hlinkClr xmlns:ahyp="http://schemas.microsoft.com/office/drawing/2018/hyperlinkcolor" val="tx"/>
                              </a:ext>
                            </a:extLst>
                          </a:hlinkClick>
                        </a:rPr>
                        <a:t>허가인/등록인 </a:t>
                      </a:r>
                      <a:r>
                        <a:rPr lang="ko-KR" sz="1000" b="0" i="0" u="sng" strike="noStrike" cap="none" dirty="0" err="1">
                          <a:solidFill>
                            <a:schemeClr val="tx1"/>
                          </a:solidFill>
                          <a:highlight>
                            <a:srgbClr val="FFFF00"/>
                          </a:highlight>
                          <a:latin typeface="Malgun Gothic"/>
                          <a:ea typeface="Malgun Gothic"/>
                          <a:cs typeface="Malgun Gothic"/>
                          <a:sym typeface="Malgun Gothic"/>
                          <a:hlinkClick r:id="rId5">
                            <a:extLst>
                              <a:ext uri="{A12FA001-AC4F-418D-AE19-62706E023703}">
                                <ahyp:hlinkClr xmlns:ahyp="http://schemas.microsoft.com/office/drawing/2018/hyperlinkcolor" val="tx"/>
                              </a:ext>
                            </a:extLst>
                          </a:hlinkClick>
                        </a:rPr>
                        <a:t>정보표</a:t>
                      </a:r>
                      <a:r>
                        <a:rPr lang="ko-KR" sz="1000" b="0" i="0" u="sng" strike="noStrike" cap="none" dirty="0">
                          <a:solidFill>
                            <a:schemeClr val="tx1"/>
                          </a:solidFill>
                          <a:highlight>
                            <a:srgbClr val="FFFF00"/>
                          </a:highlight>
                          <a:latin typeface="Malgun Gothic"/>
                          <a:ea typeface="Malgun Gothic"/>
                          <a:cs typeface="Malgun Gothic"/>
                          <a:sym typeface="Malgun Gothic"/>
                          <a:hlinkClick r:id="rId5">
                            <a:extLst>
                              <a:ext uri="{A12FA001-AC4F-418D-AE19-62706E023703}">
                                <ahyp:hlinkClr xmlns:ahyp="http://schemas.microsoft.com/office/drawing/2018/hyperlinkcolor" val="tx"/>
                              </a:ext>
                            </a:extLst>
                          </a:hlinkClick>
                        </a:rPr>
                        <a:t> </a:t>
                      </a:r>
                      <a:r>
                        <a:rPr lang="ko-KR" sz="1000" b="0" i="0" u="none" strike="noStrike" cap="none" dirty="0">
                          <a:solidFill>
                            <a:schemeClr val="tx1"/>
                          </a:solidFill>
                          <a:latin typeface="Malgun Gothic"/>
                          <a:ea typeface="Malgun Gothic"/>
                          <a:cs typeface="Malgun Gothic"/>
                          <a:sym typeface="Malgun Gothic"/>
                        </a:rPr>
                        <a:t>및 </a:t>
                      </a:r>
                      <a:r>
                        <a:rPr lang="ko-KR" sz="1000" b="0" i="0" u="none" strike="noStrike" cap="none" dirty="0">
                          <a:solidFill>
                            <a:schemeClr val="tx1"/>
                          </a:solidFill>
                          <a:latin typeface="Malgun Gothic"/>
                          <a:ea typeface="Malgun Gothic"/>
                          <a:cs typeface="Malgun Gothic"/>
                          <a:sym typeface="Malgun Gothic"/>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품질안전책임자 </a:t>
                      </a:r>
                      <a:r>
                        <a:rPr lang="ko-KR" sz="1000" b="0" i="0" u="none" strike="noStrike" cap="none" dirty="0">
                          <a:solidFill>
                            <a:schemeClr val="tx1"/>
                          </a:solidFill>
                          <a:latin typeface="Malgun Gothic"/>
                          <a:ea typeface="Malgun Gothic"/>
                          <a:cs typeface="Malgun Gothic"/>
                          <a:sym typeface="Malgun Gothic"/>
                        </a:rPr>
                        <a:t>이력서</a:t>
                      </a:r>
                      <a:endParaRPr dirty="0">
                        <a:solidFill>
                          <a:schemeClr val="tx1"/>
                        </a:solidFill>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② </a:t>
                      </a:r>
                      <a:r>
                        <a:rPr lang="ko-KR" sz="1000" b="0" i="0" u="sng" strike="noStrike" cap="none" dirty="0">
                          <a:solidFill>
                            <a:schemeClr val="tx1"/>
                          </a:solidFill>
                          <a:highlight>
                            <a:srgbClr val="FFFF00"/>
                          </a:highlight>
                          <a:latin typeface="Malgun Gothic"/>
                          <a:ea typeface="Malgun Gothic"/>
                          <a:cs typeface="Malgun Gothic"/>
                          <a:sym typeface="Malgun Gothic"/>
                          <a:hlinkClick r:id="rId6">
                            <a:extLst>
                              <a:ext uri="{A12FA001-AC4F-418D-AE19-62706E023703}">
                                <ahyp:hlinkClr xmlns:ahyp="http://schemas.microsoft.com/office/drawing/2018/hyperlinkcolor" val="tx"/>
                              </a:ext>
                            </a:extLst>
                          </a:hlinkClick>
                        </a:rPr>
                        <a:t>허가인/등록인 품질관리체계 개요</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③ </a:t>
                      </a:r>
                      <a:r>
                        <a:rPr lang="ko-KR" sz="1000" b="0" i="0" u="sng" strike="noStrike" cap="none" dirty="0">
                          <a:solidFill>
                            <a:schemeClr val="tx1"/>
                          </a:solidFill>
                          <a:highlight>
                            <a:srgbClr val="FFFF00"/>
                          </a:highlight>
                          <a:latin typeface="Malgun Gothic"/>
                          <a:ea typeface="Malgun Gothic"/>
                          <a:cs typeface="Malgun Gothic"/>
                          <a:sym typeface="Malgun Gothic"/>
                          <a:hlinkClick r:id="rId7">
                            <a:extLst>
                              <a:ext uri="{A12FA001-AC4F-418D-AE19-62706E023703}">
                                <ahyp:hlinkClr xmlns:ahyp="http://schemas.microsoft.com/office/drawing/2018/hyperlinkcolor" val="tx"/>
                              </a:ext>
                            </a:extLst>
                          </a:hlinkClick>
                        </a:rPr>
                        <a:t>허가인/등록인 부작용 모니터링 및 평가 체계 개요</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④ </a:t>
                      </a:r>
                      <a:r>
                        <a:rPr lang="ko-KR" sz="1000" b="0" i="0" u="sng" strike="noStrike" cap="none" dirty="0">
                          <a:solidFill>
                            <a:schemeClr val="tx1"/>
                          </a:solidFill>
                          <a:highlight>
                            <a:srgbClr val="FFFF00"/>
                          </a:highlight>
                          <a:latin typeface="Malgun Gothic"/>
                          <a:ea typeface="Malgun Gothic"/>
                          <a:cs typeface="Malgun Gothic"/>
                          <a:sym typeface="Malgun Gothic"/>
                          <a:hlinkClick r:id="rId8">
                            <a:extLst>
                              <a:ext uri="{A12FA001-AC4F-418D-AE19-62706E023703}">
                                <ahyp:hlinkClr xmlns:ahyp="http://schemas.microsoft.com/office/drawing/2018/hyperlinkcolor" val="tx"/>
                              </a:ext>
                            </a:extLst>
                          </a:hlinkClick>
                        </a:rPr>
                        <a:t>경내책임자 </a:t>
                      </a:r>
                      <a:r>
                        <a:rPr lang="ko-KR" sz="1000" b="0" i="0" u="sng" strike="noStrike" cap="none" dirty="0" err="1">
                          <a:solidFill>
                            <a:schemeClr val="tx1"/>
                          </a:solidFill>
                          <a:highlight>
                            <a:srgbClr val="FFFF00"/>
                          </a:highlight>
                          <a:latin typeface="Malgun Gothic"/>
                          <a:ea typeface="Malgun Gothic"/>
                          <a:cs typeface="Malgun Gothic"/>
                          <a:sym typeface="Malgun Gothic"/>
                          <a:hlinkClick r:id="rId8">
                            <a:extLst>
                              <a:ext uri="{A12FA001-AC4F-418D-AE19-62706E023703}">
                                <ahyp:hlinkClr xmlns:ahyp="http://schemas.microsoft.com/office/drawing/2018/hyperlinkcolor" val="tx"/>
                              </a:ext>
                            </a:extLst>
                          </a:hlinkClick>
                        </a:rPr>
                        <a:t>정보표</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⑤ </a:t>
                      </a:r>
                      <a:r>
                        <a:rPr lang="ko-KR" sz="1000" b="0" i="0" u="sng" strike="noStrike" cap="none" dirty="0">
                          <a:solidFill>
                            <a:schemeClr val="tx1"/>
                          </a:solidFill>
                          <a:highlight>
                            <a:srgbClr val="FFFF00"/>
                          </a:highlight>
                          <a:latin typeface="Malgun Gothic"/>
                          <a:ea typeface="Malgun Gothic"/>
                          <a:cs typeface="Malgun Gothic"/>
                          <a:sym typeface="Malgun Gothic"/>
                          <a:hlinkClick r:id="rId3">
                            <a:extLst>
                              <a:ext uri="{A12FA001-AC4F-418D-AE19-62706E023703}">
                                <ahyp:hlinkClr xmlns:ahyp="http://schemas.microsoft.com/office/drawing/2018/hyperlinkcolor" val="tx"/>
                              </a:ext>
                            </a:extLst>
                          </a:hlinkClick>
                        </a:rPr>
                        <a:t>경내책임자 수권서</a:t>
                      </a:r>
                      <a:r>
                        <a:rPr lang="ko-KR" sz="1000" b="0" i="0" u="sng" strike="noStrike" cap="none" dirty="0">
                          <a:solidFill>
                            <a:schemeClr val="tx1"/>
                          </a:solidFill>
                          <a:latin typeface="Malgun Gothic"/>
                          <a:ea typeface="Malgun Gothic"/>
                          <a:cs typeface="Malgun Gothic"/>
                          <a:sym typeface="Malgun Gothic"/>
                          <a:hlinkClick r:id="rId3">
                            <a:extLst>
                              <a:ext uri="{A12FA001-AC4F-418D-AE19-62706E023703}">
                                <ahyp:hlinkClr xmlns:ahyp="http://schemas.microsoft.com/office/drawing/2018/hyperlinkcolor" val="tx"/>
                              </a:ext>
                            </a:extLst>
                          </a:hlinkClick>
                        </a:rPr>
                        <a:t> </a:t>
                      </a:r>
                      <a:r>
                        <a:rPr lang="ko-KR" sz="1000" b="0" i="0" u="none" strike="noStrike" cap="none" dirty="0">
                          <a:solidFill>
                            <a:schemeClr val="tx1"/>
                          </a:solidFill>
                          <a:latin typeface="Malgun Gothic"/>
                          <a:ea typeface="Malgun Gothic"/>
                          <a:cs typeface="Malgun Gothic"/>
                          <a:sym typeface="Malgun Gothic"/>
                        </a:rPr>
                        <a:t>원본 및 공증서 원본</a:t>
                      </a:r>
                      <a:endParaRPr dirty="0">
                        <a:solidFill>
                          <a:schemeClr val="tx1"/>
                        </a:solidFill>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⑥ </a:t>
                      </a:r>
                      <a:r>
                        <a:rPr lang="ko-KR" sz="1000" b="0" i="0" u="sng" strike="noStrike" cap="none" dirty="0">
                          <a:solidFill>
                            <a:schemeClr val="tx1"/>
                          </a:solidFill>
                          <a:highlight>
                            <a:srgbClr val="FFFF00"/>
                          </a:highlight>
                          <a:latin typeface="Malgun Gothic"/>
                          <a:ea typeface="Malgun Gothic"/>
                          <a:cs typeface="Malgun Gothic"/>
                          <a:sym typeface="Malgun Gothic"/>
                          <a:hlinkClick r:id="rId9">
                            <a:extLst>
                              <a:ext uri="{A12FA001-AC4F-418D-AE19-62706E023703}">
                                <ahyp:hlinkClr xmlns:ahyp="http://schemas.microsoft.com/office/drawing/2018/hyperlinkcolor" val="tx"/>
                              </a:ext>
                            </a:extLst>
                          </a:hlinkClick>
                        </a:rPr>
                        <a:t>생산기업 </a:t>
                      </a:r>
                      <a:r>
                        <a:rPr lang="ko-KR" sz="1000" b="0" i="0" u="sng" strike="noStrike" cap="none" dirty="0" err="1">
                          <a:solidFill>
                            <a:schemeClr val="tx1"/>
                          </a:solidFill>
                          <a:highlight>
                            <a:srgbClr val="FFFF00"/>
                          </a:highlight>
                          <a:latin typeface="Malgun Gothic"/>
                          <a:ea typeface="Malgun Gothic"/>
                          <a:cs typeface="Malgun Gothic"/>
                          <a:sym typeface="Malgun Gothic"/>
                          <a:hlinkClick r:id="rId9">
                            <a:extLst>
                              <a:ext uri="{A12FA001-AC4F-418D-AE19-62706E023703}">
                                <ahyp:hlinkClr xmlns:ahyp="http://schemas.microsoft.com/office/drawing/2018/hyperlinkcolor" val="tx"/>
                              </a:ext>
                            </a:extLst>
                          </a:hlinkClick>
                        </a:rPr>
                        <a:t>정보표</a:t>
                      </a:r>
                      <a:r>
                        <a:rPr lang="ko-KR" sz="1000" b="0" i="0" u="sng" strike="noStrike" cap="none" dirty="0">
                          <a:solidFill>
                            <a:schemeClr val="tx1"/>
                          </a:solidFill>
                          <a:latin typeface="Malgun Gothic"/>
                          <a:ea typeface="Malgun Gothic"/>
                          <a:cs typeface="Malgun Gothic"/>
                          <a:sym typeface="Malgun Gothic"/>
                          <a:hlinkClick r:id="rId9">
                            <a:extLst>
                              <a:ext uri="{A12FA001-AC4F-418D-AE19-62706E023703}">
                                <ahyp:hlinkClr xmlns:ahyp="http://schemas.microsoft.com/office/drawing/2018/hyperlinkcolor" val="tx"/>
                              </a:ext>
                            </a:extLst>
                          </a:hlinkClick>
                        </a:rPr>
                        <a:t> </a:t>
                      </a:r>
                      <a:r>
                        <a:rPr lang="ko-KR" sz="1000" b="0" i="0" u="none" strike="noStrike" cap="none" dirty="0">
                          <a:solidFill>
                            <a:schemeClr val="tx1"/>
                          </a:solidFill>
                          <a:latin typeface="Malgun Gothic"/>
                          <a:ea typeface="Malgun Gothic"/>
                          <a:cs typeface="Malgun Gothic"/>
                          <a:sym typeface="Malgun Gothic"/>
                        </a:rPr>
                        <a:t>및 품질안전책임자 정보, 생산 규범 증명서 원본</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5"/>
                  </a:ext>
                </a:extLst>
              </a:tr>
              <a:tr h="644725">
                <a:tc vMerge="1">
                  <a:txBody>
                    <a:bodyPr/>
                    <a:lstStyle/>
                    <a:p>
                      <a:endParaRPr lang="ko-KR"/>
                    </a:p>
                  </a:txBody>
                  <a:tcPr/>
                </a:tc>
                <a:tc>
                  <a:txBody>
                    <a:bodyPr/>
                    <a:lstStyle/>
                    <a:p>
                      <a:pPr marL="0" marR="0" lvl="0" indent="0" algn="l" rtl="0">
                        <a:spcBef>
                          <a:spcPts val="0"/>
                        </a:spcBef>
                        <a:spcAft>
                          <a:spcPts val="0"/>
                        </a:spcAft>
                        <a:buClr>
                          <a:schemeClr val="dk1"/>
                        </a:buClr>
                        <a:buSzPts val="1400"/>
                        <a:buFont typeface="Malgun Gothic"/>
                        <a:buNone/>
                      </a:pPr>
                      <a:r>
                        <a:rPr lang="ko-KR" sz="1400" b="1" u="none" strike="noStrike" cap="none"/>
                        <a:t>소요기간</a:t>
                      </a:r>
                      <a:endParaRPr sz="1400" b="1" u="none" strike="noStrike" cap="none"/>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약 </a:t>
                      </a:r>
                      <a:r>
                        <a:rPr lang="en-US" altLang="ko-KR" sz="1000" b="0" i="0" u="none" strike="noStrike" cap="none" dirty="0">
                          <a:solidFill>
                            <a:schemeClr val="dk1"/>
                          </a:solidFill>
                          <a:latin typeface="Malgun Gothic"/>
                          <a:ea typeface="Malgun Gothic"/>
                          <a:cs typeface="Malgun Gothic"/>
                          <a:sym typeface="Malgun Gothic"/>
                        </a:rPr>
                        <a:t>2</a:t>
                      </a:r>
                      <a:r>
                        <a:rPr lang="ko-KR" altLang="en-US" sz="1000" b="0" i="0" u="none" strike="noStrike" cap="none" dirty="0">
                          <a:solidFill>
                            <a:schemeClr val="dk1"/>
                          </a:solidFill>
                          <a:latin typeface="Malgun Gothic"/>
                          <a:ea typeface="Malgun Gothic"/>
                          <a:cs typeface="Malgun Gothic"/>
                          <a:sym typeface="Malgun Gothic"/>
                        </a:rPr>
                        <a:t>주 내외 소요될 수 있으나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신청지역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자료 보완 여부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공증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인증 준비 상황에 따라 기간 연장 가능</a:t>
                      </a:r>
                      <a:endParaRPr dirty="0"/>
                    </a:p>
                  </a:txBody>
                  <a:tcPr marL="91450" marR="91450" marT="45725" marB="45725" anchor="ctr"/>
                </a:tc>
                <a:extLst>
                  <a:ext uri="{0D108BD9-81ED-4DB2-BD59-A6C34878D82A}">
                    <a16:rowId xmlns:a16="http://schemas.microsoft.com/office/drawing/2014/main" val="10006"/>
                  </a:ext>
                </a:extLst>
              </a:tr>
            </a:tbl>
          </a:graphicData>
        </a:graphic>
      </p:graphicFrame>
      <p:sp>
        <p:nvSpPr>
          <p:cNvPr id="134" name="Google Shape;134;p5">
            <a:extLst>
              <a:ext uri="{FF2B5EF4-FFF2-40B4-BE49-F238E27FC236}">
                <a16:creationId xmlns:a16="http://schemas.microsoft.com/office/drawing/2014/main" id="{BF6199AD-2B3C-DDF1-CDA5-9423ADED5DE7}"/>
              </a:ext>
            </a:extLst>
          </p:cNvPr>
          <p:cNvSpPr txBox="1"/>
          <p:nvPr/>
        </p:nvSpPr>
        <p:spPr>
          <a:xfrm>
            <a:off x="325826" y="319796"/>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02. 경내책임자 선임</a:t>
            </a:r>
            <a:endParaRPr sz="2000" b="1">
              <a:solidFill>
                <a:srgbClr val="0070C0"/>
              </a:solidFill>
              <a:latin typeface="Malgun Gothic"/>
              <a:ea typeface="Malgun Gothic"/>
              <a:cs typeface="Malgun Gothic"/>
              <a:sym typeface="Malgun Gothic"/>
            </a:endParaRPr>
          </a:p>
        </p:txBody>
      </p:sp>
    </p:spTree>
    <p:extLst>
      <p:ext uri="{BB962C8B-B14F-4D97-AF65-F5344CB8AC3E}">
        <p14:creationId xmlns:p14="http://schemas.microsoft.com/office/powerpoint/2010/main" val="214582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graphicFrame>
        <p:nvGraphicFramePr>
          <p:cNvPr id="140" name="Google Shape;140;p6"/>
          <p:cNvGraphicFramePr/>
          <p:nvPr>
            <p:extLst>
              <p:ext uri="{D42A27DB-BD31-4B8C-83A1-F6EECF244321}">
                <p14:modId xmlns:p14="http://schemas.microsoft.com/office/powerpoint/2010/main" val="3209937489"/>
              </p:ext>
            </p:extLst>
          </p:nvPr>
        </p:nvGraphicFramePr>
        <p:xfrm>
          <a:off x="405898" y="1341838"/>
          <a:ext cx="11178500" cy="5448544"/>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특수화장품: </a:t>
                      </a:r>
                      <a:r>
                        <a:rPr lang="ko-KR" sz="1000" b="0" i="0" u="none" strike="noStrike" cap="none" dirty="0" err="1">
                          <a:solidFill>
                            <a:schemeClr val="tx1"/>
                          </a:solidFill>
                          <a:latin typeface="Malgun Gothic"/>
                          <a:ea typeface="Malgun Gothic"/>
                          <a:cs typeface="Malgun Gothic"/>
                          <a:sym typeface="Malgun Gothic"/>
                        </a:rPr>
                        <a:t>염모</a:t>
                      </a:r>
                      <a:r>
                        <a:rPr lang="ko-KR" sz="1000" b="0" i="0" u="none" strike="noStrike" cap="none" dirty="0">
                          <a:solidFill>
                            <a:schemeClr val="tx1"/>
                          </a:solidFill>
                          <a:latin typeface="Malgun Gothic"/>
                          <a:ea typeface="Malgun Gothic"/>
                          <a:cs typeface="Malgun Gothic"/>
                          <a:sym typeface="Malgun Gothic"/>
                        </a:rPr>
                        <a:t>, </a:t>
                      </a:r>
                      <a:r>
                        <a:rPr lang="ko-KR" sz="1000" b="0" i="0" u="none" strike="noStrike" cap="none" dirty="0" err="1">
                          <a:solidFill>
                            <a:schemeClr val="tx1"/>
                          </a:solidFill>
                          <a:latin typeface="Malgun Gothic"/>
                          <a:ea typeface="Malgun Gothic"/>
                          <a:cs typeface="Malgun Gothic"/>
                          <a:sym typeface="Malgun Gothic"/>
                        </a:rPr>
                        <a:t>퍼머</a:t>
                      </a:r>
                      <a:r>
                        <a:rPr lang="ko-KR" sz="1000" b="0" i="0" u="none" strike="noStrike" cap="none" dirty="0">
                          <a:solidFill>
                            <a:schemeClr val="tx1"/>
                          </a:solidFill>
                          <a:latin typeface="Malgun Gothic"/>
                          <a:ea typeface="Malgun Gothic"/>
                          <a:cs typeface="Malgun Gothic"/>
                          <a:sym typeface="Malgun Gothic"/>
                        </a:rPr>
                        <a:t>, 기미제거, 미백, 자외선차단, 탈모방지, 새로운 효능의 제품</a:t>
                      </a:r>
                      <a:endParaRPr sz="1000" b="0" i="0" u="none" strike="noStrike" cap="none" dirty="0">
                        <a:solidFill>
                          <a:schemeClr val="tx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dirty="0">
                          <a:solidFill>
                            <a:schemeClr val="tx1"/>
                          </a:solidFill>
                          <a:latin typeface="Malgun Gothic"/>
                          <a:ea typeface="Malgun Gothic"/>
                          <a:cs typeface="Malgun Gothic"/>
                          <a:sym typeface="Malgun Gothic"/>
                        </a:rPr>
                        <a:t>  (※ 발모, 제모, 가슴 미용, 체형 관리, 체취 관리는 2025년 12월 31일부로 특수화장품에서 제외)</a:t>
                      </a:r>
                      <a:endParaRPr sz="1000" dirty="0">
                        <a:solidFill>
                          <a:schemeClr val="tx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일반화장품: 특수화장품을 제외한 화장품</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일반화장품</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등록</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비안 절차 진행</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특수화장품</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허가</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등록 절차 진행</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err="1">
                          <a:solidFill>
                            <a:schemeClr val="tx1"/>
                          </a:solidFill>
                          <a:latin typeface="Malgun Gothic"/>
                          <a:ea typeface="Malgun Gothic"/>
                          <a:cs typeface="Malgun Gothic"/>
                          <a:sym typeface="Malgun Gothic"/>
                        </a:rPr>
                        <a:t>신원료</a:t>
                      </a:r>
                      <a:r>
                        <a:rPr lang="ko-KR" altLang="en-US" sz="1000" b="0" i="0" u="none" strike="noStrike" cap="none" dirty="0">
                          <a:solidFill>
                            <a:schemeClr val="tx1"/>
                          </a:solidFill>
                          <a:latin typeface="Malgun Gothic"/>
                          <a:ea typeface="Malgun Gothic"/>
                          <a:cs typeface="Malgun Gothic"/>
                          <a:sym typeface="Malgun Gothic"/>
                        </a:rPr>
                        <a:t> 사용 제품</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해당 원료의 중국 내 사용 가능 여부 및 </a:t>
                      </a:r>
                      <a:r>
                        <a:rPr lang="ko-KR" altLang="en-US" sz="1000" b="0" i="0" u="none" strike="noStrike" cap="none" dirty="0" err="1">
                          <a:solidFill>
                            <a:schemeClr val="tx1"/>
                          </a:solidFill>
                          <a:latin typeface="Malgun Gothic"/>
                          <a:ea typeface="Malgun Gothic"/>
                          <a:cs typeface="Malgun Gothic"/>
                          <a:sym typeface="Malgun Gothic"/>
                        </a:rPr>
                        <a:t>신원료</a:t>
                      </a:r>
                      <a:r>
                        <a:rPr lang="ko-KR" altLang="en-US" sz="1000" b="0" i="0" u="none" strike="noStrike" cap="none" dirty="0">
                          <a:solidFill>
                            <a:schemeClr val="tx1"/>
                          </a:solidFill>
                          <a:latin typeface="Malgun Gothic"/>
                          <a:ea typeface="Malgun Gothic"/>
                          <a:cs typeface="Malgun Gothic"/>
                          <a:sym typeface="Malgun Gothic"/>
                        </a:rPr>
                        <a:t> 등록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비안 필요 여부 확인</a:t>
                      </a:r>
                      <a:endParaRPr dirty="0">
                        <a:solidFill>
                          <a:schemeClr val="tx1"/>
                        </a:solidFill>
                      </a:endParaRPr>
                    </a:p>
                  </a:txBody>
                  <a:tcPr marL="91450" marR="91450" marT="45725" marB="45725" anchor="ct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지방 약품감독관리국</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중국 화장품 등록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허가 정보서비스 플랫폼</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[화장품 허가/등록 필요서류]</a:t>
                      </a:r>
                      <a:endParaRPr dirty="0">
                        <a:solidFill>
                          <a:schemeClr val="tx1"/>
                        </a:solidFill>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3">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허가/등록 신청서</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latin typeface="Malgun Gothic"/>
                          <a:ea typeface="Malgun Gothic"/>
                          <a:cs typeface="Malgun Gothic"/>
                          <a:sym typeface="Malgun Gothic"/>
                          <a:hlinkClick r:id="rId4">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제품 명칭 정보</a:t>
                      </a:r>
                      <a:endParaRPr sz="1000" b="0" i="0" u="none" strike="noStrike" cap="none" dirty="0">
                        <a:solidFill>
                          <a:schemeClr val="tx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5">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제품 처방</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6">
                            <a:extLst>
                              <a:ext uri="{A12FA001-AC4F-418D-AE19-62706E023703}">
                                <ahyp:hlinkClr xmlns:ahyp="http://schemas.microsoft.com/office/drawing/2018/hyperlinkcolor" val="tx"/>
                              </a:ext>
                            </a:extLst>
                          </a:hlinkClick>
                        </a:rPr>
                        <a:t>제품 집행 표준</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7">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제품 라벨 원고</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8">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제품 검사보고서</a:t>
                      </a:r>
                      <a:endParaRPr sz="1000" b="0" i="0" u="none" strike="noStrike" cap="none" dirty="0">
                        <a:solidFill>
                          <a:schemeClr val="tx1"/>
                        </a:solidFill>
                        <a:highlight>
                          <a:srgbClr val="FFFF00"/>
                        </a:highlight>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9">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제품 안전성평가보고서</a:t>
                      </a:r>
                      <a:r>
                        <a:rPr lang="ko-KR" sz="1000" dirty="0">
                          <a:solidFill>
                            <a:schemeClr val="tx1"/>
                          </a:solidFill>
                          <a:latin typeface="Malgun Gothic"/>
                          <a:ea typeface="Malgun Gothic"/>
                          <a:cs typeface="Malgun Gothic"/>
                          <a:sym typeface="Malgun Gothic"/>
                        </a:rPr>
                        <a:t>(링크에서 간소화버전은 삭제필요)</a:t>
                      </a:r>
                      <a:endParaRPr sz="1000" b="0" i="0" u="none" strike="noStrike" cap="none" dirty="0">
                        <a:solidFill>
                          <a:schemeClr val="tx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a:t>
                      </a:r>
                      <a:r>
                        <a:rPr lang="ko-KR" sz="1000" b="0" i="0" u="sng" strike="noStrike" cap="none" dirty="0">
                          <a:solidFill>
                            <a:schemeClr val="tx1"/>
                          </a:solidFill>
                          <a:highlight>
                            <a:srgbClr val="FFFF00"/>
                          </a:highlight>
                          <a:latin typeface="Malgun Gothic"/>
                          <a:ea typeface="Malgun Gothic"/>
                          <a:cs typeface="Malgun Gothic"/>
                          <a:sym typeface="Malgun Gothic"/>
                          <a:hlinkClick r:id="rId10">
                            <a:extLst>
                              <a:ext uri="{A12FA001-AC4F-418D-AE19-62706E023703}">
                                <ahyp:hlinkClr xmlns:ahyp="http://schemas.microsoft.com/office/drawing/2018/hyperlinkcolor" val="tx"/>
                              </a:ext>
                            </a:extLst>
                          </a:hlinkClick>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7"/>
                            </a:ext>
                          </a:extLst>
                        </a:rPr>
                        <a:t>필요시 효능평가 개요 제출</a:t>
                      </a:r>
                      <a:endParaRPr sz="1000" b="0" i="0" u="none" strike="noStrike" cap="none" dirty="0">
                        <a:solidFill>
                          <a:schemeClr val="tx1"/>
                        </a:solidFill>
                        <a:highlight>
                          <a:srgbClr val="FFFF00"/>
                        </a:highlight>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a:txBody>
                    <a:bodyPr/>
                    <a:lstStyle/>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특수화장품(허가제; 심사 후 허가증 발급): 서류제출 → 서류심사(90일 소요) → 허가증발급(10일 소요) → 수출/판매</a:t>
                      </a:r>
                      <a:endParaRPr dirty="0">
                        <a:solidFill>
                          <a:schemeClr val="tx1"/>
                        </a:solidFill>
                      </a:endParaRPr>
                    </a:p>
                    <a:p>
                      <a:pPr marL="0" marR="0" lvl="0" indent="0" algn="l" rtl="0">
                        <a:spcBef>
                          <a:spcPts val="0"/>
                        </a:spcBef>
                        <a:spcAft>
                          <a:spcPts val="0"/>
                        </a:spcAft>
                        <a:buNone/>
                      </a:pPr>
                      <a:r>
                        <a:rPr lang="ko-KR" sz="1000" b="0" i="0" u="none" strike="noStrike" cap="none" dirty="0">
                          <a:solidFill>
                            <a:schemeClr val="tx1"/>
                          </a:solidFill>
                          <a:latin typeface="Malgun Gothic"/>
                          <a:ea typeface="Malgun Gothic"/>
                          <a:cs typeface="Malgun Gothic"/>
                          <a:sym typeface="Malgun Gothic"/>
                        </a:rPr>
                        <a:t>* 일반화장품(등록제; 선 등록 후, 사후심사 진행): 서류제출 → 등록(서류제출 즉시 등록, 정보 공시까지 약 5일 소요) → 수출/판매 → </a:t>
                      </a:r>
                      <a:r>
                        <a:rPr lang="ko-KR" sz="1000" b="0" i="0" u="none" strike="noStrike" cap="none" dirty="0">
                          <a:solidFill>
                            <a:schemeClr val="tx1"/>
                          </a:solidFill>
                          <a:latin typeface="Malgun Gothic"/>
                          <a:ea typeface="Malgun Gothic"/>
                          <a:cs typeface="Malgun Gothic"/>
                          <a:sym typeface="Malgun Gothic"/>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사후심사</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dirty="0"/>
                        <a:t>주의사항</a:t>
                      </a:r>
                      <a:endParaRPr sz="1200" b="1" u="none" strike="noStrike" cap="none" dirty="0"/>
                    </a:p>
                    <a:p>
                      <a:pPr marL="0" marR="0" lvl="0" indent="0" algn="ctr" rtl="0">
                        <a:spcBef>
                          <a:spcPts val="0"/>
                        </a:spcBef>
                        <a:spcAft>
                          <a:spcPts val="0"/>
                        </a:spcAft>
                        <a:buNone/>
                      </a:pPr>
                      <a:r>
                        <a:rPr lang="ko-KR" sz="1200" b="1" u="none" strike="noStrike" cap="none" dirty="0"/>
                        <a:t>또는</a:t>
                      </a:r>
                      <a:endParaRPr sz="1200" b="1" u="none" strike="noStrike" cap="none" dirty="0"/>
                    </a:p>
                    <a:p>
                      <a:pPr marL="0" marR="0" lvl="0" indent="0" algn="ctr" rtl="0">
                        <a:spcBef>
                          <a:spcPts val="0"/>
                        </a:spcBef>
                        <a:spcAft>
                          <a:spcPts val="0"/>
                        </a:spcAft>
                        <a:buNone/>
                      </a:pPr>
                      <a:r>
                        <a:rPr lang="ko-KR" sz="1200" b="1" u="none" strike="noStrike" cap="none" dirty="0"/>
                        <a:t>확인사항</a:t>
                      </a:r>
                      <a:endParaRPr dirty="0"/>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미백</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자외선차단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탈모방지</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err="1">
                          <a:solidFill>
                            <a:schemeClr val="tx1"/>
                          </a:solidFill>
                          <a:latin typeface="Malgun Gothic"/>
                          <a:ea typeface="Malgun Gothic"/>
                          <a:cs typeface="Malgun Gothic"/>
                          <a:sym typeface="Malgun Gothic"/>
                        </a:rPr>
                        <a:t>염모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err="1">
                          <a:solidFill>
                            <a:schemeClr val="tx1"/>
                          </a:solidFill>
                          <a:latin typeface="Malgun Gothic"/>
                          <a:ea typeface="Malgun Gothic"/>
                          <a:cs typeface="Malgun Gothic"/>
                          <a:sym typeface="Malgun Gothic"/>
                        </a:rPr>
                        <a:t>퍼머</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기미제거 등 특수 효능 표방 제품은 특수화장품 허가 대상 여부 확인 필요</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제품명</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광고문구</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상세페이지 표현이 제품 분류에 영향을 줄 수 있으므로 등록 전 효능 표현 검토 필요</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중국 사용 금지</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제한 원료</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err="1">
                          <a:solidFill>
                            <a:schemeClr val="tx1"/>
                          </a:solidFill>
                          <a:latin typeface="Malgun Gothic"/>
                          <a:ea typeface="Malgun Gothic"/>
                          <a:cs typeface="Malgun Gothic"/>
                          <a:sym typeface="Malgun Gothic"/>
                        </a:rPr>
                        <a:t>신원료</a:t>
                      </a:r>
                      <a:r>
                        <a:rPr lang="ko-KR" altLang="en-US" sz="1000" b="0" i="0" u="none" strike="noStrike" cap="none" dirty="0">
                          <a:solidFill>
                            <a:schemeClr val="tx1"/>
                          </a:solidFill>
                          <a:latin typeface="Malgun Gothic"/>
                          <a:ea typeface="Malgun Gothic"/>
                          <a:cs typeface="Malgun Gothic"/>
                          <a:sym typeface="Malgun Gothic"/>
                        </a:rPr>
                        <a:t> 해당 여부</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원료 안전정보 제출 가능 여부를 사전에 확인할 것</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일반화장품 등록 완료 후에도 사후심사 또는 감독검사 과정에서 보완</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시정 요구가 발생할 수 있음</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141" name="Google Shape;141;p6"/>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03. 제품 등록/허가</a:t>
            </a:r>
            <a:endParaRPr sz="2000" b="1">
              <a:solidFill>
                <a:srgbClr val="0070C0"/>
              </a:solidFill>
              <a:latin typeface="Malgun Gothic"/>
              <a:ea typeface="Malgun Gothic"/>
              <a:cs typeface="Malgun Gothic"/>
              <a:sym typeface="Malgun Gothic"/>
            </a:endParaRPr>
          </a:p>
        </p:txBody>
      </p:sp>
      <p:sp>
        <p:nvSpPr>
          <p:cNvPr id="142" name="Google Shape;142;p6"/>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3-1. </a:t>
            </a:r>
            <a:r>
              <a:rPr lang="ko-KR" sz="1400" b="1" dirty="0">
                <a:solidFill>
                  <a:schemeClr val="dk1"/>
                </a:solidFill>
                <a:latin typeface="Malgun Gothic"/>
                <a:ea typeface="Malgun Gothic"/>
                <a:cs typeface="Malgun Gothic"/>
                <a:sym typeface="Malgun Gothic"/>
              </a:rPr>
              <a:t>제품 </a:t>
            </a:r>
            <a:r>
              <a:rPr lang="ko-KR" altLang="en-US" sz="1400" b="1" dirty="0">
                <a:solidFill>
                  <a:schemeClr val="dk1"/>
                </a:solidFill>
                <a:latin typeface="Malgun Gothic"/>
                <a:ea typeface="Malgun Gothic"/>
                <a:cs typeface="Malgun Gothic"/>
                <a:sym typeface="Malgun Gothic"/>
              </a:rPr>
              <a:t>분류 확인</a:t>
            </a:r>
            <a:endParaRPr sz="1400" b="1" dirty="0">
              <a:solidFill>
                <a:schemeClr val="dk1"/>
              </a:solidFill>
              <a:latin typeface="Malgun Gothic"/>
              <a:ea typeface="Malgun Gothic"/>
              <a:cs typeface="Malgun Gothic"/>
              <a:sym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DE4AA474-44EF-1CF0-7755-9A6861E6C920}"/>
            </a:ext>
          </a:extLst>
        </p:cNvPr>
        <p:cNvGrpSpPr/>
        <p:nvPr/>
      </p:nvGrpSpPr>
      <p:grpSpPr>
        <a:xfrm>
          <a:off x="0" y="0"/>
          <a:ext cx="0" cy="0"/>
          <a:chOff x="0" y="0"/>
          <a:chExt cx="0" cy="0"/>
        </a:xfrm>
      </p:grpSpPr>
      <p:graphicFrame>
        <p:nvGraphicFramePr>
          <p:cNvPr id="140" name="Google Shape;140;p6">
            <a:extLst>
              <a:ext uri="{FF2B5EF4-FFF2-40B4-BE49-F238E27FC236}">
                <a16:creationId xmlns:a16="http://schemas.microsoft.com/office/drawing/2014/main" id="{2A325DBC-7173-6A57-0A24-B352EBF14941}"/>
              </a:ext>
            </a:extLst>
          </p:cNvPr>
          <p:cNvGraphicFramePr/>
          <p:nvPr>
            <p:extLst>
              <p:ext uri="{D42A27DB-BD31-4B8C-83A1-F6EECF244321}">
                <p14:modId xmlns:p14="http://schemas.microsoft.com/office/powerpoint/2010/main" val="3861176556"/>
              </p:ext>
            </p:extLst>
          </p:nvPr>
        </p:nvGraphicFramePr>
        <p:xfrm>
          <a:off x="405898" y="1341838"/>
          <a:ext cx="11178500" cy="4439222"/>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4802200">
                  <a:extLst>
                    <a:ext uri="{9D8B030D-6E8A-4147-A177-3AD203B41FA5}">
                      <a16:colId xmlns:a16="http://schemas.microsoft.com/office/drawing/2014/main" val="20001"/>
                    </a:ext>
                  </a:extLst>
                </a:gridCol>
                <a:gridCol w="4802200">
                  <a:extLst>
                    <a:ext uri="{9D8B030D-6E8A-4147-A177-3AD203B41FA5}">
                      <a16:colId xmlns:a16="http://schemas.microsoft.com/office/drawing/2014/main" val="4144209787"/>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일반화장품은 특수화장품에 해당하지 않는 화장품으로</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중국 내 수입</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판매 전 </a:t>
                      </a: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화장품 등록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허가 정보서비스 플랫폼을 통해 등록</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비안 절차를 진행해야 함</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화장품 등록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허가 정보서비스 플랫폼을 통한 온라인 등록 및 자료 제출</a:t>
                      </a:r>
                      <a:endParaRPr dirty="0">
                        <a:solidFill>
                          <a:schemeClr val="tx1"/>
                        </a:solidFill>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지방 약품감독관리국</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경내책임자</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등록인 및 경내책임자 정보</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제품명명 근거</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 처방 및 전성분표</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원료 안전정보</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 집행표준</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 라벨 견본</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중문라벨</a:t>
                      </a:r>
                    </a:p>
                  </a:txBody>
                  <a:tcPr marL="91450" marR="91450" marT="45725" marB="45725" anchor="ctr"/>
                </a:tc>
                <a:tc>
                  <a:txBody>
                    <a:bodyPr/>
                    <a:lstStyle/>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 검사보고서</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안전성평가보고서</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 효능평가 근거자료</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제조공정 개요</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생산기업 정보 및 품질관리 관련 자료</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자유판매증명서</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제조증명서 등 수입 제품 관련 증명서류</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해당 시</a:t>
                      </a: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gridSpan="2">
                  <a:txBody>
                    <a:bodyPr/>
                    <a:lstStyle/>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① 제품 분류 및 원료 사용 가능 여부 확인 → ② 경내책임자 수권 및 시스템 계정 준비 → ③ 제품 처방</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라벨</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집행표준 작성 → ④ 시험 및 안전성평가자료 준비 → ⑤ 원료 안전정보 및 효능평가 근거자료 확인 → ⑥ </a:t>
                      </a: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시스템 등록자료 제출 → ⑦ 등록번호 취득 → ⑧ 수입통관 및 시판 → ⑨ 사후심사</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감독검사 대응</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dirty="0"/>
                        <a:t>주의사항</a:t>
                      </a:r>
                      <a:endParaRPr sz="1200" b="1" u="none" strike="noStrike" cap="none" dirty="0"/>
                    </a:p>
                    <a:p>
                      <a:pPr marL="0" marR="0" lvl="0" indent="0" algn="ctr" rtl="0">
                        <a:spcBef>
                          <a:spcPts val="0"/>
                        </a:spcBef>
                        <a:spcAft>
                          <a:spcPts val="0"/>
                        </a:spcAft>
                        <a:buNone/>
                      </a:pPr>
                      <a:r>
                        <a:rPr lang="ko-KR" sz="1200" b="1" u="none" strike="noStrike" cap="none" dirty="0"/>
                        <a:t>또는</a:t>
                      </a:r>
                      <a:endParaRPr sz="1200" b="1" u="none" strike="noStrike" cap="none" dirty="0"/>
                    </a:p>
                    <a:p>
                      <a:pPr marL="0" marR="0" lvl="0" indent="0" algn="ctr" rtl="0">
                        <a:spcBef>
                          <a:spcPts val="0"/>
                        </a:spcBef>
                        <a:spcAft>
                          <a:spcPts val="0"/>
                        </a:spcAft>
                        <a:buNone/>
                      </a:pPr>
                      <a:r>
                        <a:rPr lang="ko-KR" sz="1200" b="1" u="none" strike="noStrike" cap="none" dirty="0"/>
                        <a:t>확인사항</a:t>
                      </a:r>
                      <a:endParaRPr dirty="0"/>
                    </a:p>
                  </a:txBody>
                  <a:tcPr marL="91450" marR="91450" marT="45725" marB="45725" anchor="ctr"/>
                </a:tc>
                <a:tc gridSpan="2">
                  <a:txBody>
                    <a:bodyPr/>
                    <a:lstStyle/>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일반화장품은 등록번호 취득 후 수입</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판매가 가능하나</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등록 후 사후심사에서 보완</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시정</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취소 리스크가 발생할 수 있음</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제품 처방</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라벨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효능표현</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시험보고서</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안전성평가보고서 간 정합성 확인 필요</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원료 안전정보 코드 또는 원료 안전정보 자료 제출 가능 여부를 사전에 확인할 것</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등록자료와 실제 수출 제품</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중문라벨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통관서류 정보가 일치해야 함</a:t>
                      </a:r>
                    </a:p>
                    <a:p>
                      <a:pPr marL="171450" marR="0" lvl="0" indent="-171450" algn="l" rtl="0">
                        <a:lnSpc>
                          <a:spcPct val="150000"/>
                        </a:lnSpc>
                        <a:spcBef>
                          <a:spcPts val="0"/>
                        </a:spcBef>
                        <a:spcAft>
                          <a:spcPts val="0"/>
                        </a:spcAft>
                        <a:buFont typeface="Arial" panose="020B0604020202020204" pitchFamily="34" charset="0"/>
                        <a:buChar char="•"/>
                      </a:pPr>
                      <a:r>
                        <a:rPr lang="ko-KR" altLang="en-US" sz="1000" b="0" i="0" u="none" strike="noStrike" cap="none" dirty="0">
                          <a:solidFill>
                            <a:schemeClr val="tx1"/>
                          </a:solidFill>
                          <a:latin typeface="Malgun Gothic"/>
                          <a:ea typeface="Malgun Gothic"/>
                          <a:cs typeface="Malgun Gothic"/>
                          <a:sym typeface="Malgun Gothic"/>
                        </a:rPr>
                        <a:t>등록 후 제품명</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처방</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라벨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생산기업</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경내책임자 등 변경 시 변경등록 필요 여부 확인 필요</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dirty="0"/>
                    </a:p>
                  </a:txBody>
                  <a:tcPr/>
                </a:tc>
                <a:extLst>
                  <a:ext uri="{0D108BD9-81ED-4DB2-BD59-A6C34878D82A}">
                    <a16:rowId xmlns:a16="http://schemas.microsoft.com/office/drawing/2014/main" val="10005"/>
                  </a:ext>
                </a:extLst>
              </a:tr>
            </a:tbl>
          </a:graphicData>
        </a:graphic>
      </p:graphicFrame>
      <p:sp>
        <p:nvSpPr>
          <p:cNvPr id="141" name="Google Shape;141;p6">
            <a:extLst>
              <a:ext uri="{FF2B5EF4-FFF2-40B4-BE49-F238E27FC236}">
                <a16:creationId xmlns:a16="http://schemas.microsoft.com/office/drawing/2014/main" id="{4F519223-82A2-79F6-330D-D5CBAD9E2162}"/>
              </a:ext>
            </a:extLst>
          </p:cNvPr>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03. 제품 등록/허가</a:t>
            </a:r>
            <a:endParaRPr sz="2000" b="1">
              <a:solidFill>
                <a:srgbClr val="0070C0"/>
              </a:solidFill>
              <a:latin typeface="Malgun Gothic"/>
              <a:ea typeface="Malgun Gothic"/>
              <a:cs typeface="Malgun Gothic"/>
              <a:sym typeface="Malgun Gothic"/>
            </a:endParaRPr>
          </a:p>
        </p:txBody>
      </p:sp>
      <p:sp>
        <p:nvSpPr>
          <p:cNvPr id="142" name="Google Shape;142;p6">
            <a:extLst>
              <a:ext uri="{FF2B5EF4-FFF2-40B4-BE49-F238E27FC236}">
                <a16:creationId xmlns:a16="http://schemas.microsoft.com/office/drawing/2014/main" id="{8D09EB45-988C-39DE-F133-E2F279D824F4}"/>
              </a:ext>
            </a:extLst>
          </p:cNvPr>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3-2. </a:t>
            </a:r>
            <a:r>
              <a:rPr lang="ko-KR" altLang="en-US" b="1" dirty="0">
                <a:solidFill>
                  <a:schemeClr val="dk1"/>
                </a:solidFill>
                <a:latin typeface="Malgun Gothic"/>
                <a:ea typeface="Malgun Gothic"/>
                <a:cs typeface="Malgun Gothic"/>
                <a:sym typeface="Malgun Gothic"/>
              </a:rPr>
              <a:t>일반화장품 등록</a:t>
            </a:r>
            <a:endParaRPr sz="1400" b="1" dirty="0">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411484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94510DD1-B8C4-A413-3280-4EB194A1677D}"/>
            </a:ext>
          </a:extLst>
        </p:cNvPr>
        <p:cNvGrpSpPr/>
        <p:nvPr/>
      </p:nvGrpSpPr>
      <p:grpSpPr>
        <a:xfrm>
          <a:off x="0" y="0"/>
          <a:ext cx="0" cy="0"/>
          <a:chOff x="0" y="0"/>
          <a:chExt cx="0" cy="0"/>
        </a:xfrm>
      </p:grpSpPr>
      <p:graphicFrame>
        <p:nvGraphicFramePr>
          <p:cNvPr id="140" name="Google Shape;140;p6">
            <a:extLst>
              <a:ext uri="{FF2B5EF4-FFF2-40B4-BE49-F238E27FC236}">
                <a16:creationId xmlns:a16="http://schemas.microsoft.com/office/drawing/2014/main" id="{DC5BF564-96E1-4E68-54AA-44002A6EF71A}"/>
              </a:ext>
            </a:extLst>
          </p:cNvPr>
          <p:cNvGraphicFramePr/>
          <p:nvPr>
            <p:extLst>
              <p:ext uri="{D42A27DB-BD31-4B8C-83A1-F6EECF244321}">
                <p14:modId xmlns:p14="http://schemas.microsoft.com/office/powerpoint/2010/main" val="1557107909"/>
              </p:ext>
            </p:extLst>
          </p:nvPr>
        </p:nvGraphicFramePr>
        <p:xfrm>
          <a:off x="405898" y="1341838"/>
          <a:ext cx="11178500" cy="4735197"/>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4802200">
                  <a:extLst>
                    <a:ext uri="{9D8B030D-6E8A-4147-A177-3AD203B41FA5}">
                      <a16:colId xmlns:a16="http://schemas.microsoft.com/office/drawing/2014/main" val="20001"/>
                    </a:ext>
                  </a:extLst>
                </a:gridCol>
                <a:gridCol w="4802200">
                  <a:extLst>
                    <a:ext uri="{9D8B030D-6E8A-4147-A177-3AD203B41FA5}">
                      <a16:colId xmlns:a16="http://schemas.microsoft.com/office/drawing/2014/main" val="3880338260"/>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특수화장품은 </a:t>
                      </a:r>
                      <a:r>
                        <a:rPr lang="ko-KR" altLang="en-US" sz="1000" b="0" i="0" u="none" strike="noStrike" cap="none" dirty="0" err="1">
                          <a:solidFill>
                            <a:schemeClr val="tx1"/>
                          </a:solidFill>
                          <a:latin typeface="Malgun Gothic"/>
                          <a:ea typeface="Malgun Gothic"/>
                          <a:cs typeface="Malgun Gothic"/>
                          <a:sym typeface="Malgun Gothic"/>
                        </a:rPr>
                        <a:t>염모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err="1">
                          <a:solidFill>
                            <a:schemeClr val="tx1"/>
                          </a:solidFill>
                          <a:latin typeface="Malgun Gothic"/>
                          <a:ea typeface="Malgun Gothic"/>
                          <a:cs typeface="Malgun Gothic"/>
                          <a:sym typeface="Malgun Gothic"/>
                        </a:rPr>
                        <a:t>퍼머</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기미제거</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미백</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자외선차단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탈모방지 및 새로운 효능을 표방하는 화장품으로</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중국 내 수입</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판매 전 </a:t>
                      </a: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허가를 받아야 함</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화장품 등록</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허가 정보서비스 플랫폼을 통한 허가 신청 및 기술심사 대응</a:t>
                      </a:r>
                      <a:endParaRPr dirty="0">
                        <a:solidFill>
                          <a:schemeClr val="tx1"/>
                        </a:solidFill>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기술심사기관</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지방 약품감독관리국</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경내책임자</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허가인 및 경내책임자 정보</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제품명명 근거</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제품 처방 및 전성분표</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원료 안전정보</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제품 집행표준</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제품 라벨 견본</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중문라벨</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제품 검사보고서</a:t>
                      </a: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안전성평가보고서</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특수 효능 관련 인체시험</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효능평가 또는 문헌자료</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자외선차단지수</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미백</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탈모방지 등 효능 입증자료</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해당 시</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제조공정 개요</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생산기업 정보 및 품질관리 관련 자료</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자유판매증명서</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제조증명서 등 수입 제품 관련 증명서류</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해당 시</a:t>
                      </a:r>
                    </a:p>
                    <a:p>
                      <a:pPr marL="0" marR="0" lvl="0" indent="0" algn="l" rtl="0">
                        <a:lnSpc>
                          <a:spcPct val="150000"/>
                        </a:lnSpc>
                        <a:spcBef>
                          <a:spcPts val="0"/>
                        </a:spcBef>
                        <a:spcAft>
                          <a:spcPts val="0"/>
                        </a:spcAft>
                        <a:buNone/>
                      </a:pP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gridSpan="2">
                  <a:txBody>
                    <a:bodyPr/>
                    <a:lstStyle/>
                    <a:p>
                      <a:pPr marL="0" marR="0" lvl="0" indent="0" algn="l" rtl="0">
                        <a:spcBef>
                          <a:spcPts val="0"/>
                        </a:spcBef>
                        <a:spcAft>
                          <a:spcPts val="0"/>
                        </a:spcAft>
                        <a:buNone/>
                      </a:pPr>
                      <a:r>
                        <a:rPr lang="ko-KR" altLang="en-US" sz="1000" b="0" i="0" u="none" strike="noStrike" cap="none" dirty="0">
                          <a:solidFill>
                            <a:schemeClr val="tx1"/>
                          </a:solidFill>
                          <a:latin typeface="Malgun Gothic"/>
                          <a:ea typeface="Malgun Gothic"/>
                          <a:cs typeface="Malgun Gothic"/>
                          <a:sym typeface="Malgun Gothic"/>
                        </a:rPr>
                        <a:t>① 특수화장품 해당 여부 확인 → ② 효능 클레임 및 시험 필요자료 확정 → ③ 경내책임자 수권 및 시스템 계정 준비 → ④ 처방</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라벨</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집행표준</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안전성평가자료 준비 → ⑤ 지정 시험 및 효능평가자료 준비 → ⑥ </a:t>
                      </a:r>
                      <a:r>
                        <a:rPr lang="en-US" altLang="ko-KR" sz="1000" b="0" i="0" u="none" strike="noStrike" cap="none" dirty="0">
                          <a:solidFill>
                            <a:schemeClr val="tx1"/>
                          </a:solidFill>
                          <a:latin typeface="Malgun Gothic"/>
                          <a:ea typeface="Malgun Gothic"/>
                          <a:cs typeface="Malgun Gothic"/>
                          <a:sym typeface="Malgun Gothic"/>
                        </a:rPr>
                        <a:t>NMPA </a:t>
                      </a:r>
                      <a:r>
                        <a:rPr lang="ko-KR" altLang="en-US" sz="1000" b="0" i="0" u="none" strike="noStrike" cap="none" dirty="0">
                          <a:solidFill>
                            <a:schemeClr val="tx1"/>
                          </a:solidFill>
                          <a:latin typeface="Malgun Gothic"/>
                          <a:ea typeface="Malgun Gothic"/>
                          <a:cs typeface="Malgun Gothic"/>
                          <a:sym typeface="Malgun Gothic"/>
                        </a:rPr>
                        <a:t>시스템 허가 신청 → ⑦ 기술심사 및 보완 대응 → ⑧ 허가증 취득 → ⑨ 수입통관 및 시판 → ⑩ 허가사항 변경</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갱신 및 사후관리</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dirty="0"/>
                        <a:t>주의사항</a:t>
                      </a:r>
                      <a:endParaRPr sz="1200" b="1" u="none" strike="noStrike" cap="none" dirty="0"/>
                    </a:p>
                    <a:p>
                      <a:pPr marL="0" marR="0" lvl="0" indent="0" algn="ctr" rtl="0">
                        <a:spcBef>
                          <a:spcPts val="0"/>
                        </a:spcBef>
                        <a:spcAft>
                          <a:spcPts val="0"/>
                        </a:spcAft>
                        <a:buNone/>
                      </a:pPr>
                      <a:r>
                        <a:rPr lang="ko-KR" sz="1200" b="1" u="none" strike="noStrike" cap="none" dirty="0"/>
                        <a:t>또는</a:t>
                      </a:r>
                      <a:endParaRPr sz="1200" b="1" u="none" strike="noStrike" cap="none" dirty="0"/>
                    </a:p>
                    <a:p>
                      <a:pPr marL="0" marR="0" lvl="0" indent="0" algn="ctr" rtl="0">
                        <a:spcBef>
                          <a:spcPts val="0"/>
                        </a:spcBef>
                        <a:spcAft>
                          <a:spcPts val="0"/>
                        </a:spcAft>
                        <a:buNone/>
                      </a:pPr>
                      <a:r>
                        <a:rPr lang="ko-KR" sz="1200" b="1" u="none" strike="noStrike" cap="none" dirty="0"/>
                        <a:t>확인사항</a:t>
                      </a:r>
                      <a:endParaRPr dirty="0"/>
                    </a:p>
                  </a:txBody>
                  <a:tcPr marL="91450" marR="91450" marT="45725" marB="45725" anchor="ctr"/>
                </a:tc>
                <a:tc gridSpan="2">
                  <a:txBody>
                    <a:bodyPr/>
                    <a:lstStyle/>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특수화장품은 일반화장품보다 심사기간이 길고 보완요구 가능성이 높으므로 일정 여유 확보 필요</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효능 클레임</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시험방법</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시험기관</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라벨 표현 간 정합성 확인 필요</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허가증 취득 전 수입</a:t>
                      </a:r>
                      <a:r>
                        <a:rPr lang="en-US" altLang="ko-KR" sz="1000" b="0" i="0" u="none" strike="noStrike" cap="none" dirty="0">
                          <a:solidFill>
                            <a:schemeClr val="tx1"/>
                          </a:solidFill>
                          <a:latin typeface="Malgun Gothic"/>
                          <a:ea typeface="Malgun Gothic"/>
                          <a:cs typeface="Malgun Gothic"/>
                          <a:sym typeface="Malgun Gothic"/>
                        </a:rPr>
                        <a:t>·</a:t>
                      </a:r>
                      <a:r>
                        <a:rPr lang="ko-KR" altLang="en-US" sz="1000" b="0" i="0" u="none" strike="noStrike" cap="none" dirty="0">
                          <a:solidFill>
                            <a:schemeClr val="tx1"/>
                          </a:solidFill>
                          <a:latin typeface="Malgun Gothic"/>
                          <a:ea typeface="Malgun Gothic"/>
                          <a:cs typeface="Malgun Gothic"/>
                          <a:sym typeface="Malgun Gothic"/>
                        </a:rPr>
                        <a:t>판매가 제한될 수 있으므로 론칭 일정과 허가 일정을 연계 관리할 것</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허가 후 제품명</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처방</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효능</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라벨</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생산기업</a:t>
                      </a: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경내책임자 등 변경 시 변경허가 또는 신고 필요 여부 확인 필요</a:t>
                      </a:r>
                    </a:p>
                    <a:p>
                      <a:pPr marL="0" marR="0" lvl="0" indent="0" algn="l" rtl="0">
                        <a:lnSpc>
                          <a:spcPct val="150000"/>
                        </a:lnSpc>
                        <a:spcBef>
                          <a:spcPts val="0"/>
                        </a:spcBef>
                        <a:spcAft>
                          <a:spcPts val="0"/>
                        </a:spcAft>
                        <a:buNone/>
                      </a:pPr>
                      <a:r>
                        <a:rPr lang="en-US" altLang="ko-KR" sz="1000" b="0" i="0" u="none" strike="noStrike" cap="none" dirty="0">
                          <a:solidFill>
                            <a:schemeClr val="tx1"/>
                          </a:solidFill>
                          <a:latin typeface="Malgun Gothic"/>
                          <a:ea typeface="Malgun Gothic"/>
                          <a:cs typeface="Malgun Gothic"/>
                          <a:sym typeface="Malgun Gothic"/>
                        </a:rPr>
                        <a:t>• </a:t>
                      </a:r>
                      <a:r>
                        <a:rPr lang="ko-KR" altLang="en-US" sz="1000" b="0" i="0" u="none" strike="noStrike" cap="none" dirty="0">
                          <a:solidFill>
                            <a:schemeClr val="tx1"/>
                          </a:solidFill>
                          <a:latin typeface="Malgun Gothic"/>
                          <a:ea typeface="Malgun Gothic"/>
                          <a:cs typeface="Malgun Gothic"/>
                          <a:sym typeface="Malgun Gothic"/>
                        </a:rPr>
                        <a:t>허가 유효기간 및 갱신기한 관리 필요</a:t>
                      </a:r>
                      <a:endParaRP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5"/>
                  </a:ext>
                </a:extLst>
              </a:tr>
            </a:tbl>
          </a:graphicData>
        </a:graphic>
      </p:graphicFrame>
      <p:sp>
        <p:nvSpPr>
          <p:cNvPr id="141" name="Google Shape;141;p6">
            <a:extLst>
              <a:ext uri="{FF2B5EF4-FFF2-40B4-BE49-F238E27FC236}">
                <a16:creationId xmlns:a16="http://schemas.microsoft.com/office/drawing/2014/main" id="{FF5CD0C5-402C-1169-4BC4-2E380F469B2B}"/>
              </a:ext>
            </a:extLst>
          </p:cNvPr>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03. 제품 등록/허가</a:t>
            </a:r>
            <a:endParaRPr sz="2000" b="1">
              <a:solidFill>
                <a:srgbClr val="0070C0"/>
              </a:solidFill>
              <a:latin typeface="Malgun Gothic"/>
              <a:ea typeface="Malgun Gothic"/>
              <a:cs typeface="Malgun Gothic"/>
              <a:sym typeface="Malgun Gothic"/>
            </a:endParaRPr>
          </a:p>
        </p:txBody>
      </p:sp>
      <p:sp>
        <p:nvSpPr>
          <p:cNvPr id="142" name="Google Shape;142;p6">
            <a:extLst>
              <a:ext uri="{FF2B5EF4-FFF2-40B4-BE49-F238E27FC236}">
                <a16:creationId xmlns:a16="http://schemas.microsoft.com/office/drawing/2014/main" id="{53ADF21F-3224-FEA3-45C8-134967866BD7}"/>
              </a:ext>
            </a:extLst>
          </p:cNvPr>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3-3. </a:t>
            </a:r>
            <a:r>
              <a:rPr lang="ko-KR" altLang="en-US" b="1" dirty="0">
                <a:solidFill>
                  <a:schemeClr val="dk1"/>
                </a:solidFill>
                <a:latin typeface="Malgun Gothic"/>
                <a:ea typeface="Malgun Gothic"/>
                <a:cs typeface="Malgun Gothic"/>
                <a:sym typeface="Malgun Gothic"/>
              </a:rPr>
              <a:t>특수화장품 허가 </a:t>
            </a:r>
            <a:endParaRPr sz="1400" b="1" dirty="0">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98513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aphicFrame>
        <p:nvGraphicFramePr>
          <p:cNvPr id="148" name="Google Shape;148;p7"/>
          <p:cNvGraphicFramePr/>
          <p:nvPr>
            <p:extLst>
              <p:ext uri="{D42A27DB-BD31-4B8C-83A1-F6EECF244321}">
                <p14:modId xmlns:p14="http://schemas.microsoft.com/office/powerpoint/2010/main" val="1927031757"/>
              </p:ext>
            </p:extLst>
          </p:nvPr>
        </p:nvGraphicFramePr>
        <p:xfrm>
          <a:off x="405898" y="1341838"/>
          <a:ext cx="11178500" cy="4480600"/>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547925">
                <a:tc>
                  <a:txBody>
                    <a:bodyPr/>
                    <a:lstStyle/>
                    <a:p>
                      <a:pPr marL="0" marR="0" lvl="0" indent="0" algn="ctr" rtl="0">
                        <a:spcBef>
                          <a:spcPts val="0"/>
                        </a:spcBef>
                        <a:spcAft>
                          <a:spcPts val="0"/>
                        </a:spcAft>
                        <a:buNone/>
                      </a:pPr>
                      <a:r>
                        <a:rPr lang="ko-KR" altLang="en-US" sz="1200" b="1" u="none" strike="noStrike" cap="none" dirty="0">
                          <a:solidFill>
                            <a:schemeClr val="tx1"/>
                          </a:solidFill>
                        </a:rPr>
                        <a:t>규제 </a:t>
                      </a:r>
                      <a:r>
                        <a:rPr lang="ko-KR" sz="1200" b="1" u="none" strike="noStrike" cap="none" dirty="0">
                          <a:solidFill>
                            <a:schemeClr val="tx1"/>
                          </a:solidFill>
                        </a:rPr>
                        <a:t>설명</a:t>
                      </a:r>
                      <a:endParaRPr strike="sngStrike" dirty="0">
                        <a:solidFill>
                          <a:schemeClr val="tx1"/>
                        </a:solidFill>
                      </a:endParaRPr>
                    </a:p>
                  </a:txBody>
                  <a:tcPr marL="91450" marR="91450" marT="45725" marB="45725" anchor="ctr"/>
                </a:tc>
                <a:tc>
                  <a:txBody>
                    <a:bodyPr/>
                    <a:lstStyle/>
                    <a:p>
                      <a:r>
                        <a:rPr lang="ko-KR" altLang="ko-KR" sz="1000" b="0" dirty="0">
                          <a:solidFill>
                            <a:schemeClr val="tx1"/>
                          </a:solidFill>
                        </a:rPr>
                        <a:t>NMPA 「화장품 </a:t>
                      </a:r>
                      <a:r>
                        <a:rPr lang="ko-KR" altLang="ko-KR" sz="1000" b="0" i="0" u="none" strike="noStrike" cap="none" dirty="0" err="1">
                          <a:solidFill>
                            <a:schemeClr val="tx1"/>
                          </a:solidFill>
                          <a:effectLst/>
                          <a:latin typeface="맑은 고딕"/>
                          <a:ea typeface="맑은 고딕"/>
                          <a:cs typeface="맑은 고딕"/>
                          <a:sym typeface="Arial"/>
                        </a:rPr>
                        <a:t>허가·등록</a:t>
                      </a:r>
                      <a:r>
                        <a:rPr lang="en-US" altLang="ko-KR" sz="1000" b="0" i="0" u="none" strike="noStrike" cap="none" dirty="0">
                          <a:solidFill>
                            <a:schemeClr val="tx1"/>
                          </a:solidFill>
                          <a:effectLst/>
                          <a:latin typeface="맑은 고딕"/>
                          <a:ea typeface="맑은 고딕"/>
                          <a:cs typeface="맑은 고딕"/>
                          <a:sym typeface="Arial"/>
                        </a:rPr>
                        <a:t> </a:t>
                      </a:r>
                      <a:r>
                        <a:rPr lang="ko-KR" altLang="ko-KR" sz="1000" b="0" dirty="0">
                          <a:solidFill>
                            <a:schemeClr val="tx1"/>
                          </a:solidFill>
                        </a:rPr>
                        <a:t>관련 사항에 관한 공고」(2026년 제70호)에 따라 제품 </a:t>
                      </a:r>
                      <a:r>
                        <a:rPr lang="ko-KR" altLang="en-US" sz="1000" b="0" dirty="0" err="1">
                          <a:solidFill>
                            <a:schemeClr val="tx1"/>
                          </a:solidFill>
                        </a:rPr>
                        <a:t>허가</a:t>
                      </a:r>
                      <a:r>
                        <a:rPr lang="ko-KR" altLang="ko-KR" sz="1000" b="0" dirty="0" err="1">
                          <a:solidFill>
                            <a:schemeClr val="tx1"/>
                          </a:solidFill>
                        </a:rPr>
                        <a:t>·</a:t>
                      </a:r>
                      <a:r>
                        <a:rPr lang="ko-KR" altLang="en-US" sz="1000" b="0" dirty="0" err="1">
                          <a:solidFill>
                            <a:schemeClr val="tx1"/>
                          </a:solidFill>
                        </a:rPr>
                        <a:t>등록</a:t>
                      </a:r>
                      <a:r>
                        <a:rPr lang="ko-KR" altLang="ko-KR" sz="1000" b="0" dirty="0">
                          <a:solidFill>
                            <a:schemeClr val="tx1"/>
                          </a:solidFill>
                        </a:rPr>
                        <a:t> 시 원료 안전정보 문서 및 원료</a:t>
                      </a:r>
                      <a:r>
                        <a:rPr lang="en-US" altLang="ko-KR" sz="1000" b="0" dirty="0">
                          <a:solidFill>
                            <a:schemeClr val="tx1"/>
                          </a:solidFill>
                        </a:rPr>
                        <a:t> </a:t>
                      </a:r>
                      <a:r>
                        <a:rPr lang="ko-KR" altLang="en-US" sz="1000" b="0" dirty="0">
                          <a:solidFill>
                            <a:schemeClr val="tx1"/>
                          </a:solidFill>
                        </a:rPr>
                        <a:t>등록</a:t>
                      </a:r>
                      <a:r>
                        <a:rPr lang="ko-KR" altLang="ko-KR" sz="1000" b="0" dirty="0">
                          <a:solidFill>
                            <a:schemeClr val="tx1"/>
                          </a:solidFill>
                        </a:rPr>
                        <a:t>코드를 별도로 입력하지 않으며, 원료 생산업체명만 입력하도록 변경</a:t>
                      </a:r>
                      <a:r>
                        <a:rPr lang="ko-KR" altLang="en-US" sz="1000" b="0" dirty="0">
                          <a:solidFill>
                            <a:schemeClr val="tx1"/>
                          </a:solidFill>
                        </a:rPr>
                        <a:t>됨</a:t>
                      </a:r>
                      <a:endParaRPr lang="ko-KR" altLang="ko-KR" sz="1000" b="0" dirty="0">
                        <a:solidFill>
                          <a:schemeClr val="tx1"/>
                        </a:solidFill>
                      </a:endParaRPr>
                    </a:p>
                    <a:p>
                      <a:r>
                        <a:rPr lang="ko-KR" altLang="ko-KR" sz="1000" b="0" dirty="0">
                          <a:solidFill>
                            <a:schemeClr val="tx1"/>
                          </a:solidFill>
                        </a:rPr>
                        <a:t>관련 원료 안전정보 및 품질자료는 </a:t>
                      </a:r>
                      <a:r>
                        <a:rPr lang="ko-KR" altLang="en-US" sz="1000" b="0" dirty="0" err="1">
                          <a:solidFill>
                            <a:schemeClr val="tx1"/>
                          </a:solidFill>
                        </a:rPr>
                        <a:t>허가</a:t>
                      </a:r>
                      <a:r>
                        <a:rPr lang="ko-KR" altLang="ko-KR" sz="1000" b="0" dirty="0" err="1">
                          <a:solidFill>
                            <a:schemeClr val="tx1"/>
                          </a:solidFill>
                        </a:rPr>
                        <a:t>인·</a:t>
                      </a:r>
                      <a:r>
                        <a:rPr lang="ko-KR" altLang="en-US" sz="1000" b="0" dirty="0" err="1">
                          <a:solidFill>
                            <a:schemeClr val="tx1"/>
                          </a:solidFill>
                        </a:rPr>
                        <a:t>등록</a:t>
                      </a:r>
                      <a:r>
                        <a:rPr lang="ko-KR" altLang="ko-KR" sz="1000" b="0" dirty="0" err="1">
                          <a:solidFill>
                            <a:schemeClr val="tx1"/>
                          </a:solidFill>
                        </a:rPr>
                        <a:t>인</a:t>
                      </a:r>
                      <a:r>
                        <a:rPr lang="ko-KR" altLang="ko-KR" sz="1000" b="0" dirty="0">
                          <a:solidFill>
                            <a:schemeClr val="tx1"/>
                          </a:solidFill>
                        </a:rPr>
                        <a:t> 또는 경내책임자가 자체적으로 </a:t>
                      </a:r>
                      <a:r>
                        <a:rPr lang="ko-KR" altLang="ko-KR" sz="1000" b="0" dirty="0" err="1">
                          <a:solidFill>
                            <a:schemeClr val="tx1"/>
                          </a:solidFill>
                        </a:rPr>
                        <a:t>확보·보관하여</a:t>
                      </a:r>
                      <a:r>
                        <a:rPr lang="ko-KR" altLang="ko-KR" sz="1000" b="0" dirty="0">
                          <a:solidFill>
                            <a:schemeClr val="tx1"/>
                          </a:solidFill>
                        </a:rPr>
                        <a:t> 사후 </a:t>
                      </a:r>
                      <a:r>
                        <a:rPr lang="ko-KR" altLang="ko-KR" sz="1000" b="0" dirty="0" err="1">
                          <a:solidFill>
                            <a:schemeClr val="tx1"/>
                          </a:solidFill>
                        </a:rPr>
                        <a:t>감독·검사에</a:t>
                      </a:r>
                      <a:r>
                        <a:rPr lang="ko-KR" altLang="ko-KR" sz="1000" b="0" dirty="0">
                          <a:solidFill>
                            <a:schemeClr val="tx1"/>
                          </a:solidFill>
                        </a:rPr>
                        <a:t> 대비하여야</a:t>
                      </a:r>
                      <a:r>
                        <a:rPr lang="en-US" altLang="ko-KR" sz="1000" b="0" dirty="0">
                          <a:solidFill>
                            <a:schemeClr val="tx1"/>
                          </a:solidFill>
                        </a:rPr>
                        <a:t> </a:t>
                      </a:r>
                      <a:r>
                        <a:rPr lang="ko-KR" altLang="en-US" sz="1000" b="0" dirty="0">
                          <a:solidFill>
                            <a:schemeClr val="tx1"/>
                          </a:solidFill>
                        </a:rPr>
                        <a:t>함</a:t>
                      </a:r>
                      <a:r>
                        <a:rPr lang="ko-KR" altLang="ko-KR" sz="1000" b="0" dirty="0">
                          <a:solidFill>
                            <a:schemeClr val="tx1"/>
                          </a:solidFill>
                        </a:rPr>
                        <a:t>. 다만, 관련 기술규범에서 요구하는 경우에는 해당 원료의 품질규격 또는 시험성적서를 제</a:t>
                      </a:r>
                      <a:r>
                        <a:rPr lang="ko-KR" altLang="en-US" sz="1000" b="0" dirty="0">
                          <a:solidFill>
                            <a:schemeClr val="tx1"/>
                          </a:solidFill>
                        </a:rPr>
                        <a:t>출 필요 </a:t>
                      </a:r>
                      <a:endParaRPr lang="ko-KR" altLang="ko-KR" sz="1000" b="0" dirty="0">
                        <a:solidFill>
                          <a:schemeClr val="tx1"/>
                        </a:solidFill>
                      </a:endParaRPr>
                    </a:p>
                    <a:p>
                      <a:r>
                        <a:rPr lang="ko-KR" altLang="ko-KR" sz="1000" b="0" dirty="0">
                          <a:solidFill>
                            <a:schemeClr val="tx1"/>
                          </a:solidFill>
                        </a:rPr>
                        <a:t>이에 따라 기존의 원료 안전정보 입력, 원료</a:t>
                      </a:r>
                      <a:r>
                        <a:rPr lang="en-US" altLang="ko-KR" sz="1000" b="0" dirty="0">
                          <a:solidFill>
                            <a:schemeClr val="tx1"/>
                          </a:solidFill>
                        </a:rPr>
                        <a:t> </a:t>
                      </a:r>
                      <a:r>
                        <a:rPr lang="ko-KR" altLang="en-US" sz="1000" b="0" dirty="0">
                          <a:solidFill>
                            <a:schemeClr val="tx1"/>
                          </a:solidFill>
                        </a:rPr>
                        <a:t>등록</a:t>
                      </a:r>
                      <a:r>
                        <a:rPr lang="ko-KR" altLang="ko-KR" sz="1000" b="0" dirty="0">
                          <a:solidFill>
                            <a:schemeClr val="tx1"/>
                          </a:solidFill>
                        </a:rPr>
                        <a:t>코드 연계 및 관련 계정 개통 절차는 현행 제품 </a:t>
                      </a:r>
                      <a:r>
                        <a:rPr lang="ko-KR" altLang="en-US" sz="1000" b="0" dirty="0" err="1">
                          <a:solidFill>
                            <a:schemeClr val="tx1"/>
                          </a:solidFill>
                        </a:rPr>
                        <a:t>허가</a:t>
                      </a:r>
                      <a:r>
                        <a:rPr lang="ko-KR" altLang="ko-KR" sz="1000" b="0" dirty="0" err="1">
                          <a:solidFill>
                            <a:schemeClr val="tx1"/>
                          </a:solidFill>
                        </a:rPr>
                        <a:t>·</a:t>
                      </a:r>
                      <a:r>
                        <a:rPr lang="ko-KR" altLang="en-US" sz="1000" b="0" dirty="0" err="1">
                          <a:solidFill>
                            <a:schemeClr val="tx1"/>
                          </a:solidFill>
                        </a:rPr>
                        <a:t>등록</a:t>
                      </a:r>
                      <a:r>
                        <a:rPr lang="ko-KR" altLang="ko-KR" sz="1000" b="0" dirty="0">
                          <a:solidFill>
                            <a:schemeClr val="tx1"/>
                          </a:solidFill>
                        </a:rPr>
                        <a:t> 절차에 적용되지 않</a:t>
                      </a:r>
                      <a:r>
                        <a:rPr lang="ko-KR" altLang="en-US" sz="1000" b="0" dirty="0">
                          <a:solidFill>
                            <a:schemeClr val="tx1"/>
                          </a:solidFill>
                        </a:rPr>
                        <a:t>음</a:t>
                      </a:r>
                      <a:endParaRPr lang="ko-KR" altLang="ko-KR" sz="1000" b="0" dirty="0">
                        <a:solidFill>
                          <a:schemeClr val="tx1"/>
                        </a:solidFill>
                      </a:endParaRPr>
                    </a:p>
                  </a:txBody>
                  <a:tcPr marL="91450" marR="91450" marT="45725" marB="45725" anchor="ctr"/>
                </a:tc>
                <a:extLst>
                  <a:ext uri="{0D108BD9-81ED-4DB2-BD59-A6C34878D82A}">
                    <a16:rowId xmlns:a16="http://schemas.microsoft.com/office/drawing/2014/main" val="10000"/>
                  </a:ext>
                </a:extLst>
              </a:tr>
              <a:tr h="973565">
                <a:tc>
                  <a:txBody>
                    <a:bodyPr/>
                    <a:lstStyle/>
                    <a:p>
                      <a:pPr marL="0" marR="0" lvl="0" indent="0" algn="ctr" rtl="0">
                        <a:spcBef>
                          <a:spcPts val="0"/>
                        </a:spcBef>
                        <a:spcAft>
                          <a:spcPts val="0"/>
                        </a:spcAft>
                        <a:buNone/>
                      </a:pPr>
                      <a:r>
                        <a:rPr lang="ko-KR" altLang="en-US" sz="1200" b="1" strike="noStrike" dirty="0">
                          <a:solidFill>
                            <a:schemeClr val="tx1"/>
                          </a:solidFill>
                        </a:rPr>
                        <a:t>작성 시 주의사항</a:t>
                      </a:r>
                      <a:endParaRPr sz="1200" b="1" strike="noStrike" dirty="0">
                        <a:solidFill>
                          <a:schemeClr val="tx1"/>
                        </a:solidFill>
                      </a:endParaRPr>
                    </a:p>
                  </a:txBody>
                  <a:tcPr marL="91450" marR="91450" marT="45725" marB="45725"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ko-KR" altLang="en-US" sz="1000" b="0" dirty="0">
                          <a:solidFill>
                            <a:schemeClr val="tx1"/>
                          </a:solidFill>
                          <a:sym typeface="Wingdings" panose="05000000000000000000" pitchFamily="2" charset="2"/>
                        </a:rPr>
                        <a:t> </a:t>
                      </a:r>
                      <a:r>
                        <a:rPr lang="ko-KR" altLang="ko-KR" sz="1000" b="0" dirty="0">
                          <a:solidFill>
                            <a:schemeClr val="tx1"/>
                          </a:solidFill>
                        </a:rPr>
                        <a:t>제품 처방의 원료와 해당 원료의 생산업체 정보가 정확하게 연결되어야 하며, 시스템에 기재하는 생산업체명은 원료 안전정보 자료상의 업체명과 일치</a:t>
                      </a:r>
                      <a:r>
                        <a:rPr lang="en-US" altLang="ko-KR" sz="1000" b="0" dirty="0">
                          <a:solidFill>
                            <a:schemeClr val="tx1"/>
                          </a:solidFill>
                        </a:rPr>
                        <a:t> </a:t>
                      </a:r>
                      <a:r>
                        <a:rPr lang="ko-KR" altLang="en-US" sz="1000" b="0" dirty="0">
                          <a:solidFill>
                            <a:schemeClr val="tx1"/>
                          </a:solidFill>
                        </a:rPr>
                        <a:t>필요 </a:t>
                      </a:r>
                      <a:br>
                        <a:rPr lang="ko-KR" altLang="ko-KR" sz="1000" b="0" dirty="0">
                          <a:solidFill>
                            <a:schemeClr val="tx1"/>
                          </a:solidFill>
                        </a:rPr>
                      </a:br>
                      <a:br>
                        <a:rPr lang="ko-KR" altLang="ko-KR" sz="1000" b="0" dirty="0">
                          <a:solidFill>
                            <a:schemeClr val="tx1"/>
                          </a:solidFill>
                        </a:rPr>
                      </a:br>
                      <a:r>
                        <a:rPr lang="ko-KR" altLang="en-US" sz="1000" b="0" dirty="0">
                          <a:solidFill>
                            <a:schemeClr val="tx1"/>
                          </a:solidFill>
                          <a:sym typeface="Wingdings" panose="05000000000000000000" pitchFamily="2" charset="2"/>
                        </a:rPr>
                        <a:t> </a:t>
                      </a:r>
                      <a:r>
                        <a:rPr lang="ko-KR" altLang="ko-KR" sz="1000" b="0" dirty="0">
                          <a:solidFill>
                            <a:schemeClr val="tx1"/>
                          </a:solidFill>
                        </a:rPr>
                        <a:t>‘원료 </a:t>
                      </a:r>
                      <a:r>
                        <a:rPr lang="ko-KR" altLang="ko-KR" sz="1000" b="0" dirty="0" err="1">
                          <a:solidFill>
                            <a:schemeClr val="tx1"/>
                          </a:solidFill>
                        </a:rPr>
                        <a:t>생산업체’는</a:t>
                      </a:r>
                      <a:r>
                        <a:rPr lang="ko-KR" altLang="ko-KR" sz="1000" b="0" dirty="0">
                          <a:solidFill>
                            <a:schemeClr val="tx1"/>
                          </a:solidFill>
                        </a:rPr>
                        <a:t> 단순 </a:t>
                      </a:r>
                      <a:r>
                        <a:rPr lang="ko-KR" altLang="ko-KR" sz="1000" b="0" dirty="0" err="1">
                          <a:solidFill>
                            <a:schemeClr val="tx1"/>
                          </a:solidFill>
                        </a:rPr>
                        <a:t>판매·유통업체를</a:t>
                      </a:r>
                      <a:r>
                        <a:rPr lang="ko-KR" altLang="ko-KR" sz="1000" b="0" dirty="0">
                          <a:solidFill>
                            <a:schemeClr val="tx1"/>
                          </a:solidFill>
                        </a:rPr>
                        <a:t> 의미하지 않으며, 원료 안전에 책임을 부담하는 업체를 기준으로 확인</a:t>
                      </a:r>
                      <a:r>
                        <a:rPr lang="en-US" altLang="ko-KR" sz="1000" b="0" dirty="0">
                          <a:solidFill>
                            <a:schemeClr val="tx1"/>
                          </a:solidFill>
                        </a:rPr>
                        <a:t> </a:t>
                      </a:r>
                      <a:r>
                        <a:rPr lang="ko-KR" altLang="en-US" sz="1000" b="0" dirty="0">
                          <a:solidFill>
                            <a:schemeClr val="tx1"/>
                          </a:solidFill>
                        </a:rPr>
                        <a:t>필요</a:t>
                      </a:r>
                      <a:r>
                        <a:rPr lang="en-US" altLang="ko-KR" sz="1000" b="0" dirty="0">
                          <a:solidFill>
                            <a:schemeClr val="tx1"/>
                          </a:solidFill>
                        </a:rPr>
                        <a:t>.</a:t>
                      </a:r>
                      <a:r>
                        <a:rPr lang="ko-KR" altLang="ko-KR" sz="1000" b="0" dirty="0">
                          <a:solidFill>
                            <a:schemeClr val="tx1"/>
                          </a:solidFill>
                        </a:rPr>
                        <a:t> 동일한 원료명이라도 생산업체 또는 품질규격이 다른 경우에는 동일 자료를 일괄 적용하지 않고, 해당 원료에 적합한 안전정보 자료인지 별도로 확인</a:t>
                      </a:r>
                      <a:br>
                        <a:rPr lang="ko-KR" altLang="ko-KR" sz="1000" b="0" dirty="0">
                          <a:solidFill>
                            <a:schemeClr val="tx1"/>
                          </a:solidFill>
                        </a:rPr>
                      </a:br>
                      <a:br>
                        <a:rPr lang="ko-KR" altLang="ko-KR" sz="1000" b="0" dirty="0">
                          <a:solidFill>
                            <a:schemeClr val="tx1"/>
                          </a:solidFill>
                        </a:rPr>
                      </a:br>
                      <a:r>
                        <a:rPr lang="ko-KR" altLang="en-US" sz="1000" b="0" dirty="0">
                          <a:solidFill>
                            <a:schemeClr val="tx1"/>
                          </a:solidFill>
                          <a:sym typeface="Wingdings" panose="05000000000000000000" pitchFamily="2" charset="2"/>
                        </a:rPr>
                        <a:t> </a:t>
                      </a:r>
                      <a:r>
                        <a:rPr lang="ko-KR" altLang="ko-KR" sz="1000" b="0" dirty="0">
                          <a:solidFill>
                            <a:schemeClr val="tx1"/>
                          </a:solidFill>
                        </a:rPr>
                        <a:t>원료 생산업체, 제조공정, 조성 또는 품질규격이 변경된 경우에는 기존 자료의 계속 적용 가능 여부와 제품 안전성평가에 미치는 영향</a:t>
                      </a:r>
                      <a:r>
                        <a:rPr lang="en-US" altLang="ko-KR" sz="1000" b="0" dirty="0">
                          <a:solidFill>
                            <a:schemeClr val="tx1"/>
                          </a:solidFill>
                        </a:rPr>
                        <a:t> </a:t>
                      </a:r>
                      <a:r>
                        <a:rPr lang="ko-KR" altLang="en-US" sz="1000" b="0" dirty="0">
                          <a:solidFill>
                            <a:schemeClr val="tx1"/>
                          </a:solidFill>
                        </a:rPr>
                        <a:t>검토 필요 </a:t>
                      </a:r>
                      <a:endParaRPr lang="en-US" altLang="ko-K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3341014512"/>
                  </a:ext>
                </a:extLst>
              </a:tr>
              <a:tr h="395525">
                <a:tc>
                  <a:txBody>
                    <a:bodyPr/>
                    <a:lstStyle/>
                    <a:p>
                      <a:pPr marL="0" marR="0" lvl="0" indent="0" algn="ctr" rtl="0">
                        <a:spcBef>
                          <a:spcPts val="0"/>
                        </a:spcBef>
                        <a:spcAft>
                          <a:spcPts val="0"/>
                        </a:spcAft>
                        <a:buNone/>
                      </a:pPr>
                      <a:r>
                        <a:rPr lang="ko-KR" altLang="en-US" sz="1200" b="1" u="none" strike="noStrike" cap="none" dirty="0">
                          <a:solidFill>
                            <a:schemeClr val="tx1"/>
                          </a:solidFill>
                        </a:rPr>
                        <a:t>방식</a:t>
                      </a:r>
                      <a:endParaRPr lang="ko-KR" altLang="en-US" strike="noStrike" dirty="0">
                        <a:solidFill>
                          <a:schemeClr val="tx1"/>
                        </a:solidFill>
                      </a:endParaRPr>
                    </a:p>
                  </a:txBody>
                  <a:tcPr marL="91450" marR="91450" marT="45725" marB="45725" anchor="ctr"/>
                </a:tc>
                <a:tc>
                  <a:txBody>
                    <a:bodyPr/>
                    <a:lstStyle/>
                    <a:p>
                      <a:pPr marL="0" marR="0" lvl="0" indent="0" algn="l" rtl="0">
                        <a:lnSpc>
                          <a:spcPct val="100000"/>
                        </a:lnSpc>
                        <a:spcBef>
                          <a:spcPts val="0"/>
                        </a:spcBef>
                        <a:spcAft>
                          <a:spcPts val="0"/>
                        </a:spcAft>
                        <a:buNone/>
                      </a:pPr>
                      <a:r>
                        <a:rPr lang="ko-KR" altLang="ko-KR" sz="1000" b="0" dirty="0">
                          <a:solidFill>
                            <a:schemeClr val="tx1"/>
                          </a:solidFill>
                        </a:rPr>
                        <a:t>① 제품 처방을 기준으로 원료별 상품명, 조성 및 원료 생산업체를 확인</a:t>
                      </a:r>
                      <a:r>
                        <a:rPr lang="en-US" altLang="ko-KR" sz="1000" b="0" dirty="0">
                          <a:solidFill>
                            <a:schemeClr val="tx1"/>
                          </a:solidFill>
                        </a:rPr>
                        <a:t> </a:t>
                      </a:r>
                      <a:br>
                        <a:rPr lang="ko-KR" altLang="ko-KR" sz="1000" b="0" dirty="0">
                          <a:solidFill>
                            <a:schemeClr val="tx1"/>
                          </a:solidFill>
                        </a:rPr>
                      </a:br>
                      <a:r>
                        <a:rPr lang="ko-KR" altLang="ko-KR" sz="1000" b="0" dirty="0">
                          <a:solidFill>
                            <a:schemeClr val="tx1"/>
                          </a:solidFill>
                        </a:rPr>
                        <a:t>② </a:t>
                      </a:r>
                      <a:r>
                        <a:rPr lang="ko-KR" altLang="en-US" sz="1000" b="0" dirty="0" err="1">
                          <a:solidFill>
                            <a:schemeClr val="tx1"/>
                          </a:solidFill>
                        </a:rPr>
                        <a:t>허가</a:t>
                      </a:r>
                      <a:r>
                        <a:rPr lang="ko-KR" altLang="ko-KR" sz="1000" b="0" dirty="0" err="1">
                          <a:solidFill>
                            <a:schemeClr val="tx1"/>
                          </a:solidFill>
                        </a:rPr>
                        <a:t>·</a:t>
                      </a:r>
                      <a:r>
                        <a:rPr lang="ko-KR" altLang="en-US" sz="1000" b="0" dirty="0" err="1">
                          <a:solidFill>
                            <a:schemeClr val="tx1"/>
                          </a:solidFill>
                        </a:rPr>
                        <a:t>등록</a:t>
                      </a:r>
                      <a:r>
                        <a:rPr lang="ko-KR" altLang="ko-KR" sz="1000" b="0" dirty="0">
                          <a:solidFill>
                            <a:schemeClr val="tx1"/>
                          </a:solidFill>
                        </a:rPr>
                        <a:t> 시스템에 원료별 생산업체의 정식 명칭</a:t>
                      </a:r>
                      <a:r>
                        <a:rPr lang="en-US" altLang="ko-KR" sz="1000" b="0" dirty="0">
                          <a:solidFill>
                            <a:schemeClr val="tx1"/>
                          </a:solidFill>
                        </a:rPr>
                        <a:t> </a:t>
                      </a:r>
                      <a:r>
                        <a:rPr lang="ko-KR" altLang="en-US" sz="1000" b="0" dirty="0">
                          <a:solidFill>
                            <a:schemeClr val="tx1"/>
                          </a:solidFill>
                        </a:rPr>
                        <a:t>기재</a:t>
                      </a:r>
                      <a:br>
                        <a:rPr lang="ko-KR" altLang="ko-KR" sz="1000" b="0" dirty="0">
                          <a:solidFill>
                            <a:schemeClr val="tx1"/>
                          </a:solidFill>
                        </a:rPr>
                      </a:br>
                      <a:r>
                        <a:rPr lang="ko-KR" altLang="ko-KR" sz="1000" b="0" dirty="0">
                          <a:solidFill>
                            <a:schemeClr val="tx1"/>
                          </a:solidFill>
                        </a:rPr>
                        <a:t>③ 원료 생산업체 등으로부터 「화장품 </a:t>
                      </a:r>
                      <a:r>
                        <a:rPr lang="ko-KR" altLang="ko-KR" sz="1000" b="0" dirty="0" err="1">
                          <a:solidFill>
                            <a:schemeClr val="tx1"/>
                          </a:solidFill>
                        </a:rPr>
                        <a:t>등록·비안</a:t>
                      </a:r>
                      <a:r>
                        <a:rPr lang="ko-KR" altLang="ko-KR" sz="1000" b="0" dirty="0">
                          <a:solidFill>
                            <a:schemeClr val="tx1"/>
                          </a:solidFill>
                        </a:rPr>
                        <a:t> 자료관리규정」 </a:t>
                      </a:r>
                      <a:r>
                        <a:rPr lang="ko-KR" altLang="en-US" sz="1000" b="0" dirty="0">
                          <a:solidFill>
                            <a:schemeClr val="tx1"/>
                          </a:solidFill>
                        </a:rPr>
                        <a:t>별표 </a:t>
                      </a:r>
                      <a:r>
                        <a:rPr lang="ko-KR" altLang="ko-KR" sz="1000" b="0" dirty="0">
                          <a:solidFill>
                            <a:schemeClr val="tx1"/>
                          </a:solidFill>
                        </a:rPr>
                        <a:t>14에 해당하는 원료 안전정보 자료</a:t>
                      </a:r>
                      <a:r>
                        <a:rPr lang="en-US" altLang="ko-KR" sz="1000" b="0" dirty="0">
                          <a:solidFill>
                            <a:schemeClr val="tx1"/>
                          </a:solidFill>
                        </a:rPr>
                        <a:t> </a:t>
                      </a:r>
                      <a:r>
                        <a:rPr lang="ko-KR" altLang="ko-KR" sz="1000" b="0" dirty="0">
                          <a:solidFill>
                            <a:schemeClr val="tx1"/>
                          </a:solidFill>
                        </a:rPr>
                        <a:t>확보</a:t>
                      </a:r>
                      <a:br>
                        <a:rPr lang="ko-KR" altLang="ko-KR" sz="1000" b="0" dirty="0">
                          <a:solidFill>
                            <a:schemeClr val="tx1"/>
                          </a:solidFill>
                        </a:rPr>
                      </a:br>
                      <a:r>
                        <a:rPr lang="ko-KR" altLang="ko-KR" sz="1000" b="0" dirty="0">
                          <a:solidFill>
                            <a:srgbClr val="FF0000"/>
                          </a:solidFill>
                        </a:rPr>
                        <a:t>④ </a:t>
                      </a:r>
                      <a:r>
                        <a:rPr lang="ko-KR" altLang="ko-KR" sz="1000" dirty="0">
                          <a:solidFill>
                            <a:srgbClr val="FF0000"/>
                          </a:solidFill>
                        </a:rPr>
                        <a:t>「화장품 원료 안전정보 작성 </a:t>
                      </a:r>
                      <a:r>
                        <a:rPr lang="ko-KR" altLang="ko-KR" sz="1000" dirty="0" err="1">
                          <a:solidFill>
                            <a:srgbClr val="FF0000"/>
                          </a:solidFill>
                        </a:rPr>
                        <a:t>기술지침」에</a:t>
                      </a:r>
                      <a:r>
                        <a:rPr lang="ko-KR" altLang="ko-KR" sz="1000" dirty="0">
                          <a:solidFill>
                            <a:srgbClr val="FF0000"/>
                          </a:solidFill>
                        </a:rPr>
                        <a:t> 따라 원료 </a:t>
                      </a:r>
                      <a:r>
                        <a:rPr lang="ko-KR" altLang="ko-KR" sz="1000" dirty="0" err="1">
                          <a:solidFill>
                            <a:srgbClr val="FF0000"/>
                          </a:solidFill>
                        </a:rPr>
                        <a:t>조성·제조공정·품질관리</a:t>
                      </a:r>
                      <a:r>
                        <a:rPr lang="ko-KR" altLang="ko-KR" sz="1000" dirty="0">
                          <a:solidFill>
                            <a:srgbClr val="FF0000"/>
                          </a:solidFill>
                        </a:rPr>
                        <a:t> 지표 및 위해물질 정보를 검토하고, 필요한 경우 관련 근거자료 보완</a:t>
                      </a:r>
                      <a:endParaRPr lang="en-US" altLang="ko-KR" sz="1000" dirty="0">
                        <a:solidFill>
                          <a:srgbClr val="FF0000"/>
                        </a:solidFill>
                      </a:endParaRPr>
                    </a:p>
                    <a:p>
                      <a:pPr marL="0" marR="0" lvl="0" indent="0" algn="l" rtl="0">
                        <a:lnSpc>
                          <a:spcPct val="100000"/>
                        </a:lnSpc>
                        <a:spcBef>
                          <a:spcPts val="0"/>
                        </a:spcBef>
                        <a:spcAft>
                          <a:spcPts val="0"/>
                        </a:spcAft>
                        <a:buNone/>
                      </a:pPr>
                      <a:r>
                        <a:rPr lang="ko-KR" altLang="ko-KR" sz="1000" b="0" dirty="0">
                          <a:solidFill>
                            <a:schemeClr val="tx1"/>
                          </a:solidFill>
                        </a:rPr>
                        <a:t>⑤ 원료별 자료를 제품 처방 및 안전성평가 자료와 연계하여 보관하고, 자료 보완 또는 감독기관의 제출 요구에 대응</a:t>
                      </a:r>
                      <a:br>
                        <a:rPr lang="ko-KR" altLang="ko-KR" sz="1000" b="0" dirty="0">
                          <a:solidFill>
                            <a:schemeClr val="tx1"/>
                          </a:solidFill>
                        </a:rPr>
                      </a:br>
                      <a:r>
                        <a:rPr lang="ko-KR" altLang="ko-KR" sz="1000" b="0" dirty="0">
                          <a:solidFill>
                            <a:schemeClr val="tx1"/>
                          </a:solidFill>
                        </a:rPr>
                        <a:t>⑥ 원료 정보 변경 시 관련 자료를 </a:t>
                      </a:r>
                      <a:r>
                        <a:rPr lang="ko-KR" altLang="en-US" sz="1000" b="0" dirty="0">
                          <a:solidFill>
                            <a:schemeClr val="tx1"/>
                          </a:solidFill>
                        </a:rPr>
                        <a:t>업데이트</a:t>
                      </a:r>
                      <a:r>
                        <a:rPr lang="ko-KR" altLang="ko-KR" sz="1000" b="0" dirty="0">
                          <a:solidFill>
                            <a:schemeClr val="tx1"/>
                          </a:solidFill>
                        </a:rPr>
                        <a:t>하고 제품 </a:t>
                      </a:r>
                      <a:r>
                        <a:rPr lang="ko-KR" altLang="en-US" sz="1000" b="0" dirty="0" err="1">
                          <a:solidFill>
                            <a:schemeClr val="tx1"/>
                          </a:solidFill>
                        </a:rPr>
                        <a:t>허가</a:t>
                      </a:r>
                      <a:r>
                        <a:rPr lang="ko-KR" altLang="ko-KR" sz="1000" b="0" dirty="0" err="1">
                          <a:solidFill>
                            <a:schemeClr val="tx1"/>
                          </a:solidFill>
                        </a:rPr>
                        <a:t>·</a:t>
                      </a:r>
                      <a:r>
                        <a:rPr lang="ko-KR" altLang="en-US" sz="1000" b="0" dirty="0" err="1">
                          <a:solidFill>
                            <a:schemeClr val="tx1"/>
                          </a:solidFill>
                        </a:rPr>
                        <a:t>등록</a:t>
                      </a:r>
                      <a:r>
                        <a:rPr lang="ko-KR" altLang="ko-KR" sz="1000" b="0" dirty="0">
                          <a:solidFill>
                            <a:schemeClr val="tx1"/>
                          </a:solidFill>
                        </a:rPr>
                        <a:t> 및 안전성평가에 미치는 영향을 검토</a:t>
                      </a:r>
                      <a:endParaRPr lang="ko-KR" altLang="en-US"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1"/>
                  </a:ext>
                </a:extLst>
              </a:tr>
              <a:tr h="514947">
                <a:tc>
                  <a:txBody>
                    <a:bodyPr/>
                    <a:lstStyle/>
                    <a:p>
                      <a:pPr marL="0" marR="0" lvl="0" indent="0" algn="ctr" rtl="0">
                        <a:spcBef>
                          <a:spcPts val="0"/>
                        </a:spcBef>
                        <a:spcAft>
                          <a:spcPts val="0"/>
                        </a:spcAft>
                        <a:buNone/>
                      </a:pPr>
                      <a:r>
                        <a:rPr lang="ko-KR" sz="1200" b="1" u="none" strike="noStrike" cap="none" dirty="0">
                          <a:solidFill>
                            <a:schemeClr val="tx1"/>
                          </a:solidFill>
                        </a:rPr>
                        <a:t>참고 또는</a:t>
                      </a:r>
                      <a:endParaRPr sz="1200" b="1" u="none" strike="noStrike" cap="none" dirty="0">
                        <a:solidFill>
                          <a:schemeClr val="tx1"/>
                        </a:solidFill>
                      </a:endParaRPr>
                    </a:p>
                    <a:p>
                      <a:pPr marL="0" marR="0" lvl="0" indent="0" algn="ctr" rtl="0">
                        <a:spcBef>
                          <a:spcPts val="0"/>
                        </a:spcBef>
                        <a:spcAft>
                          <a:spcPts val="0"/>
                        </a:spcAft>
                        <a:buNone/>
                      </a:pPr>
                      <a:r>
                        <a:rPr lang="ko-KR" sz="1200" b="1" u="none" strike="noStrike" cap="none" dirty="0">
                          <a:solidFill>
                            <a:schemeClr val="tx1"/>
                          </a:solidFill>
                        </a:rPr>
                        <a:t>필요서류</a:t>
                      </a:r>
                      <a:endParaRPr strike="noStrike" dirty="0">
                        <a:solidFill>
                          <a:schemeClr val="tx1"/>
                        </a:solidFill>
                      </a:endParaRPr>
                    </a:p>
                  </a:txBody>
                  <a:tcPr marL="91450" marR="91450" marT="45725" marB="45725"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ko-KR" altLang="ko-KR" sz="1000" dirty="0">
                          <a:solidFill>
                            <a:srgbClr val="FF0000"/>
                          </a:solidFill>
                        </a:rPr>
                        <a:t>원료 안전정보는 </a:t>
                      </a:r>
                      <a:r>
                        <a:rPr lang="ko-KR" altLang="ko-KR" sz="1000" dirty="0">
                          <a:solidFill>
                            <a:srgbClr val="FF0000"/>
                          </a:solidFill>
                          <a:highlight>
                            <a:srgbClr val="FFFF00"/>
                          </a:highlight>
                        </a:rPr>
                        <a:t>「화장품 </a:t>
                      </a:r>
                      <a:r>
                        <a:rPr lang="ko-KR" altLang="ko-KR" sz="1000" dirty="0" err="1">
                          <a:solidFill>
                            <a:srgbClr val="FF0000"/>
                          </a:solidFill>
                          <a:highlight>
                            <a:srgbClr val="FFFF00"/>
                          </a:highlight>
                        </a:rPr>
                        <a:t>등록·비안</a:t>
                      </a:r>
                      <a:r>
                        <a:rPr lang="ko-KR" altLang="ko-KR" sz="1000" dirty="0">
                          <a:solidFill>
                            <a:srgbClr val="FF0000"/>
                          </a:solidFill>
                          <a:highlight>
                            <a:srgbClr val="FFFF00"/>
                          </a:highlight>
                        </a:rPr>
                        <a:t> 자료관리규정」 별표 14</a:t>
                      </a:r>
                      <a:r>
                        <a:rPr lang="ko-KR" altLang="ko-KR" sz="1000" dirty="0">
                          <a:solidFill>
                            <a:srgbClr val="FF0000"/>
                          </a:solidFill>
                        </a:rPr>
                        <a:t>를 기본 참고 양식으로 활용하고</a:t>
                      </a:r>
                      <a:r>
                        <a:rPr lang="ko-KR" altLang="ko-KR" sz="1000" dirty="0">
                          <a:solidFill>
                            <a:srgbClr val="FF0000"/>
                          </a:solidFill>
                          <a:highlight>
                            <a:srgbClr val="FFFF00"/>
                          </a:highlight>
                        </a:rPr>
                        <a:t>, 「화장품 원료 안전정보 작성 </a:t>
                      </a:r>
                      <a:r>
                        <a:rPr lang="ko-KR" altLang="ko-KR" sz="1000" dirty="0" err="1">
                          <a:solidFill>
                            <a:srgbClr val="FF0000"/>
                          </a:solidFill>
                          <a:highlight>
                            <a:srgbClr val="FFFF00"/>
                          </a:highlight>
                        </a:rPr>
                        <a:t>기술지침」</a:t>
                      </a:r>
                      <a:r>
                        <a:rPr lang="ko-KR" altLang="ko-KR" sz="1000" dirty="0" err="1">
                          <a:solidFill>
                            <a:srgbClr val="FF0000"/>
                          </a:solidFill>
                        </a:rPr>
                        <a:t>에</a:t>
                      </a:r>
                      <a:r>
                        <a:rPr lang="ko-KR" altLang="ko-KR" sz="1000" dirty="0">
                          <a:solidFill>
                            <a:srgbClr val="FF0000"/>
                          </a:solidFill>
                        </a:rPr>
                        <a:t> 따라 다음 정보를 </a:t>
                      </a:r>
                      <a:r>
                        <a:rPr lang="ko-KR" altLang="ko-KR" sz="1000" dirty="0" err="1">
                          <a:solidFill>
                            <a:srgbClr val="FF0000"/>
                          </a:solidFill>
                        </a:rPr>
                        <a:t>작성·관리</a:t>
                      </a:r>
                      <a:endParaRPr lang="en-US" altLang="ko-KR" sz="1000" dirty="0">
                        <a:solidFill>
                          <a:srgbClr val="FF0000"/>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lang="ko-KR" altLang="ko-KR" sz="1000" b="0" dirty="0">
                          <a:solidFill>
                            <a:schemeClr val="tx1"/>
                          </a:solidFill>
                        </a:rPr>
                      </a:br>
                      <a:r>
                        <a:rPr lang="ko-KR" altLang="ko-KR" sz="1000" b="0" dirty="0">
                          <a:solidFill>
                            <a:schemeClr val="tx1"/>
                          </a:solidFill>
                        </a:rPr>
                        <a:t>• 원료 상품명 및 원료 조성 정보</a:t>
                      </a:r>
                      <a:br>
                        <a:rPr lang="ko-KR" altLang="ko-KR" sz="1000" b="0" dirty="0">
                          <a:solidFill>
                            <a:schemeClr val="tx1"/>
                          </a:solidFill>
                        </a:rPr>
                      </a:br>
                      <a:r>
                        <a:rPr lang="ko-KR" altLang="ko-KR" sz="1000" b="0" dirty="0">
                          <a:solidFill>
                            <a:schemeClr val="tx1"/>
                          </a:solidFill>
                        </a:rPr>
                        <a:t>• 원료의 기본 특성 및 사용 제한사항</a:t>
                      </a:r>
                      <a:br>
                        <a:rPr lang="ko-KR" altLang="ko-KR" sz="1000" b="0" dirty="0">
                          <a:solidFill>
                            <a:schemeClr val="tx1"/>
                          </a:solidFill>
                        </a:rPr>
                      </a:br>
                      <a:r>
                        <a:rPr lang="ko-KR" altLang="ko-KR" sz="1000" b="0" dirty="0">
                          <a:solidFill>
                            <a:schemeClr val="tx1"/>
                          </a:solidFill>
                        </a:rPr>
                        <a:t>• 원료 제조공정 개요</a:t>
                      </a:r>
                      <a:br>
                        <a:rPr lang="ko-KR" altLang="ko-KR" sz="1000" b="0" dirty="0">
                          <a:solidFill>
                            <a:schemeClr val="tx1"/>
                          </a:solidFill>
                        </a:rPr>
                      </a:br>
                      <a:r>
                        <a:rPr lang="ko-KR" altLang="ko-KR" sz="1000" b="0" dirty="0">
                          <a:solidFill>
                            <a:schemeClr val="tx1"/>
                          </a:solidFill>
                        </a:rPr>
                        <a:t>• 원료 품질관리 기준 및 시험방법</a:t>
                      </a:r>
                      <a:br>
                        <a:rPr lang="ko-KR" altLang="ko-KR" sz="1000" b="0" dirty="0">
                          <a:solidFill>
                            <a:schemeClr val="tx1"/>
                          </a:solidFill>
                        </a:rPr>
                      </a:br>
                      <a:r>
                        <a:rPr lang="ko-KR" altLang="ko-KR" sz="1000" b="0" dirty="0">
                          <a:solidFill>
                            <a:schemeClr val="tx1"/>
                          </a:solidFill>
                        </a:rPr>
                        <a:t>• 안전성 위험물질의 </a:t>
                      </a:r>
                      <a:r>
                        <a:rPr lang="ko-KR" altLang="ko-KR" sz="1000" b="0" dirty="0" err="1">
                          <a:solidFill>
                            <a:schemeClr val="tx1"/>
                          </a:solidFill>
                        </a:rPr>
                        <a:t>관리·제한</a:t>
                      </a:r>
                      <a:r>
                        <a:rPr lang="ko-KR" altLang="ko-KR" sz="1000" b="0" dirty="0">
                          <a:solidFill>
                            <a:schemeClr val="tx1"/>
                          </a:solidFill>
                        </a:rPr>
                        <a:t> 기준</a:t>
                      </a:r>
                      <a:br>
                        <a:rPr lang="ko-KR" altLang="ko-KR" sz="1000" b="0" dirty="0">
                          <a:solidFill>
                            <a:schemeClr val="tx1"/>
                          </a:solidFill>
                        </a:rPr>
                      </a:br>
                      <a:r>
                        <a:rPr lang="ko-KR" altLang="ko-KR" sz="1000" b="0" dirty="0">
                          <a:solidFill>
                            <a:schemeClr val="tx1"/>
                          </a:solidFill>
                        </a:rPr>
                        <a:t>• 국내외 권위기관의 안전성평가 결과 등 안전성 근거자료</a:t>
                      </a:r>
                      <a:br>
                        <a:rPr lang="ko-KR" altLang="ko-KR" sz="1000" b="0" dirty="0">
                          <a:solidFill>
                            <a:schemeClr val="tx1"/>
                          </a:solidFill>
                        </a:rPr>
                      </a:br>
                      <a:br>
                        <a:rPr lang="ko-KR" altLang="ko-KR" sz="1000" b="0" dirty="0">
                          <a:solidFill>
                            <a:schemeClr val="tx1"/>
                          </a:solidFill>
                        </a:rPr>
                      </a:br>
                      <a:r>
                        <a:rPr lang="ko-KR" altLang="ko-KR" sz="1000" b="0" dirty="0">
                          <a:solidFill>
                            <a:schemeClr val="tx1"/>
                          </a:solidFill>
                        </a:rPr>
                        <a:t>구체적인 자료 범위는 원료의 특성, 사용 목적 및 적용되는 기술지침에 따라 달라질 수 </a:t>
                      </a:r>
                      <a:r>
                        <a:rPr lang="ko-KR" altLang="en-US" sz="1000" b="0" dirty="0">
                          <a:solidFill>
                            <a:schemeClr val="tx1"/>
                          </a:solidFill>
                        </a:rPr>
                        <a:t>있음</a:t>
                      </a:r>
                      <a:endParaRPr lang="en-US" altLang="ko-KR" sz="1000" b="0" i="0" u="none" strike="noStrike" cap="none" dirty="0">
                        <a:solidFill>
                          <a:schemeClr val="tx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bl>
          </a:graphicData>
        </a:graphic>
      </p:graphicFrame>
      <p:sp>
        <p:nvSpPr>
          <p:cNvPr id="149" name="Google Shape;149;p7"/>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03. 제품 등록/허가</a:t>
            </a:r>
            <a:endParaRPr sz="2000" b="1">
              <a:solidFill>
                <a:srgbClr val="0070C0"/>
              </a:solidFill>
              <a:latin typeface="Malgun Gothic"/>
              <a:ea typeface="Malgun Gothic"/>
              <a:cs typeface="Malgun Gothic"/>
              <a:sym typeface="Malgun Gothic"/>
            </a:endParaRPr>
          </a:p>
        </p:txBody>
      </p:sp>
      <p:sp>
        <p:nvSpPr>
          <p:cNvPr id="150" name="Google Shape;150;p7"/>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1400" b="1" dirty="0">
                <a:solidFill>
                  <a:schemeClr val="tx1"/>
                </a:solidFill>
                <a:latin typeface="Malgun Gothic"/>
                <a:ea typeface="Malgun Gothic"/>
                <a:cs typeface="Malgun Gothic"/>
                <a:sym typeface="Malgun Gothic"/>
              </a:rPr>
              <a:t>원료 정보 </a:t>
            </a:r>
            <a:r>
              <a:rPr lang="ko-KR" altLang="en-US" sz="1400" b="1" dirty="0">
                <a:solidFill>
                  <a:schemeClr val="tx1"/>
                </a:solidFill>
                <a:latin typeface="Malgun Gothic"/>
                <a:ea typeface="Malgun Gothic"/>
                <a:cs typeface="Malgun Gothic"/>
                <a:sym typeface="Malgun Gothic"/>
              </a:rPr>
              <a:t>작성 및 보관</a:t>
            </a:r>
            <a:endParaRPr sz="1400" b="1" dirty="0">
              <a:solidFill>
                <a:schemeClr val="tx1"/>
              </a:solidFill>
              <a:latin typeface="Malgun Gothic"/>
              <a:ea typeface="Malgun Gothic"/>
              <a:cs typeface="Malgun Gothic"/>
              <a:sym typeface="Malgun Gothic"/>
            </a:endParaRPr>
          </a:p>
        </p:txBody>
      </p:sp>
      <p:sp>
        <p:nvSpPr>
          <p:cNvPr id="3" name="TextBox 2">
            <a:extLst>
              <a:ext uri="{FF2B5EF4-FFF2-40B4-BE49-F238E27FC236}">
                <a16:creationId xmlns:a16="http://schemas.microsoft.com/office/drawing/2014/main" id="{18101297-46ED-F704-6A28-0E8E56C11DAA}"/>
              </a:ext>
            </a:extLst>
          </p:cNvPr>
          <p:cNvSpPr txBox="1"/>
          <p:nvPr/>
        </p:nvSpPr>
        <p:spPr>
          <a:xfrm>
            <a:off x="0" y="6596390"/>
            <a:ext cx="1634308" cy="261610"/>
          </a:xfrm>
          <a:prstGeom prst="rect">
            <a:avLst/>
          </a:prstGeom>
          <a:solidFill>
            <a:srgbClr val="FFFF00"/>
          </a:solidFill>
          <a:ln>
            <a:noFill/>
            <a:prstDash val="dash"/>
          </a:ln>
          <a:effectLst>
            <a:outerShdw blurRad="50800" dist="38100" dir="2700000" algn="tl" rotWithShape="0">
              <a:prstClr val="black">
                <a:alpha val="40000"/>
              </a:prstClr>
            </a:outerShdw>
          </a:effectLst>
        </p:spPr>
        <p:txBody>
          <a:bodyPr wrap="square" rtlCol="0">
            <a:spAutoFit/>
          </a:bodyPr>
          <a:lstStyle/>
          <a:p>
            <a:r>
              <a:rPr lang="ko-KR" altLang="en-US" sz="1100" b="1" dirty="0"/>
              <a:t>다음 페이지에 이어서</a:t>
            </a:r>
            <a:endParaRPr lang="ko-KR" altLang="en-US" sz="1100" dirty="0"/>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DE85D137-F217-782C-145C-1412A9CAB8D4}"/>
            </a:ext>
          </a:extLst>
        </p:cNvPr>
        <p:cNvGrpSpPr/>
        <p:nvPr/>
      </p:nvGrpSpPr>
      <p:grpSpPr>
        <a:xfrm>
          <a:off x="0" y="0"/>
          <a:ext cx="0" cy="0"/>
          <a:chOff x="0" y="0"/>
          <a:chExt cx="0" cy="0"/>
        </a:xfrm>
      </p:grpSpPr>
      <p:graphicFrame>
        <p:nvGraphicFramePr>
          <p:cNvPr id="156" name="Google Shape;156;p8">
            <a:extLst>
              <a:ext uri="{FF2B5EF4-FFF2-40B4-BE49-F238E27FC236}">
                <a16:creationId xmlns:a16="http://schemas.microsoft.com/office/drawing/2014/main" id="{6EAA9302-3522-19B8-F56F-8DEF7FB9E914}"/>
              </a:ext>
            </a:extLst>
          </p:cNvPr>
          <p:cNvGraphicFramePr/>
          <p:nvPr>
            <p:extLst>
              <p:ext uri="{D42A27DB-BD31-4B8C-83A1-F6EECF244321}">
                <p14:modId xmlns:p14="http://schemas.microsoft.com/office/powerpoint/2010/main" val="681909762"/>
              </p:ext>
            </p:extLst>
          </p:nvPr>
        </p:nvGraphicFramePr>
        <p:xfrm>
          <a:off x="405898" y="1341838"/>
          <a:ext cx="11178500" cy="4667822"/>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4802200">
                  <a:extLst>
                    <a:ext uri="{9D8B030D-6E8A-4147-A177-3AD203B41FA5}">
                      <a16:colId xmlns:a16="http://schemas.microsoft.com/office/drawing/2014/main" val="20001"/>
                    </a:ext>
                  </a:extLst>
                </a:gridCol>
                <a:gridCol w="4802200">
                  <a:extLst>
                    <a:ext uri="{9D8B030D-6E8A-4147-A177-3AD203B41FA5}">
                      <a16:colId xmlns:a16="http://schemas.microsoft.com/office/drawing/2014/main" val="737092189"/>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한국에서 중국으로 화장품을 수출하기 위해 관세청 전자통관시스템을 통해 수출신고를 진행하고</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신고수리 후 선적을 준비하는 단계</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관세사를 통한 대행 신고 또는 수출자가 관세청 </a:t>
                      </a:r>
                      <a:r>
                        <a:rPr lang="en-US" altLang="ko-KR" sz="1000" b="0" i="0" u="none" strike="noStrike" cap="none" dirty="0">
                          <a:solidFill>
                            <a:schemeClr val="dk1"/>
                          </a:solidFill>
                          <a:latin typeface="Malgun Gothic"/>
                          <a:ea typeface="Malgun Gothic"/>
                          <a:cs typeface="Malgun Gothic"/>
                          <a:sym typeface="Malgun Gothic"/>
                        </a:rPr>
                        <a:t>UNI-PASS</a:t>
                      </a:r>
                      <a:r>
                        <a:rPr lang="ko-KR" altLang="en-US" sz="1000" b="0" i="0" u="none" strike="noStrike" cap="none" dirty="0">
                          <a:solidFill>
                            <a:schemeClr val="dk1"/>
                          </a:solidFill>
                          <a:latin typeface="Malgun Gothic"/>
                          <a:ea typeface="Malgun Gothic"/>
                          <a:cs typeface="Malgun Gothic"/>
                          <a:sym typeface="Malgun Gothic"/>
                        </a:rPr>
                        <a:t>를 통해 직접 수출신고 진행</a:t>
                      </a:r>
                      <a:endParaRPr dirty="0"/>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관세청</a:t>
                      </a:r>
                      <a:r>
                        <a:rPr lang="en-US" altLang="ko-KR" sz="1000" b="0" i="0" u="none" strike="noStrike" cap="none" dirty="0">
                          <a:solidFill>
                            <a:schemeClr val="dk1"/>
                          </a:solidFill>
                          <a:latin typeface="Malgun Gothic"/>
                          <a:ea typeface="Malgun Gothic"/>
                          <a:cs typeface="Malgun Gothic"/>
                          <a:sym typeface="Malgun Gothic"/>
                        </a:rPr>
                        <a:t>, UNI-PASS, </a:t>
                      </a:r>
                      <a:r>
                        <a:rPr lang="ko-KR" altLang="en-US" sz="1000" b="0" i="0" u="none" strike="noStrike" cap="none" dirty="0">
                          <a:solidFill>
                            <a:schemeClr val="dk1"/>
                          </a:solidFill>
                          <a:latin typeface="Malgun Gothic"/>
                          <a:ea typeface="Malgun Gothic"/>
                          <a:cs typeface="Malgun Gothic"/>
                          <a:sym typeface="Malgun Gothic"/>
                        </a:rPr>
                        <a:t>세관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관세사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한국무역협회</a:t>
                      </a:r>
                      <a:r>
                        <a:rPr lang="en-US" altLang="ko-KR" sz="1000" b="0" i="0" u="none" strike="noStrike" cap="none" dirty="0">
                          <a:solidFill>
                            <a:schemeClr val="dk1"/>
                          </a:solidFill>
                          <a:latin typeface="Malgun Gothic"/>
                          <a:ea typeface="Malgun Gothic"/>
                          <a:cs typeface="Malgun Gothic"/>
                          <a:sym typeface="Malgun Gothic"/>
                        </a:rPr>
                        <a:t>, KOTRA, </a:t>
                      </a:r>
                      <a:r>
                        <a:rPr lang="ko-KR" altLang="en-US" sz="1000" b="0" i="0" u="none" strike="noStrike" cap="none" dirty="0">
                          <a:solidFill>
                            <a:schemeClr val="dk1"/>
                          </a:solidFill>
                          <a:latin typeface="Malgun Gothic"/>
                          <a:ea typeface="Malgun Gothic"/>
                          <a:cs typeface="Malgun Gothic"/>
                          <a:sym typeface="Malgun Gothic"/>
                        </a:rPr>
                        <a:t>한국무역보험공사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대한상공회의소 또는 한국무역협회 원산지증명 발급기관</a:t>
                      </a:r>
                      <a:r>
                        <a:rPr lang="en-US" altLang="ko-KR" sz="1000" b="0" i="0" u="none" strike="noStrike" cap="none" dirty="0">
                          <a:solidFill>
                            <a:schemeClr val="dk1"/>
                          </a:solidFill>
                          <a:latin typeface="Malgun Gothic"/>
                          <a:ea typeface="Malgun Gothic"/>
                          <a:cs typeface="Malgun Gothic"/>
                          <a:sym typeface="Malgun Gothic"/>
                        </a:rPr>
                        <a:t>v</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수출신고서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highlight>
                            <a:srgbClr val="FFFF00"/>
                          </a:highlight>
                          <a:latin typeface="Malgun Gothic"/>
                          <a:ea typeface="Malgun Gothic"/>
                          <a:cs typeface="Malgun Gothic"/>
                          <a:sym typeface="Malgun Gothic"/>
                        </a:rPr>
                        <a:t>상업 송장</a:t>
                      </a:r>
                      <a:r>
                        <a:rPr lang="en-US" altLang="ko-KR" sz="1000" b="0" i="0" u="none" strike="noStrike" cap="none" dirty="0">
                          <a:solidFill>
                            <a:schemeClr val="dk1"/>
                          </a:solidFill>
                          <a:latin typeface="Malgun Gothic"/>
                          <a:ea typeface="Malgun Gothic"/>
                          <a:cs typeface="Malgun Gothic"/>
                          <a:sym typeface="Malgun Gothic"/>
                        </a:rPr>
                        <a:t>, Commercial Invoice</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highlight>
                            <a:srgbClr val="FFFF00"/>
                          </a:highlight>
                          <a:latin typeface="Malgun Gothic"/>
                          <a:ea typeface="Malgun Gothic"/>
                          <a:cs typeface="Malgun Gothic"/>
                          <a:sym typeface="Malgun Gothic"/>
                        </a:rPr>
                        <a:t>포장명세서</a:t>
                      </a:r>
                      <a:r>
                        <a:rPr lang="en-US" altLang="ko-KR" sz="1000" b="0" i="0" u="none" strike="noStrike" cap="none" dirty="0">
                          <a:solidFill>
                            <a:schemeClr val="dk1"/>
                          </a:solidFill>
                          <a:latin typeface="Malgun Gothic"/>
                          <a:ea typeface="Malgun Gothic"/>
                          <a:cs typeface="Malgun Gothic"/>
                          <a:sym typeface="Malgun Gothic"/>
                        </a:rPr>
                        <a:t>, Packing List</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수출계약서 또는 발주서</a:t>
                      </a:r>
                      <a:r>
                        <a:rPr lang="en-US" altLang="ko-KR" sz="1000" b="0" i="0" u="none" strike="noStrike" cap="none" dirty="0">
                          <a:solidFill>
                            <a:schemeClr val="dk1"/>
                          </a:solidFill>
                          <a:latin typeface="Malgun Gothic"/>
                          <a:ea typeface="Malgun Gothic"/>
                          <a:cs typeface="Malgun Gothic"/>
                          <a:sym typeface="Malgun Gothic"/>
                        </a:rPr>
                        <a:t>, PO </a:t>
                      </a:r>
                      <a:r>
                        <a:rPr lang="ko-KR" altLang="en-US" sz="1000" b="0" i="0" u="none" strike="noStrike" cap="none" dirty="0">
                          <a:solidFill>
                            <a:schemeClr val="dk1"/>
                          </a:solidFill>
                          <a:latin typeface="Malgun Gothic"/>
                          <a:ea typeface="Malgun Gothic"/>
                          <a:cs typeface="Malgun Gothic"/>
                          <a:sym typeface="Malgun Gothic"/>
                        </a:rPr>
                        <a:t>및 </a:t>
                      </a:r>
                      <a:r>
                        <a:rPr lang="ko-KR" altLang="en-US" sz="1000" b="0" i="0" u="none" strike="noStrike" cap="none" dirty="0">
                          <a:solidFill>
                            <a:schemeClr val="dk1"/>
                          </a:solidFill>
                          <a:highlight>
                            <a:srgbClr val="FFFF00"/>
                          </a:highlight>
                          <a:latin typeface="Malgun Gothic"/>
                          <a:ea typeface="Malgun Gothic"/>
                          <a:cs typeface="Malgun Gothic"/>
                          <a:sym typeface="Malgun Gothic"/>
                        </a:rPr>
                        <a:t>기타 서류 </a:t>
                      </a:r>
                      <a:r>
                        <a:rPr lang="zh-CN" altLang="en-US" sz="1000" b="0" i="0" u="none" strike="noStrike" cap="none" dirty="0">
                          <a:solidFill>
                            <a:schemeClr val="dk1"/>
                          </a:solidFill>
                          <a:highlight>
                            <a:srgbClr val="FFFF00"/>
                          </a:highlight>
                          <a:latin typeface="Malgun Gothic"/>
                          <a:ea typeface="Malgun Gothic"/>
                          <a:cs typeface="Malgun Gothic"/>
                          <a:sym typeface="Malgun Gothic"/>
                        </a:rPr>
                        <a:t>（</a:t>
                      </a:r>
                      <a:r>
                        <a:rPr lang="ko-KR" altLang="en-US" sz="1000" b="0" i="0" u="none" strike="noStrike" cap="none" dirty="0">
                          <a:solidFill>
                            <a:schemeClr val="dk1"/>
                          </a:solidFill>
                          <a:highlight>
                            <a:srgbClr val="FFFF00"/>
                          </a:highlight>
                          <a:latin typeface="Malgun Gothic"/>
                          <a:ea typeface="Malgun Gothic"/>
                          <a:cs typeface="Malgun Gothic"/>
                          <a:sym typeface="Malgun Gothic"/>
                        </a:rPr>
                        <a:t>첨부파일 </a:t>
                      </a:r>
                      <a:r>
                        <a:rPr lang="en-US" altLang="ko-KR" sz="1000" b="0" i="0" u="none" strike="noStrike" cap="none" dirty="0">
                          <a:solidFill>
                            <a:schemeClr val="dk1"/>
                          </a:solidFill>
                          <a:highlight>
                            <a:srgbClr val="FFFF00"/>
                          </a:highlight>
                          <a:latin typeface="Malgun Gothic"/>
                          <a:ea typeface="Malgun Gothic"/>
                          <a:cs typeface="Malgun Gothic"/>
                          <a:sym typeface="Malgun Gothic"/>
                        </a:rPr>
                        <a:t>4-3</a:t>
                      </a:r>
                      <a:r>
                        <a:rPr lang="ko-KR" altLang="en-US" sz="1000" b="0" i="0" u="none" strike="noStrike" cap="none" dirty="0">
                          <a:solidFill>
                            <a:schemeClr val="dk1"/>
                          </a:solidFill>
                          <a:highlight>
                            <a:srgbClr val="FFFF00"/>
                          </a:highlight>
                          <a:latin typeface="Malgun Gothic"/>
                          <a:ea typeface="Malgun Gothic"/>
                          <a:cs typeface="Malgun Gothic"/>
                          <a:sym typeface="Malgun Gothic"/>
                        </a:rPr>
                        <a:t>으로 연결</a:t>
                      </a:r>
                      <a:r>
                        <a:rPr lang="zh-CN" altLang="en-US" sz="1000" b="0" i="0" u="none" strike="noStrike" cap="none" dirty="0">
                          <a:solidFill>
                            <a:schemeClr val="dk1"/>
                          </a:solidFill>
                          <a:highlight>
                            <a:srgbClr val="FFFF00"/>
                          </a:highlight>
                          <a:latin typeface="Malgun Gothic"/>
                          <a:ea typeface="Malgun Gothic"/>
                          <a:cs typeface="Malgun Gothic"/>
                          <a:sym typeface="Malgun Gothic"/>
                        </a:rPr>
                        <a:t>）</a:t>
                      </a:r>
                      <a:endParaRPr lang="en-US" altLang="ko-KR" sz="1000" b="0" i="0" u="none" strike="noStrike" cap="none" dirty="0">
                        <a:solidFill>
                          <a:schemeClr val="dk1"/>
                        </a:solidFill>
                        <a:highlight>
                          <a:srgbClr val="FFFF00"/>
                        </a:highlight>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제품명세서 또는 제품규격서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운송서류</a:t>
                      </a:r>
                      <a:r>
                        <a:rPr lang="en-US" altLang="ko-KR" sz="1000" b="0" i="0" u="none" strike="noStrike" cap="none" dirty="0">
                          <a:solidFill>
                            <a:schemeClr val="dk1"/>
                          </a:solidFill>
                          <a:latin typeface="Malgun Gothic"/>
                          <a:ea typeface="Malgun Gothic"/>
                          <a:cs typeface="Malgun Gothic"/>
                          <a:sym typeface="Malgun Gothic"/>
                        </a:rPr>
                        <a:t>, B/L </a:t>
                      </a:r>
                      <a:r>
                        <a:rPr lang="ko-KR" altLang="en-US" sz="1000" b="0" i="0" u="none" strike="noStrike" cap="none" dirty="0">
                          <a:solidFill>
                            <a:schemeClr val="dk1"/>
                          </a:solidFill>
                          <a:latin typeface="Malgun Gothic"/>
                          <a:ea typeface="Malgun Gothic"/>
                          <a:cs typeface="Malgun Gothic"/>
                          <a:sym typeface="Malgun Gothic"/>
                        </a:rPr>
                        <a:t>또는 </a:t>
                      </a:r>
                      <a:r>
                        <a:rPr lang="en-US" altLang="ko-KR" sz="1000" b="0" i="0" u="none" strike="noStrike" cap="none" dirty="0">
                          <a:solidFill>
                            <a:schemeClr val="dk1"/>
                          </a:solidFill>
                          <a:latin typeface="Malgun Gothic"/>
                          <a:ea typeface="Malgun Gothic"/>
                          <a:cs typeface="Malgun Gothic"/>
                          <a:sym typeface="Malgun Gothic"/>
                        </a:rPr>
                        <a:t>AWB</a:t>
                      </a: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원산지증명서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필요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자유판매증명서</a:t>
                      </a:r>
                      <a:r>
                        <a:rPr lang="en-US" altLang="ko-KR" sz="1000" b="0" i="0" u="none" strike="noStrike" cap="none" dirty="0">
                          <a:solidFill>
                            <a:schemeClr val="dk1"/>
                          </a:solidFill>
                          <a:latin typeface="Malgun Gothic"/>
                          <a:ea typeface="Malgun Gothic"/>
                          <a:cs typeface="Malgun Gothic"/>
                          <a:sym typeface="Malgun Gothic"/>
                        </a:rPr>
                        <a:t>, CFS, </a:t>
                      </a:r>
                      <a:r>
                        <a:rPr lang="ko-KR" altLang="en-US" sz="1000" b="0" i="0" u="none" strike="noStrike" cap="none" dirty="0">
                          <a:solidFill>
                            <a:schemeClr val="dk1"/>
                          </a:solidFill>
                          <a:latin typeface="Malgun Gothic"/>
                          <a:ea typeface="Malgun Gothic"/>
                          <a:cs typeface="Malgun Gothic"/>
                          <a:sym typeface="Malgun Gothic"/>
                        </a:rPr>
                        <a:t>필요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제조증명서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필요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성분표</a:t>
                      </a:r>
                      <a:r>
                        <a:rPr lang="en-US" altLang="ko-KR" sz="1000" b="0" i="0" u="none" strike="noStrike" cap="none" dirty="0">
                          <a:solidFill>
                            <a:schemeClr val="dk1"/>
                          </a:solidFill>
                          <a:latin typeface="Malgun Gothic"/>
                          <a:ea typeface="Malgun Gothic"/>
                          <a:cs typeface="Malgun Gothic"/>
                          <a:sym typeface="Malgun Gothic"/>
                        </a:rPr>
                        <a:t>, COA, SDS/MSDS, </a:t>
                      </a:r>
                      <a:r>
                        <a:rPr lang="ko-KR" altLang="en-US" sz="1000" b="0" i="0" u="none" strike="noStrike" cap="none" dirty="0">
                          <a:solidFill>
                            <a:schemeClr val="dk1"/>
                          </a:solidFill>
                          <a:latin typeface="Malgun Gothic"/>
                          <a:ea typeface="Malgun Gothic"/>
                          <a:cs typeface="Malgun Gothic"/>
                          <a:sym typeface="Malgun Gothic"/>
                        </a:rPr>
                        <a:t>필요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관련 정보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요청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중문라벨 또는 라벨 견본</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요청 시</a:t>
                      </a: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gridSpan="2">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수출계약 및 선적조건 확인 → ② </a:t>
                      </a:r>
                      <a:r>
                        <a:rPr lang="en-US" altLang="ko-KR" sz="1000" b="0" i="0" u="none" strike="noStrike" cap="none" dirty="0">
                          <a:solidFill>
                            <a:schemeClr val="dk1"/>
                          </a:solidFill>
                          <a:latin typeface="Malgun Gothic"/>
                          <a:ea typeface="Malgun Gothic"/>
                          <a:cs typeface="Malgun Gothic"/>
                          <a:sym typeface="Malgun Gothic"/>
                        </a:rPr>
                        <a:t>HS Code, </a:t>
                      </a:r>
                      <a:r>
                        <a:rPr lang="ko-KR" altLang="en-US" sz="1000" b="0" i="0" u="none" strike="noStrike" cap="none" dirty="0">
                          <a:solidFill>
                            <a:schemeClr val="dk1"/>
                          </a:solidFill>
                          <a:latin typeface="Malgun Gothic"/>
                          <a:ea typeface="Malgun Gothic"/>
                          <a:cs typeface="Malgun Gothic"/>
                          <a:sym typeface="Malgun Gothic"/>
                        </a:rPr>
                        <a:t>제품명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수량</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단가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원산지 확인 → ③ </a:t>
                      </a:r>
                      <a:r>
                        <a:rPr lang="ko-KR" altLang="en-US" sz="1000" b="0" i="0" u="none" strike="noStrike" cap="none" dirty="0" err="1">
                          <a:solidFill>
                            <a:schemeClr val="dk1"/>
                          </a:solidFill>
                          <a:latin typeface="Malgun Gothic"/>
                          <a:ea typeface="Malgun Gothic"/>
                          <a:cs typeface="Malgun Gothic"/>
                          <a:sym typeface="Malgun Gothic"/>
                        </a:rPr>
                        <a:t>상업송장</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포장명세서 작성 → ④ 원산지증명서 등 필요서류 준비 → ⑤ 관세사 또는 </a:t>
                      </a:r>
                      <a:r>
                        <a:rPr lang="en-US" altLang="ko-KR" sz="1000" b="0" i="0" u="none" strike="noStrike" cap="none" dirty="0">
                          <a:solidFill>
                            <a:schemeClr val="dk1"/>
                          </a:solidFill>
                          <a:latin typeface="Malgun Gothic"/>
                          <a:ea typeface="Malgun Gothic"/>
                          <a:cs typeface="Malgun Gothic"/>
                          <a:sym typeface="Malgun Gothic"/>
                        </a:rPr>
                        <a:t>UNI-PASS</a:t>
                      </a:r>
                      <a:r>
                        <a:rPr lang="ko-KR" altLang="en-US" sz="1000" b="0" i="0" u="none" strike="noStrike" cap="none" dirty="0">
                          <a:solidFill>
                            <a:schemeClr val="dk1"/>
                          </a:solidFill>
                          <a:latin typeface="Malgun Gothic"/>
                          <a:ea typeface="Malgun Gothic"/>
                          <a:cs typeface="Malgun Gothic"/>
                          <a:sym typeface="Malgun Gothic"/>
                        </a:rPr>
                        <a:t>를 통한 수출신고 → ⑥ 세관 심사 및 필요 시 검사 → ⑦ 수출신고수리 → ⑧ 선적 및 운송서류 발급 → ⑨ 선적서류 중국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전달</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a:t>주의사항</a:t>
                      </a:r>
                      <a:endParaRPr sz="1200" b="1" u="none" strike="noStrike" cap="none"/>
                    </a:p>
                    <a:p>
                      <a:pPr marL="0" marR="0" lvl="0" indent="0" algn="ctr" rtl="0">
                        <a:spcBef>
                          <a:spcPts val="0"/>
                        </a:spcBef>
                        <a:spcAft>
                          <a:spcPts val="0"/>
                        </a:spcAft>
                        <a:buNone/>
                      </a:pPr>
                      <a:r>
                        <a:rPr lang="ko-KR" sz="1200" b="1" u="none" strike="noStrike" cap="none"/>
                        <a:t>또는</a:t>
                      </a:r>
                      <a:endParaRPr sz="1200" b="1" u="none" strike="noStrike" cap="none"/>
                    </a:p>
                    <a:p>
                      <a:pPr marL="0" marR="0" lvl="0" indent="0" algn="ctr" rtl="0">
                        <a:spcBef>
                          <a:spcPts val="0"/>
                        </a:spcBef>
                        <a:spcAft>
                          <a:spcPts val="0"/>
                        </a:spcAft>
                        <a:buNone/>
                      </a:pPr>
                      <a:r>
                        <a:rPr lang="ko-KR" sz="1200" b="1" u="none" strike="noStrike" cap="none"/>
                        <a:t>확인사항</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수출신고서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상업송장</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포장명세서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운송서류의 제품명</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수량</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중량</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단가</a:t>
                      </a:r>
                      <a:r>
                        <a:rPr lang="en-US" altLang="ko-KR" sz="1000" b="0" i="0" u="none" strike="noStrike" cap="none" dirty="0">
                          <a:solidFill>
                            <a:schemeClr val="dk1"/>
                          </a:solidFill>
                          <a:latin typeface="Malgun Gothic"/>
                          <a:ea typeface="Malgun Gothic"/>
                          <a:cs typeface="Malgun Gothic"/>
                          <a:sym typeface="Malgun Gothic"/>
                        </a:rPr>
                        <a:t>·HS Code·</a:t>
                      </a:r>
                      <a:r>
                        <a:rPr lang="ko-KR" altLang="en-US" sz="1000" b="0" i="0" u="none" strike="noStrike" cap="none" dirty="0" err="1">
                          <a:solidFill>
                            <a:schemeClr val="dk1"/>
                          </a:solidFill>
                          <a:latin typeface="Malgun Gothic"/>
                          <a:ea typeface="Malgun Gothic"/>
                          <a:cs typeface="Malgun Gothic"/>
                          <a:sym typeface="Malgun Gothic"/>
                        </a:rPr>
                        <a:t>수출자</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정보가 일치해야 함</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자료의 제품명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브랜드명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규격</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제조사 정보와 선적서류 기재정보의 정합성 확인 필요</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원산지증명서가 필요한 경우 발급기관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발급방식</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기재정보를 사전에 확인할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Incoterms </a:t>
                      </a:r>
                      <a:r>
                        <a:rPr lang="ko-KR" altLang="en-US" sz="1000" b="0" i="0" u="none" strike="noStrike" cap="none" dirty="0">
                          <a:solidFill>
                            <a:schemeClr val="dk1"/>
                          </a:solidFill>
                          <a:latin typeface="Malgun Gothic"/>
                          <a:ea typeface="Malgun Gothic"/>
                          <a:cs typeface="Malgun Gothic"/>
                          <a:sym typeface="Malgun Gothic"/>
                        </a:rPr>
                        <a:t>조건에 따라 운임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통관비용</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위험 이전 시점이 달라지므로 계약서와 선적서류 간 일치 필요</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화장품 샘플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테스트용 제품</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무상 제공품도 통관 목적과 금액 산정 기준을 명확히 해야 함</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수출신고 수리 후 선적기한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정정신고 필요 여부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분할선적 여부를 확인할 것</a:t>
                      </a:r>
                      <a:endParaRPr dirty="0"/>
                    </a:p>
                  </a:txBody>
                  <a:tcPr marL="91450" marR="91450" marT="45725" marB="45725" anchor="ctr"/>
                </a:tc>
                <a:tc hMerge="1">
                  <a:txBody>
                    <a:bodyPr/>
                    <a:lstStyle/>
                    <a:p>
                      <a:pPr latinLnBrk="1"/>
                      <a:endParaRPr lang="ko-KR" altLang="en-US"/>
                    </a:p>
                  </a:txBody>
                  <a:tcPr/>
                </a:tc>
                <a:extLst>
                  <a:ext uri="{0D108BD9-81ED-4DB2-BD59-A6C34878D82A}">
                    <a16:rowId xmlns:a16="http://schemas.microsoft.com/office/drawing/2014/main" val="10005"/>
                  </a:ext>
                </a:extLst>
              </a:tr>
            </a:tbl>
          </a:graphicData>
        </a:graphic>
      </p:graphicFrame>
      <p:sp>
        <p:nvSpPr>
          <p:cNvPr id="157" name="Google Shape;157;p8">
            <a:extLst>
              <a:ext uri="{FF2B5EF4-FFF2-40B4-BE49-F238E27FC236}">
                <a16:creationId xmlns:a16="http://schemas.microsoft.com/office/drawing/2014/main" id="{968ACA16-90D1-C969-8CCF-EA6F9908D879}"/>
              </a:ext>
            </a:extLst>
          </p:cNvPr>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04. 수출통관/선적</a:t>
            </a:r>
            <a:endParaRPr sz="2000" b="1">
              <a:solidFill>
                <a:srgbClr val="0070C0"/>
              </a:solidFill>
              <a:latin typeface="Malgun Gothic"/>
              <a:ea typeface="Malgun Gothic"/>
              <a:cs typeface="Malgun Gothic"/>
              <a:sym typeface="Malgun Gothic"/>
            </a:endParaRPr>
          </a:p>
        </p:txBody>
      </p:sp>
      <p:sp>
        <p:nvSpPr>
          <p:cNvPr id="158" name="Google Shape;158;p8">
            <a:extLst>
              <a:ext uri="{FF2B5EF4-FFF2-40B4-BE49-F238E27FC236}">
                <a16:creationId xmlns:a16="http://schemas.microsoft.com/office/drawing/2014/main" id="{3170B5C1-808D-A064-C999-95B6186A1B82}"/>
              </a:ext>
            </a:extLst>
          </p:cNvPr>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b="1" dirty="0">
                <a:solidFill>
                  <a:schemeClr val="dk1"/>
                </a:solidFill>
                <a:latin typeface="Malgun Gothic"/>
                <a:ea typeface="Malgun Gothic"/>
                <a:cs typeface="Malgun Gothic"/>
                <a:sym typeface="Malgun Gothic"/>
              </a:rPr>
              <a:t>4-1. </a:t>
            </a:r>
            <a:r>
              <a:rPr lang="ko-KR" sz="1400" b="1" dirty="0">
                <a:solidFill>
                  <a:schemeClr val="dk1"/>
                </a:solidFill>
                <a:latin typeface="Malgun Gothic"/>
                <a:ea typeface="Malgun Gothic"/>
                <a:cs typeface="Malgun Gothic"/>
                <a:sym typeface="Malgun Gothic"/>
              </a:rPr>
              <a:t>수출통관</a:t>
            </a:r>
            <a:endParaRPr sz="1400" b="1" dirty="0">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1823977465"/>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graphicFrame>
        <p:nvGraphicFramePr>
          <p:cNvPr id="156" name="Google Shape;156;p8"/>
          <p:cNvGraphicFramePr/>
          <p:nvPr>
            <p:extLst>
              <p:ext uri="{D42A27DB-BD31-4B8C-83A1-F6EECF244321}">
                <p14:modId xmlns:p14="http://schemas.microsoft.com/office/powerpoint/2010/main" val="2806743306"/>
              </p:ext>
            </p:extLst>
          </p:nvPr>
        </p:nvGraphicFramePr>
        <p:xfrm>
          <a:off x="405898" y="1341838"/>
          <a:ext cx="11178500" cy="4896422"/>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수출신고 수리 후 제품을 항공 또는 해상 운송으로 중국에 발송하고</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수입통관에 필요한 선적서류를 준비하는 단계</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제품 특성</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납기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운임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물량</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보관조건에 따라 해상운송 또는 항공운송 선택</a:t>
                      </a:r>
                      <a:endParaRPr dirty="0"/>
                    </a:p>
                  </a:txBody>
                  <a:tcPr marL="91450" marR="91450" marT="45725" marB="45725" anchor="ct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err="1">
                          <a:solidFill>
                            <a:schemeClr val="dk1"/>
                          </a:solidFill>
                          <a:latin typeface="Malgun Gothic"/>
                          <a:ea typeface="Malgun Gothic"/>
                          <a:cs typeface="Malgun Gothic"/>
                          <a:sym typeface="Malgun Gothic"/>
                        </a:rPr>
                        <a:t>포워더</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선사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항공사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보험사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관세사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세관</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highlight>
                            <a:srgbClr val="FFFF00"/>
                          </a:highlight>
                          <a:latin typeface="Malgun Gothic"/>
                          <a:ea typeface="Malgun Gothic"/>
                          <a:cs typeface="Malgun Gothic"/>
                          <a:sym typeface="Malgun Gothic"/>
                        </a:rPr>
                        <a:t>선하증권</a:t>
                      </a:r>
                      <a:r>
                        <a:rPr lang="en-US" altLang="ko-KR" sz="1000" b="0" i="0" u="none" strike="noStrike" cap="none" dirty="0">
                          <a:solidFill>
                            <a:schemeClr val="dk1"/>
                          </a:solidFill>
                          <a:latin typeface="Malgun Gothic"/>
                          <a:ea typeface="Malgun Gothic"/>
                          <a:cs typeface="Malgun Gothic"/>
                          <a:sym typeface="Malgun Gothic"/>
                        </a:rPr>
                        <a:t>, B/L </a:t>
                      </a:r>
                      <a:r>
                        <a:rPr lang="ko-KR" altLang="en-US" sz="1000" b="0" i="0" u="none" strike="noStrike" cap="none" dirty="0">
                          <a:solidFill>
                            <a:schemeClr val="dk1"/>
                          </a:solidFill>
                          <a:latin typeface="Malgun Gothic"/>
                          <a:ea typeface="Malgun Gothic"/>
                          <a:cs typeface="Malgun Gothic"/>
                          <a:sym typeface="Malgun Gothic"/>
                        </a:rPr>
                        <a:t>또는 항공화물운송장</a:t>
                      </a:r>
                      <a:r>
                        <a:rPr lang="en-US" altLang="ko-KR" sz="1000" b="0" i="0" u="none" strike="noStrike" cap="none" dirty="0">
                          <a:solidFill>
                            <a:schemeClr val="dk1"/>
                          </a:solidFill>
                          <a:latin typeface="Malgun Gothic"/>
                          <a:ea typeface="Malgun Gothic"/>
                          <a:cs typeface="Malgun Gothic"/>
                          <a:sym typeface="Malgun Gothic"/>
                        </a:rPr>
                        <a:t>, AWB</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상업송장</a:t>
                      </a:r>
                      <a:r>
                        <a:rPr lang="en-US" altLang="ko-KR" sz="1000" b="0" i="0" u="none" strike="noStrike" cap="none" dirty="0">
                          <a:solidFill>
                            <a:schemeClr val="dk1"/>
                          </a:solidFill>
                          <a:latin typeface="Malgun Gothic"/>
                          <a:ea typeface="Malgun Gothic"/>
                          <a:cs typeface="Malgun Gothic"/>
                          <a:sym typeface="Malgun Gothic"/>
                        </a:rPr>
                        <a:t>, Commercial Invoice</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포장명세서</a:t>
                      </a:r>
                      <a:r>
                        <a:rPr lang="en-US" altLang="ko-KR" sz="1000" b="0" i="0" u="none" strike="noStrike" cap="none" dirty="0">
                          <a:solidFill>
                            <a:schemeClr val="dk1"/>
                          </a:solidFill>
                          <a:latin typeface="Malgun Gothic"/>
                          <a:ea typeface="Malgun Gothic"/>
                          <a:cs typeface="Malgun Gothic"/>
                          <a:sym typeface="Malgun Gothic"/>
                        </a:rPr>
                        <a:t>, Packing List</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수출신고필증</a:t>
                      </a:r>
                      <a:endParaRPr lang="ko-KR" altLang="en-US"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보험증권</a:t>
                      </a:r>
                      <a:r>
                        <a:rPr lang="en-US" altLang="ko-KR" sz="1000" b="0" i="0" u="none" strike="noStrike" cap="none" dirty="0">
                          <a:solidFill>
                            <a:schemeClr val="dk1"/>
                          </a:solidFill>
                          <a:latin typeface="Malgun Gothic"/>
                          <a:ea typeface="Malgun Gothic"/>
                          <a:cs typeface="Malgun Gothic"/>
                          <a:sym typeface="Malgun Gothic"/>
                        </a:rPr>
                        <a:t>, CIF </a:t>
                      </a:r>
                      <a:r>
                        <a:rPr lang="ko-KR" altLang="en-US" sz="1000" b="0" i="0" u="none" strike="noStrike" cap="none" dirty="0">
                          <a:solidFill>
                            <a:schemeClr val="dk1"/>
                          </a:solidFill>
                          <a:latin typeface="Malgun Gothic"/>
                          <a:ea typeface="Malgun Gothic"/>
                          <a:cs typeface="Malgun Gothic"/>
                          <a:sym typeface="Malgun Gothic"/>
                        </a:rPr>
                        <a:t>또는 </a:t>
                      </a:r>
                      <a:r>
                        <a:rPr lang="en-US" altLang="ko-KR" sz="1000" b="0" i="0" u="none" strike="noStrike" cap="none" dirty="0">
                          <a:solidFill>
                            <a:schemeClr val="dk1"/>
                          </a:solidFill>
                          <a:latin typeface="Malgun Gothic"/>
                          <a:ea typeface="Malgun Gothic"/>
                          <a:cs typeface="Malgun Gothic"/>
                          <a:sym typeface="Malgun Gothic"/>
                        </a:rPr>
                        <a:t>CIP </a:t>
                      </a:r>
                      <a:r>
                        <a:rPr lang="ko-KR" altLang="en-US" sz="1000" b="0" i="0" u="none" strike="noStrike" cap="none" dirty="0">
                          <a:solidFill>
                            <a:schemeClr val="dk1"/>
                          </a:solidFill>
                          <a:latin typeface="Malgun Gothic"/>
                          <a:ea typeface="Malgun Gothic"/>
                          <a:cs typeface="Malgun Gothic"/>
                          <a:sym typeface="Malgun Gothic"/>
                        </a:rPr>
                        <a:t>조건 등 필요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원산지증명서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필요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관련 증명서류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요청 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포장 사진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 사진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카톤마크</a:t>
                      </a:r>
                      <a:r>
                        <a:rPr lang="ko-KR" altLang="en-US" sz="1000" b="0" i="0" u="none" strike="noStrike" cap="none" dirty="0">
                          <a:solidFill>
                            <a:schemeClr val="dk1"/>
                          </a:solidFill>
                          <a:latin typeface="Malgun Gothic"/>
                          <a:ea typeface="Malgun Gothic"/>
                          <a:cs typeface="Malgun Gothic"/>
                          <a:sym typeface="Malgun Gothic"/>
                        </a:rPr>
                        <a:t> 정보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필요 시</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출고 일정 및 선적 스케줄 확정 → ② 포장</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카톤마크</a:t>
                      </a:r>
                      <a:r>
                        <a:rPr lang="ko-KR" altLang="en-US" sz="1000" b="0" i="0" u="none" strike="noStrike" cap="none" dirty="0">
                          <a:solidFill>
                            <a:schemeClr val="dk1"/>
                          </a:solidFill>
                          <a:latin typeface="Malgun Gothic"/>
                          <a:ea typeface="Malgun Gothic"/>
                          <a:cs typeface="Malgun Gothic"/>
                          <a:sym typeface="Malgun Gothic"/>
                        </a:rPr>
                        <a:t> 확인 → ③ </a:t>
                      </a:r>
                      <a:r>
                        <a:rPr lang="ko-KR" altLang="en-US" sz="1000" b="0" i="0" u="none" strike="noStrike" cap="none" dirty="0" err="1">
                          <a:solidFill>
                            <a:schemeClr val="dk1"/>
                          </a:solidFill>
                          <a:latin typeface="Malgun Gothic"/>
                          <a:ea typeface="Malgun Gothic"/>
                          <a:cs typeface="Malgun Gothic"/>
                          <a:sym typeface="Malgun Gothic"/>
                        </a:rPr>
                        <a:t>포워더</a:t>
                      </a:r>
                      <a:r>
                        <a:rPr lang="ko-KR" altLang="en-US"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부킹</a:t>
                      </a:r>
                      <a:r>
                        <a:rPr lang="ko-KR" altLang="en-US" sz="1000" b="0" i="0" u="none" strike="noStrike" cap="none" dirty="0">
                          <a:solidFill>
                            <a:schemeClr val="dk1"/>
                          </a:solidFill>
                          <a:latin typeface="Malgun Gothic"/>
                          <a:ea typeface="Malgun Gothic"/>
                          <a:cs typeface="Malgun Gothic"/>
                          <a:sym typeface="Malgun Gothic"/>
                        </a:rPr>
                        <a:t> → ④ 수출신고 수리 확인 → ⑤ 제품 반입 및 선적 → ⑥ </a:t>
                      </a:r>
                      <a:r>
                        <a:rPr lang="en-US" altLang="ko-KR" sz="1000" b="0" i="0" u="none" strike="noStrike" cap="none" dirty="0">
                          <a:solidFill>
                            <a:schemeClr val="dk1"/>
                          </a:solidFill>
                          <a:latin typeface="Malgun Gothic"/>
                          <a:ea typeface="Malgun Gothic"/>
                          <a:cs typeface="Malgun Gothic"/>
                          <a:sym typeface="Malgun Gothic"/>
                        </a:rPr>
                        <a:t>B/L </a:t>
                      </a:r>
                      <a:r>
                        <a:rPr lang="ko-KR" altLang="en-US" sz="1000" b="0" i="0" u="none" strike="noStrike" cap="none" dirty="0">
                          <a:solidFill>
                            <a:schemeClr val="dk1"/>
                          </a:solidFill>
                          <a:latin typeface="Malgun Gothic"/>
                          <a:ea typeface="Malgun Gothic"/>
                          <a:cs typeface="Malgun Gothic"/>
                          <a:sym typeface="Malgun Gothic"/>
                        </a:rPr>
                        <a:t>또는 </a:t>
                      </a:r>
                      <a:r>
                        <a:rPr lang="en-US" altLang="ko-KR" sz="1000" b="0" i="0" u="none" strike="noStrike" cap="none" dirty="0">
                          <a:solidFill>
                            <a:schemeClr val="dk1"/>
                          </a:solidFill>
                          <a:latin typeface="Malgun Gothic"/>
                          <a:ea typeface="Malgun Gothic"/>
                          <a:cs typeface="Malgun Gothic"/>
                          <a:sym typeface="Malgun Gothic"/>
                        </a:rPr>
                        <a:t>AWB </a:t>
                      </a:r>
                      <a:r>
                        <a:rPr lang="ko-KR" altLang="en-US" sz="1000" b="0" i="0" u="none" strike="noStrike" cap="none" dirty="0">
                          <a:solidFill>
                            <a:schemeClr val="dk1"/>
                          </a:solidFill>
                          <a:latin typeface="Malgun Gothic"/>
                          <a:ea typeface="Malgun Gothic"/>
                          <a:cs typeface="Malgun Gothic"/>
                          <a:sym typeface="Malgun Gothic"/>
                        </a:rPr>
                        <a:t>발급 → ⑦ 선적서류 검토 → ⑧ 중국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또는 통관대리인에게 서류 전달 → ⑨ 도착 일정 및 통관 준비상황 확인</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a:t>주의사항</a:t>
                      </a:r>
                      <a:endParaRPr sz="1200" b="1" u="none" strike="noStrike" cap="none"/>
                    </a:p>
                    <a:p>
                      <a:pPr marL="0" marR="0" lvl="0" indent="0" algn="ctr" rtl="0">
                        <a:spcBef>
                          <a:spcPts val="0"/>
                        </a:spcBef>
                        <a:spcAft>
                          <a:spcPts val="0"/>
                        </a:spcAft>
                        <a:buNone/>
                      </a:pPr>
                      <a:r>
                        <a:rPr lang="ko-KR" sz="1200" b="1" u="none" strike="noStrike" cap="none"/>
                        <a:t>또는</a:t>
                      </a:r>
                      <a:endParaRPr sz="1200" b="1" u="none" strike="noStrike" cap="none"/>
                    </a:p>
                    <a:p>
                      <a:pPr marL="0" marR="0" lvl="0" indent="0" algn="ctr" rtl="0">
                        <a:spcBef>
                          <a:spcPts val="0"/>
                        </a:spcBef>
                        <a:spcAft>
                          <a:spcPts val="0"/>
                        </a:spcAft>
                        <a:buNone/>
                      </a:pPr>
                      <a:r>
                        <a:rPr lang="ko-KR" sz="1200" b="1" u="none" strike="noStrike" cap="none"/>
                        <a:t>확인사항</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선적서류의 제품명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수량</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중량</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포장단위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수입자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수하인</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통지처</a:t>
                      </a:r>
                      <a:r>
                        <a:rPr lang="ko-KR" altLang="en-US" sz="1000" b="0" i="0" u="none" strike="noStrike" cap="none" dirty="0">
                          <a:solidFill>
                            <a:schemeClr val="dk1"/>
                          </a:solidFill>
                          <a:latin typeface="Malgun Gothic"/>
                          <a:ea typeface="Malgun Gothic"/>
                          <a:cs typeface="Malgun Gothic"/>
                          <a:sym typeface="Malgun Gothic"/>
                        </a:rPr>
                        <a:t> 정보가 실제 화물 및 계약정보와 일치해야 함</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중문라벨 부착 시점이 한국 출고 전인지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보세구역 또는 통관 전인지 사전에 확인 필요</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온도</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습도 관리가 필요한 제품은 운송조건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포장재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보험조건을 검토할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샘플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판촉물</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테스터 제품은 판매용 제품과 구분하여 서류상 용도를 명확히 기재할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선적 전 중국 수입자가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등록번호</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중문라벨</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통관 </a:t>
                      </a:r>
                      <a:r>
                        <a:rPr lang="en-US" altLang="ko-KR" sz="1000" b="0" i="0" u="none" strike="noStrike" cap="none" dirty="0">
                          <a:solidFill>
                            <a:schemeClr val="dk1"/>
                          </a:solidFill>
                          <a:latin typeface="Malgun Gothic"/>
                          <a:ea typeface="Malgun Gothic"/>
                          <a:cs typeface="Malgun Gothic"/>
                          <a:sym typeface="Malgun Gothic"/>
                        </a:rPr>
                        <a:t>HS Code, </a:t>
                      </a:r>
                      <a:r>
                        <a:rPr lang="ko-KR" altLang="en-US" sz="1000" b="0" i="0" u="none" strike="noStrike" cap="none" dirty="0">
                          <a:solidFill>
                            <a:schemeClr val="dk1"/>
                          </a:solidFill>
                          <a:latin typeface="Malgun Gothic"/>
                          <a:ea typeface="Malgun Gothic"/>
                          <a:cs typeface="Malgun Gothic"/>
                          <a:sym typeface="Malgun Gothic"/>
                        </a:rPr>
                        <a:t>검사검역 요건을 확인했는지 점검 필요</a:t>
                      </a:r>
                      <a:endParaRPr dirty="0"/>
                    </a:p>
                  </a:txBody>
                  <a:tcPr marL="91450" marR="91450" marT="45725" marB="45725" anchor="ctr"/>
                </a:tc>
                <a:extLst>
                  <a:ext uri="{0D108BD9-81ED-4DB2-BD59-A6C34878D82A}">
                    <a16:rowId xmlns:a16="http://schemas.microsoft.com/office/drawing/2014/main" val="10005"/>
                  </a:ext>
                </a:extLst>
              </a:tr>
            </a:tbl>
          </a:graphicData>
        </a:graphic>
      </p:graphicFrame>
      <p:sp>
        <p:nvSpPr>
          <p:cNvPr id="157" name="Google Shape;157;p8"/>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04. 수출통관/선적</a:t>
            </a:r>
            <a:endParaRPr sz="2000" b="1">
              <a:solidFill>
                <a:srgbClr val="0070C0"/>
              </a:solidFill>
              <a:latin typeface="Malgun Gothic"/>
              <a:ea typeface="Malgun Gothic"/>
              <a:cs typeface="Malgun Gothic"/>
              <a:sym typeface="Malgun Gothic"/>
            </a:endParaRPr>
          </a:p>
        </p:txBody>
      </p:sp>
      <p:sp>
        <p:nvSpPr>
          <p:cNvPr id="158" name="Google Shape;158;p8"/>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4-2. </a:t>
            </a:r>
            <a:r>
              <a:rPr lang="ko-KR" altLang="en-US" b="1" dirty="0">
                <a:solidFill>
                  <a:schemeClr val="dk1"/>
                </a:solidFill>
                <a:latin typeface="Malgun Gothic"/>
                <a:ea typeface="Malgun Gothic"/>
                <a:cs typeface="Malgun Gothic"/>
                <a:sym typeface="Malgun Gothic"/>
              </a:rPr>
              <a:t>선적 및 운송서류 준비</a:t>
            </a:r>
            <a:endParaRPr sz="1400" b="1" dirty="0">
              <a:solidFill>
                <a:schemeClr val="dk1"/>
              </a:solidFill>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aphicFrame>
        <p:nvGraphicFramePr>
          <p:cNvPr id="164" name="Google Shape;164;p9"/>
          <p:cNvGraphicFramePr/>
          <p:nvPr>
            <p:extLst>
              <p:ext uri="{D42A27DB-BD31-4B8C-83A1-F6EECF244321}">
                <p14:modId xmlns:p14="http://schemas.microsoft.com/office/powerpoint/2010/main" val="982992322"/>
              </p:ext>
            </p:extLst>
          </p:nvPr>
        </p:nvGraphicFramePr>
        <p:xfrm>
          <a:off x="405898" y="1341838"/>
          <a:ext cx="11178500" cy="4708161"/>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4802200">
                  <a:extLst>
                    <a:ext uri="{9D8B030D-6E8A-4147-A177-3AD203B41FA5}">
                      <a16:colId xmlns:a16="http://schemas.microsoft.com/office/drawing/2014/main" val="20001"/>
                    </a:ext>
                  </a:extLst>
                </a:gridCol>
                <a:gridCol w="4802200">
                  <a:extLst>
                    <a:ext uri="{9D8B030D-6E8A-4147-A177-3AD203B41FA5}">
                      <a16:colId xmlns:a16="http://schemas.microsoft.com/office/drawing/2014/main" val="20002"/>
                    </a:ext>
                  </a:extLst>
                </a:gridCol>
              </a:tblGrid>
              <a:tr h="293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 도착 후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또는 통관대리인이 중국 해관에 수입신고를 진행하고</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필요 시 검사검역 및 라벨 확인을 거쳐 중국 내 반입하는 단계</a:t>
                      </a:r>
                      <a:endParaRPr dirty="0"/>
                    </a:p>
                  </a:txBody>
                  <a:tcPr marL="91450" marR="91450" marT="45725" marB="45725" anchor="ctr"/>
                </a:tc>
                <a:tc hMerge="1">
                  <a:txBody>
                    <a:bodyPr/>
                    <a:lstStyle/>
                    <a:p>
                      <a:endParaRPr lang="ko-KR"/>
                    </a:p>
                  </a:txBody>
                  <a:tcPr/>
                </a:tc>
                <a:extLst>
                  <a:ext uri="{0D108BD9-81ED-4DB2-BD59-A6C34878D82A}">
                    <a16:rowId xmlns:a16="http://schemas.microsoft.com/office/drawing/2014/main" val="10000"/>
                  </a:ext>
                </a:extLst>
              </a:tr>
              <a:tr h="294650">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또는 통관대리인을 통한 해관 수입신고 및 검사검역 대응</a:t>
                      </a:r>
                      <a:endParaRPr dirty="0"/>
                    </a:p>
                  </a:txBody>
                  <a:tcPr marL="91450" marR="91450" marT="45725" marB="45725" anchor="ctr"/>
                </a:tc>
                <a:tc hMerge="1">
                  <a:txBody>
                    <a:bodyPr/>
                    <a:lstStyle/>
                    <a:p>
                      <a:endParaRPr lang="ko-KR"/>
                    </a:p>
                  </a:txBody>
                  <a:tcP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gridSpan="2">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 해관총서</a:t>
                      </a:r>
                      <a:r>
                        <a:rPr lang="en-US" altLang="ko-KR" sz="1000" b="0" i="0" u="none" strike="noStrike" cap="none" dirty="0">
                          <a:solidFill>
                            <a:schemeClr val="dk1"/>
                          </a:solidFill>
                          <a:latin typeface="Malgun Gothic"/>
                          <a:ea typeface="Malgun Gothic"/>
                          <a:cs typeface="Malgun Gothic"/>
                          <a:sym typeface="Malgun Gothic"/>
                        </a:rPr>
                        <a:t>, GACC, </a:t>
                      </a:r>
                      <a:r>
                        <a:rPr lang="ko-KR" altLang="en-US" sz="1000" b="0" i="0" u="none" strike="noStrike" cap="none" dirty="0">
                          <a:solidFill>
                            <a:schemeClr val="dk1"/>
                          </a:solidFill>
                          <a:latin typeface="Malgun Gothic"/>
                          <a:ea typeface="Malgun Gothic"/>
                          <a:cs typeface="Malgun Gothic"/>
                          <a:sym typeface="Malgun Gothic"/>
                        </a:rPr>
                        <a:t>관할 해관</a:t>
                      </a: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지방 약품감독관리국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시장감독관리국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통관대리인</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hMerge="1">
                  <a:txBody>
                    <a:bodyPr/>
                    <a:lstStyle/>
                    <a:p>
                      <a:endParaRPr lang="ko-KR"/>
                    </a:p>
                  </a:txBody>
                  <a:tcP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[수입신고 시 기본 서류]</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무역계약서</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a:t>
                      </a:r>
                      <a:r>
                        <a:rPr lang="ko-KR" sz="1000" b="0" i="0" u="none" strike="noStrike" cap="none" dirty="0" err="1">
                          <a:solidFill>
                            <a:schemeClr val="dk1"/>
                          </a:solidFill>
                          <a:latin typeface="Malgun Gothic"/>
                          <a:ea typeface="Malgun Gothic"/>
                          <a:cs typeface="Malgun Gothic"/>
                          <a:sym typeface="Malgun Gothic"/>
                        </a:rPr>
                        <a:t>상업송장</a:t>
                      </a:r>
                      <a:endParaRPr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포장명세서</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선하증권(해운) </a:t>
                      </a:r>
                      <a:r>
                        <a:rPr lang="ko-KR" sz="1000" b="0" i="0" u="none" strike="noStrike" cap="none" dirty="0" err="1">
                          <a:solidFill>
                            <a:schemeClr val="dk1"/>
                          </a:solidFill>
                          <a:latin typeface="Malgun Gothic"/>
                          <a:ea typeface="Malgun Gothic"/>
                          <a:cs typeface="Malgun Gothic"/>
                          <a:sym typeface="Malgun Gothic"/>
                        </a:rPr>
                        <a:t>or</a:t>
                      </a:r>
                      <a:r>
                        <a:rPr lang="ko-KR" sz="1000" b="0" i="0" u="none" strike="noStrike" cap="none" dirty="0">
                          <a:solidFill>
                            <a:schemeClr val="dk1"/>
                          </a:solidFill>
                          <a:latin typeface="Malgun Gothic"/>
                          <a:ea typeface="Malgun Gothic"/>
                          <a:cs typeface="Malgun Gothic"/>
                          <a:sym typeface="Malgun Gothic"/>
                        </a:rPr>
                        <a:t> 항공화물운송장(항공)</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화물명세서</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수입 화장품 기업 책임 승낙서</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특수 화장품 행정허가증 또는 일반화장품 </a:t>
                      </a:r>
                      <a:r>
                        <a:rPr lang="ko-KR" sz="1000" b="0" i="0" u="none" strike="noStrike" cap="none" dirty="0" err="1">
                          <a:solidFill>
                            <a:schemeClr val="dk1"/>
                          </a:solidFill>
                          <a:latin typeface="Malgun Gothic"/>
                          <a:ea typeface="Malgun Gothic"/>
                          <a:cs typeface="Malgun Gothic"/>
                          <a:sym typeface="Malgun Gothic"/>
                        </a:rPr>
                        <a:t>등록증빙</a:t>
                      </a:r>
                      <a:r>
                        <a:rPr lang="ko-KR" sz="1000" b="0" i="0" u="none" strike="noStrike" cap="none" dirty="0">
                          <a:solidFill>
                            <a:schemeClr val="dk1"/>
                          </a:solidFill>
                          <a:latin typeface="Malgun Gothic"/>
                          <a:ea typeface="Malgun Gothic"/>
                          <a:cs typeface="Malgun Gothic"/>
                          <a:sym typeface="Malgun Gothic"/>
                        </a:rPr>
                        <a:t> 취득</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원산지증명서</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[수입신고 시 필요 서류]</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제품 처방 </a:t>
                      </a:r>
                      <a:r>
                        <a:rPr lang="ko-KR" sz="1000" b="0" i="0" u="none" strike="noStrike" cap="none" dirty="0">
                          <a:solidFill>
                            <a:schemeClr val="tx1"/>
                          </a:solidFill>
                          <a:latin typeface="Malgun Gothic"/>
                          <a:ea typeface="Malgun Gothic"/>
                          <a:cs typeface="Malgun Gothic"/>
                          <a:sym typeface="Malgun Gothic"/>
                        </a:rPr>
                        <a:t>초도 수입</a:t>
                      </a:r>
                      <a:endParaRPr dirty="0">
                        <a:solidFill>
                          <a:schemeClr val="tx1"/>
                        </a:solidFill>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화장품 완제품은 중문라벨 샘플 및 외국어 라벨 번역본 (비매품은 정품 외국어 라벨 번역본을 제공할 수 있음</a:t>
                      </a:r>
                      <a:r>
                        <a:rPr lang="ko-KR" sz="1000" b="0" i="0" u="none" strike="noStrike" cap="none" dirty="0">
                          <a:solidFill>
                            <a:schemeClr val="tx1"/>
                          </a:solidFill>
                          <a:latin typeface="Malgun Gothic"/>
                          <a:ea typeface="Malgun Gothic"/>
                          <a:cs typeface="Malgun Gothic"/>
                          <a:sym typeface="Malgun Gothic"/>
                        </a:rPr>
                        <a:t>) 초도 수입</a:t>
                      </a:r>
                      <a:endParaRPr dirty="0">
                        <a:solidFill>
                          <a:schemeClr val="tx1"/>
                        </a:solidFill>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통관신고서/검사검역신고서 </a:t>
                      </a:r>
                      <a:r>
                        <a:rPr lang="ko-KR" sz="1000" b="0" i="0" u="none" strike="noStrike" cap="none" dirty="0" err="1">
                          <a:solidFill>
                            <a:schemeClr val="dk1"/>
                          </a:solidFill>
                          <a:latin typeface="Malgun Gothic"/>
                          <a:ea typeface="Malgun Gothic"/>
                          <a:cs typeface="Malgun Gothic"/>
                          <a:sym typeface="Malgun Gothic"/>
                        </a:rPr>
                        <a:t>or</a:t>
                      </a:r>
                      <a:r>
                        <a:rPr lang="ko-KR" sz="1000" b="0" i="0" u="none" strike="noStrike" cap="none" dirty="0">
                          <a:solidFill>
                            <a:schemeClr val="dk1"/>
                          </a:solidFill>
                          <a:latin typeface="Malgun Gothic"/>
                          <a:ea typeface="Malgun Gothic"/>
                          <a:cs typeface="Malgun Gothic"/>
                          <a:sym typeface="Malgun Gothic"/>
                        </a:rPr>
                        <a:t> 검사검역신고위탁서(통관 대행업체 위탁 시)</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무역 대리 협의서(무역대행으로 수입 시 필요)</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쌍방의 국내무역계약서(실제 수화인과 검사신고서 상의 “</a:t>
                      </a:r>
                      <a:r>
                        <a:rPr lang="ko-KR" sz="1000" b="0" i="0" u="none" strike="noStrike" cap="none" dirty="0" err="1">
                          <a:solidFill>
                            <a:schemeClr val="dk1"/>
                          </a:solidFill>
                          <a:latin typeface="Malgun Gothic"/>
                          <a:ea typeface="Malgun Gothic"/>
                          <a:cs typeface="Malgun Gothic"/>
                          <a:sym typeface="Malgun Gothic"/>
                        </a:rPr>
                        <a:t>수화인“이</a:t>
                      </a:r>
                      <a:r>
                        <a:rPr lang="ko-KR" sz="1000" b="0" i="0" u="none" strike="noStrike" cap="none" dirty="0">
                          <a:solidFill>
                            <a:schemeClr val="dk1"/>
                          </a:solidFill>
                          <a:latin typeface="Malgun Gothic"/>
                          <a:ea typeface="Malgun Gothic"/>
                          <a:cs typeface="Malgun Gothic"/>
                          <a:sym typeface="Malgun Gothic"/>
                        </a:rPr>
                        <a:t> 다를 경우) 쌍방의 국내무역계약서(실제 수화인과 검사신고서 상의 “</a:t>
                      </a:r>
                      <a:r>
                        <a:rPr lang="ko-KR" sz="1000" b="0" i="0" u="none" strike="noStrike" cap="none" dirty="0" err="1">
                          <a:solidFill>
                            <a:schemeClr val="dk1"/>
                          </a:solidFill>
                          <a:latin typeface="Malgun Gothic"/>
                          <a:ea typeface="Malgun Gothic"/>
                          <a:cs typeface="Malgun Gothic"/>
                          <a:sym typeface="Malgun Gothic"/>
                        </a:rPr>
                        <a:t>수화인“이</a:t>
                      </a:r>
                      <a:r>
                        <a:rPr lang="ko-KR" sz="1000" b="0" i="0" u="none" strike="noStrike" cap="none" dirty="0">
                          <a:solidFill>
                            <a:schemeClr val="dk1"/>
                          </a:solidFill>
                          <a:latin typeface="Malgun Gothic"/>
                          <a:ea typeface="Malgun Gothic"/>
                          <a:cs typeface="Malgun Gothic"/>
                          <a:sym typeface="Malgun Gothic"/>
                        </a:rPr>
                        <a:t> 다를 경우)</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MSDS(제품에 동물, 식물 유래 성분을 사용하였고, 그 중 전염병 발생지역의 원료가 포함될 경우 관련 자료 제공)</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제품 안전성승낙서, 해외에서 제조 또는 판매를 허가한 관련 증빙자료제품 안전성승낙서, 해외에서 제조 또는 판매를 허가한 관련 증빙자료</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자유판매증명서 또는 원산지증명서 등을 제공해야 함(행정허가 또는 등록을 실시하지 않은 제품)</a:t>
                      </a:r>
                      <a:endParaRPr dirty="0"/>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gridSpan="2">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중국 도착 및 적하목록 확인 → ②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또는 통관대리인 수입신고 → ③ 해관 서류심사 → ④ 관세</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err="1">
                          <a:solidFill>
                            <a:schemeClr val="dk1"/>
                          </a:solidFill>
                          <a:latin typeface="Malgun Gothic"/>
                          <a:ea typeface="Malgun Gothic"/>
                          <a:cs typeface="Malgun Gothic"/>
                          <a:sym typeface="Malgun Gothic"/>
                        </a:rPr>
                        <a:t>증치세</a:t>
                      </a:r>
                      <a:r>
                        <a:rPr lang="ko-KR" altLang="en-US" sz="1000" b="0" i="0" u="none" strike="noStrike" cap="none" dirty="0">
                          <a:solidFill>
                            <a:schemeClr val="dk1"/>
                          </a:solidFill>
                          <a:latin typeface="Malgun Gothic"/>
                          <a:ea typeface="Malgun Gothic"/>
                          <a:cs typeface="Malgun Gothic"/>
                          <a:sym typeface="Malgun Gothic"/>
                        </a:rPr>
                        <a:t> 등 세금 산정 및 납부 → ⑤ 필요 시 검사검역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샘플링</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 확인 → ⑥ 통관 허가 → ⑦ 화물 반출 → ⑧ 중국 내 창고 입고 및 유통 준비</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tc hMerge="1">
                  <a:txBody>
                    <a:bodyPr/>
                    <a:lstStyle/>
                    <a:p>
                      <a:endParaRPr lang="ko-KR"/>
                    </a:p>
                  </a:txBody>
                  <a:tcPr/>
                </a:tc>
                <a:extLst>
                  <a:ext uri="{0D108BD9-81ED-4DB2-BD59-A6C34878D82A}">
                    <a16:rowId xmlns:a16="http://schemas.microsoft.com/office/drawing/2014/main" val="10004"/>
                  </a:ext>
                </a:extLst>
              </a:tr>
            </a:tbl>
          </a:graphicData>
        </a:graphic>
      </p:graphicFrame>
      <p:sp>
        <p:nvSpPr>
          <p:cNvPr id="165" name="Google Shape;165;p9"/>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05. 현지통관</a:t>
            </a:r>
            <a:endParaRPr sz="2000" b="1">
              <a:solidFill>
                <a:srgbClr val="0070C0"/>
              </a:solidFill>
              <a:latin typeface="Malgun Gothic"/>
              <a:ea typeface="Malgun Gothic"/>
              <a:cs typeface="Malgun Gothic"/>
              <a:sym typeface="Malgun Gothic"/>
            </a:endParaRPr>
          </a:p>
        </p:txBody>
      </p:sp>
      <p:sp>
        <p:nvSpPr>
          <p:cNvPr id="166" name="Google Shape;166;p9"/>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5-1. </a:t>
            </a:r>
            <a:r>
              <a:rPr lang="ko-KR" altLang="en-US" sz="1400" b="1" dirty="0">
                <a:solidFill>
                  <a:schemeClr val="dk1"/>
                </a:solidFill>
                <a:latin typeface="Malgun Gothic"/>
                <a:ea typeface="Malgun Gothic"/>
                <a:cs typeface="Malgun Gothic"/>
                <a:sym typeface="Malgun Gothic"/>
              </a:rPr>
              <a:t>중국 수입통관</a:t>
            </a:r>
            <a:endParaRPr sz="1400" b="1" dirty="0">
              <a:solidFill>
                <a:schemeClr val="dk1"/>
              </a:solidFill>
              <a:latin typeface="Malgun Gothic"/>
              <a:ea typeface="Malgun Gothic"/>
              <a:cs typeface="Malgun Gothic"/>
              <a:sym typeface="Malgun Gothic"/>
            </a:endParaRPr>
          </a:p>
        </p:txBody>
      </p:sp>
      <p:sp>
        <p:nvSpPr>
          <p:cNvPr id="5" name="TextBox 4">
            <a:extLst>
              <a:ext uri="{FF2B5EF4-FFF2-40B4-BE49-F238E27FC236}">
                <a16:creationId xmlns:a16="http://schemas.microsoft.com/office/drawing/2014/main" id="{67773598-B4AC-7399-4970-7967784B4D3A}"/>
              </a:ext>
            </a:extLst>
          </p:cNvPr>
          <p:cNvSpPr txBox="1"/>
          <p:nvPr/>
        </p:nvSpPr>
        <p:spPr>
          <a:xfrm>
            <a:off x="0" y="6596390"/>
            <a:ext cx="1634308" cy="261610"/>
          </a:xfrm>
          <a:prstGeom prst="rect">
            <a:avLst/>
          </a:prstGeom>
          <a:solidFill>
            <a:srgbClr val="FFFF00"/>
          </a:solidFill>
          <a:ln>
            <a:noFill/>
            <a:prstDash val="dash"/>
          </a:ln>
          <a:effectLst>
            <a:outerShdw blurRad="50800" dist="38100" dir="2700000" algn="tl" rotWithShape="0">
              <a:prstClr val="black">
                <a:alpha val="40000"/>
              </a:prstClr>
            </a:outerShdw>
          </a:effectLst>
        </p:spPr>
        <p:txBody>
          <a:bodyPr wrap="square" rtlCol="0">
            <a:spAutoFit/>
          </a:bodyPr>
          <a:lstStyle/>
          <a:p>
            <a:r>
              <a:rPr lang="ko-KR" altLang="en-US" sz="1100" b="1" dirty="0"/>
              <a:t>다음 페이지에 이어서</a:t>
            </a:r>
            <a:endParaRPr lang="ko-KR" altLang="en-US" sz="1100" dirty="0"/>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DA5E6107-8B5B-442E-3D3E-17B13875F182}"/>
            </a:ext>
          </a:extLst>
        </p:cNvPr>
        <p:cNvGrpSpPr/>
        <p:nvPr/>
      </p:nvGrpSpPr>
      <p:grpSpPr>
        <a:xfrm>
          <a:off x="0" y="0"/>
          <a:ext cx="0" cy="0"/>
          <a:chOff x="0" y="0"/>
          <a:chExt cx="0" cy="0"/>
        </a:xfrm>
      </p:grpSpPr>
      <p:graphicFrame>
        <p:nvGraphicFramePr>
          <p:cNvPr id="164" name="Google Shape;164;p9">
            <a:extLst>
              <a:ext uri="{FF2B5EF4-FFF2-40B4-BE49-F238E27FC236}">
                <a16:creationId xmlns:a16="http://schemas.microsoft.com/office/drawing/2014/main" id="{C97BDADF-5067-D699-DFFA-BE3167FE0740}"/>
              </a:ext>
            </a:extLst>
          </p:cNvPr>
          <p:cNvGraphicFramePr/>
          <p:nvPr>
            <p:extLst>
              <p:ext uri="{D42A27DB-BD31-4B8C-83A1-F6EECF244321}">
                <p14:modId xmlns:p14="http://schemas.microsoft.com/office/powerpoint/2010/main" val="887368021"/>
              </p:ext>
            </p:extLst>
          </p:nvPr>
        </p:nvGraphicFramePr>
        <p:xfrm>
          <a:off x="405898" y="1367005"/>
          <a:ext cx="11178500" cy="6005586"/>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5346829">
                <a:tc>
                  <a:txBody>
                    <a:bodyPr/>
                    <a:lstStyle/>
                    <a:p>
                      <a:pPr marL="0" marR="0" lvl="0" indent="0" algn="ctr" rtl="0">
                        <a:spcBef>
                          <a:spcPts val="0"/>
                        </a:spcBef>
                        <a:spcAft>
                          <a:spcPts val="0"/>
                        </a:spcAft>
                        <a:buNone/>
                      </a:pPr>
                      <a:r>
                        <a:rPr lang="ko-KR" sz="1200" b="1" u="none" strike="noStrike" cap="none" dirty="0"/>
                        <a:t>주의사항</a:t>
                      </a:r>
                      <a:endParaRPr sz="1200" b="1" u="none" strike="noStrike" cap="none" dirty="0"/>
                    </a:p>
                    <a:p>
                      <a:pPr marL="0" marR="0" lvl="0" indent="0" algn="ctr" rtl="0">
                        <a:spcBef>
                          <a:spcPts val="0"/>
                        </a:spcBef>
                        <a:spcAft>
                          <a:spcPts val="0"/>
                        </a:spcAft>
                        <a:buNone/>
                      </a:pPr>
                      <a:r>
                        <a:rPr lang="ko-KR" sz="1200" b="1" u="none" strike="noStrike" cap="none" dirty="0"/>
                        <a:t>또는</a:t>
                      </a:r>
                      <a:endParaRPr sz="1200" b="1" u="none" strike="noStrike" cap="none" dirty="0"/>
                    </a:p>
                    <a:p>
                      <a:pPr marL="0" marR="0" lvl="0" indent="0" algn="ctr" rtl="0">
                        <a:spcBef>
                          <a:spcPts val="0"/>
                        </a:spcBef>
                        <a:spcAft>
                          <a:spcPts val="0"/>
                        </a:spcAft>
                        <a:buNone/>
                      </a:pPr>
                      <a:r>
                        <a:rPr lang="ko-KR" sz="1200" b="1" u="none" strike="noStrike" cap="none" dirty="0"/>
                        <a:t>확인사항</a:t>
                      </a:r>
                      <a:endParaRPr dirty="0"/>
                    </a:p>
                  </a:txBody>
                  <a:tcPr marL="91450" marR="91450" marT="45725" marB="45725" anchor="ctr"/>
                </a:tc>
                <a:tc>
                  <a:txBody>
                    <a:bodyPr/>
                    <a:lstStyle/>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1. 수입신고/납세</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1) 사전 준비작업을 마치고 화물이 적출지를 떠나면 </a:t>
                      </a:r>
                      <a:r>
                        <a:rPr lang="ko-KR" sz="1000" b="0" i="0" u="sng" strike="noStrike" cap="none" dirty="0">
                          <a:solidFill>
                            <a:schemeClr val="dk1"/>
                          </a:solidFill>
                          <a:latin typeface="Malgun Gothic"/>
                          <a:ea typeface="Malgun Gothic"/>
                          <a:cs typeface="Malgun Gothic"/>
                          <a:sym typeface="Malgun Gothic"/>
                          <a:hlinkClick r:id="rId4">
                            <a:extLst>
                              <a:ext uri="{A12FA001-AC4F-418D-AE19-62706E023703}">
                                <ahyp:hlinkClr xmlns:ahyp="http://schemas.microsoft.com/office/drawing/2018/hyperlinkcolor" val="tx"/>
                              </a:ext>
                            </a:extLst>
                          </a:hlinkClick>
                        </a:rPr>
                        <a:t>싱글 윈도우</a:t>
                      </a:r>
                      <a:r>
                        <a:rPr lang="ko-KR" sz="1000" b="0" i="0" u="none" strike="noStrike" cap="none" dirty="0">
                          <a:solidFill>
                            <a:schemeClr val="dk1"/>
                          </a:solidFill>
                          <a:latin typeface="Malgun Gothic"/>
                          <a:ea typeface="Malgun Gothic"/>
                          <a:cs typeface="Malgun Gothic"/>
                          <a:sym typeface="Malgun Gothic"/>
                        </a:rPr>
                        <a:t>(单一窗口)</a:t>
                      </a:r>
                      <a:r>
                        <a:rPr lang="ko-KR" sz="1000" b="0" i="0" u="none" strike="noStrike" cap="none" dirty="0" err="1">
                          <a:solidFill>
                            <a:schemeClr val="dk1"/>
                          </a:solidFill>
                          <a:latin typeface="Malgun Gothic"/>
                          <a:ea typeface="Malgun Gothic"/>
                          <a:cs typeface="Malgun Gothic"/>
                          <a:sym typeface="Malgun Gothic"/>
                        </a:rPr>
                        <a:t>를</a:t>
                      </a:r>
                      <a:r>
                        <a:rPr lang="ko-KR" sz="1000" b="0" i="0" u="none" strike="noStrike" cap="none" dirty="0">
                          <a:solidFill>
                            <a:schemeClr val="dk1"/>
                          </a:solidFill>
                          <a:latin typeface="Malgun Gothic"/>
                          <a:ea typeface="Malgun Gothic"/>
                          <a:cs typeface="Malgun Gothic"/>
                          <a:sym typeface="Malgun Gothic"/>
                        </a:rPr>
                        <a:t> 통해 수입 통관 신고를 할 수 있음</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2) 수출입 기업은 해관 통관시스템을 통해 ‘</a:t>
                      </a:r>
                      <a:r>
                        <a:rPr lang="ko-KR" sz="1000" b="0" i="0" u="none" strike="noStrike" cap="none" dirty="0" err="1">
                          <a:solidFill>
                            <a:schemeClr val="dk1"/>
                          </a:solidFill>
                          <a:latin typeface="Malgun Gothic"/>
                          <a:ea typeface="Malgun Gothic"/>
                          <a:cs typeface="Malgun Gothic"/>
                          <a:sym typeface="Malgun Gothic"/>
                        </a:rPr>
                        <a:t>신고접수증’을</a:t>
                      </a:r>
                      <a:r>
                        <a:rPr lang="ko-KR" sz="1000" b="0" i="0" u="none" strike="noStrike" cap="none" dirty="0">
                          <a:solidFill>
                            <a:schemeClr val="dk1"/>
                          </a:solidFill>
                          <a:latin typeface="Malgun Gothic"/>
                          <a:ea typeface="Malgun Gothic"/>
                          <a:cs typeface="Malgun Gothic"/>
                          <a:sym typeface="Malgun Gothic"/>
                        </a:rPr>
                        <a:t> 받으면 세금납부 수속을 진행할 수 있음</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a:t>
                      </a:r>
                      <a:r>
                        <a:rPr lang="ko-KR" sz="1000" b="0" i="0" u="none" strike="noStrike" cap="none" dirty="0" err="1">
                          <a:solidFill>
                            <a:schemeClr val="dk1"/>
                          </a:solidFill>
                          <a:latin typeface="Malgun Gothic"/>
                          <a:ea typeface="Malgun Gothic"/>
                          <a:cs typeface="Malgun Gothic"/>
                          <a:sym typeface="Malgun Gothic"/>
                        </a:rPr>
                        <a:t>싱글윈도우</a:t>
                      </a:r>
                      <a:r>
                        <a:rPr lang="ko-KR" sz="1000" b="0" i="0" u="none" strike="noStrike" cap="none" dirty="0">
                          <a:solidFill>
                            <a:schemeClr val="dk1"/>
                          </a:solidFill>
                          <a:latin typeface="Malgun Gothic"/>
                          <a:ea typeface="Malgun Gothic"/>
                          <a:cs typeface="Malgun Gothic"/>
                          <a:sym typeface="Malgun Gothic"/>
                        </a:rPr>
                        <a:t> 접속 → 세금신고 관련 전자 데이터 입력 → 세관에서 신고서 접수 및 심사 → 신고접수증 및 전자세금납부고지서 발송 → 세금납부</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화물 통관 완료 후 세관은 수출입기업에서 신고한 가격, HS </a:t>
                      </a:r>
                      <a:r>
                        <a:rPr lang="ko-KR" sz="1000" b="0" i="0" u="none" strike="noStrike" cap="none" dirty="0" err="1">
                          <a:solidFill>
                            <a:schemeClr val="dk1"/>
                          </a:solidFill>
                          <a:latin typeface="Malgun Gothic"/>
                          <a:ea typeface="Malgun Gothic"/>
                          <a:cs typeface="Malgun Gothic"/>
                          <a:sym typeface="Malgun Gothic"/>
                        </a:rPr>
                        <a:t>CODE분류</a:t>
                      </a:r>
                      <a:r>
                        <a:rPr lang="ko-KR" sz="1000" b="0" i="0" u="none" strike="noStrike" cap="none" dirty="0">
                          <a:solidFill>
                            <a:schemeClr val="dk1"/>
                          </a:solidFill>
                          <a:latin typeface="Malgun Gothic"/>
                          <a:ea typeface="Malgun Gothic"/>
                          <a:cs typeface="Malgun Gothic"/>
                          <a:sym typeface="Malgun Gothic"/>
                        </a:rPr>
                        <a:t>, 원산지 심사 등 세금징수요소를 랜덤으로 심사</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2. 화물검사</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1) 제품포장, 중문라벨, 외관 상 품질, 보존장소의 위생상황 등을 현장 확인하고, 필요시 미생물, 중금속 오염 등의 원인에 따른 실험실 검사 수행</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검사, 검역 비율은 10%, 검사검역 추출 비율 및 절차 </a:t>
                      </a:r>
                      <a:r>
                        <a:rPr lang="ko-KR" sz="1000" b="0" i="0" u="none" strike="noStrike" cap="none" dirty="0" err="1">
                          <a:solidFill>
                            <a:schemeClr val="dk1"/>
                          </a:solidFill>
                          <a:latin typeface="Malgun Gothic"/>
                          <a:ea typeface="Malgun Gothic"/>
                          <a:cs typeface="Malgun Gothic"/>
                          <a:sym typeface="Malgun Gothic"/>
                        </a:rPr>
                        <a:t>시한표</a:t>
                      </a:r>
                      <a:r>
                        <a:rPr lang="ko-KR" sz="1000" b="0" i="0" u="none" strike="noStrike" cap="none" dirty="0">
                          <a:solidFill>
                            <a:schemeClr val="dk1"/>
                          </a:solidFill>
                          <a:latin typeface="Malgun Gothic"/>
                          <a:ea typeface="Malgun Gothic"/>
                          <a:cs typeface="Malgun Gothic"/>
                          <a:sym typeface="Malgun Gothic"/>
                        </a:rPr>
                        <a:t> 참조</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2) 화장품 초도 수입 물량에 대해서는 수입할 때 샘플을 채취하여 7~10일 정도에 걸쳐 시험소에서 검역검사 수행</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근거 규정: “</a:t>
                      </a:r>
                      <a:r>
                        <a:rPr lang="ko-KR" sz="1000" b="0" i="0" u="sng" strike="noStrike" cap="none" dirty="0">
                          <a:solidFill>
                            <a:schemeClr val="hlink"/>
                          </a:solidFill>
                          <a:latin typeface="Malgun Gothic"/>
                          <a:ea typeface="Malgun Gothic"/>
                          <a:cs typeface="Malgun Gothic"/>
                          <a:sym typeface="Malgun Gothic"/>
                          <a:hlinkClick r:id="rId5"/>
                        </a:rPr>
                        <a:t>수출입화장품 검사검역 감독관리방법</a:t>
                      </a:r>
                      <a:r>
                        <a:rPr lang="ko-KR" sz="1000" b="0" i="0" u="none" strike="noStrike" cap="none" dirty="0">
                          <a:solidFill>
                            <a:schemeClr val="dk1"/>
                          </a:solidFill>
                          <a:latin typeface="Malgun Gothic"/>
                          <a:ea typeface="Malgun Gothic"/>
                          <a:cs typeface="Malgun Gothic"/>
                          <a:sym typeface="Malgun Gothic"/>
                        </a:rPr>
                        <a:t>“ 제13조 ··· 아래의 상황은 더욱 엄격하게 샘플 추출 검사를 실시함:</a:t>
                      </a:r>
                      <a:endParaRPr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dirty="0">
                          <a:solidFill>
                            <a:schemeClr val="tx1"/>
                          </a:solidFill>
                          <a:latin typeface="Malgun Gothic"/>
                          <a:ea typeface="Malgun Gothic"/>
                          <a:cs typeface="Malgun Gothic"/>
                          <a:sym typeface="Malgun Gothic"/>
                        </a:rPr>
                        <a:t>※ 2026.12.01부터 해관총서령 제284호 신규 '수출입 화장품 검사검역 감독관리 방법' 시행 예정 (항구 검사에서 목적지 검사로 전환 등 통관 절차 개편)</a:t>
                      </a:r>
                      <a:r>
                        <a:rPr lang="ko-KR" sz="1000" b="0" i="0" u="none" strike="noStrike" cap="none" dirty="0">
                          <a:solidFill>
                            <a:schemeClr val="tx1"/>
                          </a:solidFill>
                          <a:latin typeface="Malgun Gothic"/>
                          <a:ea typeface="Malgun Gothic"/>
                          <a:cs typeface="Malgun Gothic"/>
                          <a:sym typeface="Malgun Gothic"/>
                        </a:rPr>
                        <a:t> </a:t>
                      </a:r>
                      <a:endParaRPr dirty="0">
                        <a:solidFill>
                          <a:schemeClr val="tx1"/>
                        </a:solidFill>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① 초도 수입하는 경우, ② 이전에 품질 안전 문제가 있었던 경우, ③ 수입 수량이 비교적 큰 경우</a:t>
                      </a:r>
                      <a:endParaRPr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검사, 검역 불합격 사례</a:t>
                      </a:r>
                      <a:endParaRPr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불합격 사례: 허가증/등록증 </a:t>
                      </a:r>
                      <a:r>
                        <a:rPr lang="ko-KR" sz="1000" b="0" i="0" u="none" strike="noStrike" cap="none" dirty="0" err="1">
                          <a:solidFill>
                            <a:schemeClr val="dk1"/>
                          </a:solidFill>
                          <a:latin typeface="Malgun Gothic"/>
                          <a:ea typeface="Malgun Gothic"/>
                          <a:cs typeface="Malgun Gothic"/>
                          <a:sym typeface="Malgun Gothic"/>
                        </a:rPr>
                        <a:t>미취득</a:t>
                      </a:r>
                      <a:r>
                        <a:rPr lang="ko-KR" sz="1000" b="0" i="0" u="none" strike="noStrike" cap="none" dirty="0">
                          <a:solidFill>
                            <a:schemeClr val="dk1"/>
                          </a:solidFill>
                          <a:latin typeface="Malgun Gothic"/>
                          <a:ea typeface="Malgun Gothic"/>
                          <a:cs typeface="Malgun Gothic"/>
                          <a:sym typeface="Malgun Gothic"/>
                        </a:rPr>
                        <a:t>, 라벨 불합격, 화물과 증명서 불일치, 제품 유통기한 초과, 관능검사 불합격, 중국에서 화장품에 사용불가 성분 검출, 미생물, 중금속 기준치 초과 등</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상황 별 조치</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① 건강, 환경 보호 및 기타 항목과 관련이 없고 시정 가능한 경우 시정 요청</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② 시정이 불가능한 경우 반송 또는 소각</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③ 인체에 해를 끼치거나 건강을 해칠 우려가 있는 증거가 있는 수입품은 해관에서 수입을 잠정 중단할 수 있음</a:t>
                      </a:r>
                      <a:endParaRPr dirty="0"/>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ko-KR" sz="1000" b="0" i="0" u="none" strike="noStrike" cap="none" dirty="0">
                          <a:solidFill>
                            <a:schemeClr val="dk1"/>
                          </a:solidFill>
                          <a:latin typeface="Malgun Gothic"/>
                          <a:ea typeface="Malgun Gothic"/>
                          <a:cs typeface="Malgun Gothic"/>
                          <a:sym typeface="Malgun Gothic"/>
                        </a:rPr>
                        <a:t>3. 통관/반출: </a:t>
                      </a:r>
                      <a:r>
                        <a:rPr lang="ko-KR" altLang="en-US" sz="1000" dirty="0"/>
                        <a:t>중국 해관의 </a:t>
                      </a:r>
                      <a:r>
                        <a:rPr lang="ko-KR" altLang="en-US" sz="1000" dirty="0" err="1"/>
                        <a:t>검험</a:t>
                      </a:r>
                      <a:r>
                        <a:rPr lang="en-US" altLang="ko-KR" sz="1000" dirty="0"/>
                        <a:t>·</a:t>
                      </a:r>
                      <a:r>
                        <a:rPr lang="ko-KR" altLang="en-US" sz="1000" dirty="0"/>
                        <a:t>검역 및 합격평가 결과 수입요건에 부합하는 화물에 </a:t>
                      </a:r>
                      <a:r>
                        <a:rPr lang="ko-KR" altLang="en-US" sz="1000" b="0" dirty="0"/>
                        <a:t>대해 </a:t>
                      </a:r>
                      <a:r>
                        <a:rPr lang="en-US" altLang="ko-KR" sz="1000" b="0" dirty="0">
                          <a:hlinkClick r:id="rId6"/>
                        </a:rPr>
                        <a:t>《</a:t>
                      </a:r>
                      <a:r>
                        <a:rPr lang="ko-KR" altLang="en-US" sz="1000" b="0" dirty="0" err="1">
                          <a:hlinkClick r:id="rId6"/>
                        </a:rPr>
                        <a:t>입경화물검험검역증명</a:t>
                      </a:r>
                      <a:r>
                        <a:rPr lang="en-US" altLang="ko-KR" sz="1000" b="0" dirty="0">
                          <a:hlinkClick r:id="rId6"/>
                        </a:rPr>
                        <a:t>(</a:t>
                      </a:r>
                      <a:r>
                        <a:rPr lang="ko-KR" altLang="en-US" sz="1000" b="0" dirty="0">
                          <a:hlinkClick r:id="rId6"/>
                        </a:rPr>
                        <a:t>入境货物检验检疫证明</a:t>
                      </a:r>
                      <a:r>
                        <a:rPr lang="en-US" altLang="ko-KR" sz="1000" b="0" dirty="0">
                          <a:hlinkClick r:id="rId6"/>
                        </a:rPr>
                        <a:t>)》</a:t>
                      </a:r>
                      <a:r>
                        <a:rPr lang="ko-KR" altLang="en-US" sz="1000" b="0" dirty="0">
                          <a:hlinkClick r:id="rId6"/>
                        </a:rPr>
                        <a:t> 발급</a:t>
                      </a:r>
                      <a:r>
                        <a:rPr lang="en-US" altLang="ko-KR" sz="1000" b="0" dirty="0">
                          <a:hlinkClick r:id="rId6"/>
                        </a:rPr>
                        <a:t>. 2025</a:t>
                      </a:r>
                      <a:r>
                        <a:rPr lang="ko-KR" altLang="en-US" sz="1000" b="0" dirty="0">
                          <a:hlinkClick r:id="rId6"/>
                        </a:rPr>
                        <a:t>년 </a:t>
                      </a:r>
                      <a:r>
                        <a:rPr lang="en-US" altLang="ko-KR" sz="1000" b="0" dirty="0">
                          <a:hlinkClick r:id="rId6"/>
                        </a:rPr>
                        <a:t>12</a:t>
                      </a:r>
                      <a:r>
                        <a:rPr lang="ko-KR" altLang="en-US" sz="1000" b="0" dirty="0">
                          <a:hlinkClick r:id="rId6"/>
                        </a:rPr>
                        <a:t>월 </a:t>
                      </a:r>
                      <a:r>
                        <a:rPr lang="en-US" altLang="ko-KR" sz="1000" b="0" dirty="0">
                          <a:hlinkClick r:id="rId6"/>
                        </a:rPr>
                        <a:t>25</a:t>
                      </a:r>
                      <a:r>
                        <a:rPr lang="ko-KR" altLang="en-US" sz="1000" b="0" dirty="0">
                          <a:hlinkClick r:id="rId6"/>
                        </a:rPr>
                        <a:t>일부터 전자증명서와 종이증명서를 병행 운영하며</a:t>
                      </a:r>
                      <a:r>
                        <a:rPr lang="en-US" altLang="ko-KR" sz="1000" b="0" dirty="0"/>
                        <a:t>, </a:t>
                      </a:r>
                      <a:r>
                        <a:rPr lang="ko-KR" altLang="en-US" sz="1000" b="0" dirty="0"/>
                        <a:t>수하인 또는 위탁 통관기업은 중국 국제무역 </a:t>
                      </a:r>
                      <a:r>
                        <a:rPr lang="en-US" altLang="ko-KR" sz="1000" b="0" dirty="0">
                          <a:hlinkClick r:id="rId7"/>
                        </a:rPr>
                        <a:t>Single</a:t>
                      </a:r>
                      <a:r>
                        <a:rPr lang="ko-KR" altLang="en-US" sz="1000" b="0" dirty="0">
                          <a:hlinkClick r:id="rId7"/>
                        </a:rPr>
                        <a:t> </a:t>
                      </a:r>
                      <a:r>
                        <a:rPr lang="en-US" altLang="ko-KR" sz="1000" b="0" dirty="0">
                          <a:hlinkClick r:id="rId7"/>
                        </a:rPr>
                        <a:t>Window</a:t>
                      </a:r>
                      <a:r>
                        <a:rPr lang="ko-KR" altLang="en-US" sz="1000" b="0" dirty="0">
                          <a:hlinkClick r:id="rId7"/>
                        </a:rPr>
                        <a:t>를 통해 전자증명서의 조회</a:t>
                      </a:r>
                      <a:r>
                        <a:rPr lang="en-US" altLang="ko-KR" sz="1000" b="0" dirty="0">
                          <a:hlinkClick r:id="rId7"/>
                        </a:rPr>
                        <a:t>·</a:t>
                      </a:r>
                      <a:r>
                        <a:rPr lang="ko-KR" altLang="en-US" sz="1000" b="0" dirty="0">
                          <a:hlinkClick r:id="rId7"/>
                        </a:rPr>
                        <a:t>다운로드 </a:t>
                      </a:r>
                      <a:r>
                        <a:rPr lang="ko-KR" altLang="en-US" sz="1000" b="0" dirty="0"/>
                        <a:t>및 진위 확인이 가능함</a:t>
                      </a:r>
                      <a:r>
                        <a:rPr lang="en-US" altLang="ko-KR" sz="1000" b="0" dirty="0"/>
                        <a:t>. </a:t>
                      </a:r>
                      <a:r>
                        <a:rPr lang="ko-KR" altLang="en-US" sz="1000" b="0" dirty="0"/>
                        <a:t>전자증명서는 종이증명서와 동일한 효력을 가지므로</a:t>
                      </a:r>
                      <a:r>
                        <a:rPr lang="en-US" altLang="ko-KR" sz="1000" b="0" dirty="0"/>
                        <a:t>, </a:t>
                      </a:r>
                      <a:r>
                        <a:rPr lang="ko-KR" altLang="en-US" sz="1000" b="0" dirty="0"/>
                        <a:t>수입자는 해당 증명서를 통관 및 후속 유통관리를 위한 증빙자료로 적절히 관리</a:t>
                      </a:r>
                      <a:r>
                        <a:rPr lang="en-US" altLang="ko-KR" sz="1000" b="0" dirty="0"/>
                        <a:t>·</a:t>
                      </a:r>
                      <a:r>
                        <a:rPr lang="ko-KR" altLang="en-US" sz="1000" b="0" dirty="0"/>
                        <a:t>보관해야 함</a:t>
                      </a:r>
                      <a:r>
                        <a:rPr lang="en-US" altLang="ko-KR" sz="1000" b="0" dirty="0"/>
                        <a:t>.</a:t>
                      </a:r>
                      <a:endParaRPr sz="1000" b="0" i="0" u="none" strike="noStrike" cap="none" dirty="0">
                        <a:solidFill>
                          <a:schemeClr val="dk1"/>
                        </a:solidFill>
                        <a:latin typeface="Malgun Gothic"/>
                        <a:ea typeface="Malgun Gothic"/>
                        <a:cs typeface="Malgun Gothic"/>
                        <a:sym typeface="Malgun Gothic"/>
                      </a:endParaRPr>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4. 사후심사: 화물 통관 완료 후 세관은 수출입기업에서 신고한 가격, HS CODE 분류, 원산지 심사 등 세금징수 요소를 랜덤 심사함</a:t>
                      </a:r>
                      <a:endParaRPr dirty="0"/>
                    </a:p>
                    <a:p>
                      <a:pPr marL="0" marR="0" lvl="0" indent="0" algn="l" rtl="0">
                        <a:lnSpc>
                          <a:spcPct val="150000"/>
                        </a:lnSpc>
                        <a:spcBef>
                          <a:spcPts val="0"/>
                        </a:spcBef>
                        <a:spcAft>
                          <a:spcPts val="0"/>
                        </a:spcAft>
                        <a:buNone/>
                      </a:pPr>
                      <a:r>
                        <a:rPr lang="ko-KR" sz="1000" b="0" i="0" u="none" strike="noStrike" cap="none" dirty="0">
                          <a:solidFill>
                            <a:schemeClr val="dk1"/>
                          </a:solidFill>
                          <a:latin typeface="Malgun Gothic"/>
                          <a:ea typeface="Malgun Gothic"/>
                          <a:cs typeface="Malgun Gothic"/>
                          <a:sym typeface="Malgun Gothic"/>
                        </a:rPr>
                        <a:t>* 중국해관은 품목 분류 오류, 가격 저가 신고, 편법적인 </a:t>
                      </a:r>
                      <a:r>
                        <a:rPr lang="ko-KR" sz="1000" b="0" i="0" u="none" strike="noStrike" cap="none" dirty="0" err="1">
                          <a:solidFill>
                            <a:schemeClr val="dk1"/>
                          </a:solidFill>
                          <a:latin typeface="Malgun Gothic"/>
                          <a:ea typeface="Malgun Gothic"/>
                          <a:cs typeface="Malgun Gothic"/>
                          <a:sym typeface="Malgun Gothic"/>
                        </a:rPr>
                        <a:t>저세율</a:t>
                      </a:r>
                      <a:r>
                        <a:rPr lang="ko-KR" sz="1000" b="0" i="0" u="none" strike="noStrike" cap="none" dirty="0">
                          <a:solidFill>
                            <a:schemeClr val="dk1"/>
                          </a:solidFill>
                          <a:latin typeface="Malgun Gothic"/>
                          <a:ea typeface="Malgun Gothic"/>
                          <a:cs typeface="Malgun Gothic"/>
                          <a:sym typeface="Malgun Gothic"/>
                        </a:rPr>
                        <a:t> 적용 신고, 원산지 신고 사항 오류, 특허권 사용료, 수출입 신고 관련 정보의 관계자간 공유 부족, 신고 증빙자료의 부실한 보관 관리, 보세화물/감면세 화물의 관리 부주의, </a:t>
                      </a:r>
                      <a:r>
                        <a:rPr lang="ko-KR" sz="1000" b="0" i="0" u="none" strike="noStrike" cap="none" dirty="0" err="1">
                          <a:solidFill>
                            <a:schemeClr val="dk1"/>
                          </a:solidFill>
                          <a:latin typeface="Malgun Gothic"/>
                          <a:ea typeface="Malgun Gothic"/>
                          <a:cs typeface="Malgun Gothic"/>
                          <a:sym typeface="Malgun Gothic"/>
                        </a:rPr>
                        <a:t>미허가</a:t>
                      </a:r>
                      <a:r>
                        <a:rPr lang="ko-KR" sz="1000" b="0" i="0" u="none" strike="noStrike" cap="none" dirty="0">
                          <a:solidFill>
                            <a:schemeClr val="dk1"/>
                          </a:solidFill>
                          <a:latin typeface="Malgun Gothic"/>
                          <a:ea typeface="Malgun Gothic"/>
                          <a:cs typeface="Malgun Gothic"/>
                          <a:sym typeface="Malgun Gothic"/>
                        </a:rPr>
                        <a:t> 된 물품의 </a:t>
                      </a:r>
                      <a:r>
                        <a:rPr lang="ko-KR" sz="1000" b="0" i="0" u="none" strike="noStrike" cap="none" dirty="0" err="1">
                          <a:solidFill>
                            <a:schemeClr val="dk1"/>
                          </a:solidFill>
                          <a:latin typeface="Malgun Gothic"/>
                          <a:ea typeface="Malgun Gothic"/>
                          <a:cs typeface="Malgun Gothic"/>
                          <a:sym typeface="Malgun Gothic"/>
                        </a:rPr>
                        <a:t>반출입</a:t>
                      </a:r>
                      <a:r>
                        <a:rPr lang="ko-KR" sz="1000" b="0" i="0" u="none" strike="noStrike" cap="none" dirty="0">
                          <a:solidFill>
                            <a:schemeClr val="dk1"/>
                          </a:solidFill>
                          <a:latin typeface="Malgun Gothic"/>
                          <a:ea typeface="Malgun Gothic"/>
                          <a:cs typeface="Malgun Gothic"/>
                          <a:sym typeface="Malgun Gothic"/>
                        </a:rPr>
                        <a:t>, 문제 발생시 편법 해결 등 문제에 대해 엄격히 단속하고 있기에 사실대로 신고할 것</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165" name="Google Shape;165;p9">
            <a:extLst>
              <a:ext uri="{FF2B5EF4-FFF2-40B4-BE49-F238E27FC236}">
                <a16:creationId xmlns:a16="http://schemas.microsoft.com/office/drawing/2014/main" id="{173C879B-1716-725F-1C3F-987292F07720}"/>
              </a:ext>
            </a:extLst>
          </p:cNvPr>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a:solidFill>
                  <a:srgbClr val="0070C0"/>
                </a:solidFill>
                <a:latin typeface="Malgun Gothic"/>
                <a:ea typeface="Malgun Gothic"/>
                <a:cs typeface="Malgun Gothic"/>
                <a:sym typeface="Malgun Gothic"/>
              </a:rPr>
              <a:t>05. 현지통관</a:t>
            </a:r>
            <a:endParaRPr sz="2000" b="1">
              <a:solidFill>
                <a:srgbClr val="0070C0"/>
              </a:solidFill>
              <a:latin typeface="Malgun Gothic"/>
              <a:ea typeface="Malgun Gothic"/>
              <a:cs typeface="Malgun Gothic"/>
              <a:sym typeface="Malgun Gothic"/>
            </a:endParaRPr>
          </a:p>
        </p:txBody>
      </p:sp>
      <p:sp>
        <p:nvSpPr>
          <p:cNvPr id="166" name="Google Shape;166;p9">
            <a:extLst>
              <a:ext uri="{FF2B5EF4-FFF2-40B4-BE49-F238E27FC236}">
                <a16:creationId xmlns:a16="http://schemas.microsoft.com/office/drawing/2014/main" id="{33B19197-704A-62A2-B5D3-08944795027A}"/>
              </a:ext>
            </a:extLst>
          </p:cNvPr>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lvl="0"/>
            <a:r>
              <a:rPr lang="en-US" altLang="ko-KR" b="1" dirty="0">
                <a:solidFill>
                  <a:schemeClr val="dk1"/>
                </a:solidFill>
                <a:latin typeface="Malgun Gothic"/>
                <a:ea typeface="Malgun Gothic"/>
                <a:cs typeface="Malgun Gothic"/>
                <a:sym typeface="Malgun Gothic"/>
              </a:rPr>
              <a:t>5-1. </a:t>
            </a:r>
            <a:r>
              <a:rPr lang="ko-KR" altLang="en-US" b="1" dirty="0">
                <a:solidFill>
                  <a:schemeClr val="dk1"/>
                </a:solidFill>
                <a:latin typeface="Malgun Gothic"/>
                <a:ea typeface="Malgun Gothic"/>
                <a:cs typeface="Malgun Gothic"/>
                <a:sym typeface="Malgun Gothic"/>
              </a:rPr>
              <a:t>중국 수입통관</a:t>
            </a:r>
          </a:p>
        </p:txBody>
      </p:sp>
      <p:sp>
        <p:nvSpPr>
          <p:cNvPr id="3" name="TextBox 2">
            <a:extLst>
              <a:ext uri="{FF2B5EF4-FFF2-40B4-BE49-F238E27FC236}">
                <a16:creationId xmlns:a16="http://schemas.microsoft.com/office/drawing/2014/main" id="{614E52F2-F41D-CC68-C8FC-088E48D95466}"/>
              </a:ext>
            </a:extLst>
          </p:cNvPr>
          <p:cNvSpPr txBox="1"/>
          <p:nvPr/>
        </p:nvSpPr>
        <p:spPr>
          <a:xfrm>
            <a:off x="0" y="6596390"/>
            <a:ext cx="1634308" cy="261610"/>
          </a:xfrm>
          <a:prstGeom prst="rect">
            <a:avLst/>
          </a:prstGeom>
          <a:solidFill>
            <a:srgbClr val="FFFF00"/>
          </a:solidFill>
          <a:ln>
            <a:noFill/>
            <a:prstDash val="dash"/>
          </a:ln>
          <a:effectLst>
            <a:outerShdw blurRad="50800" dist="38100" dir="2700000" algn="tl" rotWithShape="0">
              <a:prstClr val="black">
                <a:alpha val="40000"/>
              </a:prstClr>
            </a:outerShdw>
          </a:effectLst>
        </p:spPr>
        <p:txBody>
          <a:bodyPr wrap="square" rtlCol="0">
            <a:spAutoFit/>
          </a:bodyPr>
          <a:lstStyle/>
          <a:p>
            <a:r>
              <a:rPr lang="ko-KR" altLang="en-US" sz="1100" b="1" dirty="0"/>
              <a:t>다음 페이지에 이어서</a:t>
            </a:r>
            <a:endParaRPr lang="ko-KR" altLang="en-US" sz="1100" dirty="0"/>
          </a:p>
        </p:txBody>
      </p:sp>
    </p:spTree>
    <p:extLst>
      <p:ext uri="{BB962C8B-B14F-4D97-AF65-F5344CB8AC3E}">
        <p14:creationId xmlns:p14="http://schemas.microsoft.com/office/powerpoint/2010/main" val="2035613691"/>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084701A-A8E7-1EB7-874D-EBACF1E456E6}"/>
            </a:ext>
          </a:extLst>
        </p:cNvPr>
        <p:cNvGrpSpPr/>
        <p:nvPr/>
      </p:nvGrpSpPr>
      <p:grpSpPr>
        <a:xfrm>
          <a:off x="0" y="0"/>
          <a:ext cx="0" cy="0"/>
          <a:chOff x="0" y="0"/>
          <a:chExt cx="0" cy="0"/>
        </a:xfrm>
      </p:grpSpPr>
      <p:graphicFrame>
        <p:nvGraphicFramePr>
          <p:cNvPr id="156" name="Google Shape;156;p8">
            <a:extLst>
              <a:ext uri="{FF2B5EF4-FFF2-40B4-BE49-F238E27FC236}">
                <a16:creationId xmlns:a16="http://schemas.microsoft.com/office/drawing/2014/main" id="{1A4FA31F-EDE8-7217-A47F-0890BBF8F7F9}"/>
              </a:ext>
            </a:extLst>
          </p:cNvPr>
          <p:cNvGraphicFramePr/>
          <p:nvPr>
            <p:extLst>
              <p:ext uri="{D42A27DB-BD31-4B8C-83A1-F6EECF244321}">
                <p14:modId xmlns:p14="http://schemas.microsoft.com/office/powerpoint/2010/main" val="2301143762"/>
              </p:ext>
            </p:extLst>
          </p:nvPr>
        </p:nvGraphicFramePr>
        <p:xfrm>
          <a:off x="405898" y="1275778"/>
          <a:ext cx="11178500" cy="5582222"/>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 내 판매되는 화장품은 중국 법령에 따른 중문라벨 표시사항을 갖추어야 하며</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 내용은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자료 및 실제 제품 정보와 일치해야 함</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제품 포장에 직접 인쇄하거나 스티커 라벨을 부착하는 방식으로 표시 가능하나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부착 방식과 표시내용은 중국 </a:t>
                      </a:r>
                      <a:r>
                        <a:rPr lang="ko-KR" altLang="en-US" sz="1000" b="0" i="0" u="none" strike="noStrike" cap="none" dirty="0" err="1">
                          <a:solidFill>
                            <a:schemeClr val="dk1"/>
                          </a:solidFill>
                          <a:latin typeface="Malgun Gothic"/>
                          <a:ea typeface="Malgun Gothic"/>
                          <a:cs typeface="Malgun Gothic"/>
                          <a:sym typeface="Malgun Gothic"/>
                        </a:rPr>
                        <a:t>라벨링</a:t>
                      </a:r>
                      <a:r>
                        <a:rPr lang="ko-KR" altLang="en-US" sz="1000" b="0" i="0" u="none" strike="noStrike" cap="none" dirty="0">
                          <a:solidFill>
                            <a:schemeClr val="dk1"/>
                          </a:solidFill>
                          <a:latin typeface="Malgun Gothic"/>
                          <a:ea typeface="Malgun Gothic"/>
                          <a:cs typeface="Malgun Gothic"/>
                          <a:sym typeface="Malgun Gothic"/>
                        </a:rPr>
                        <a:t> 요건에 부합해야 함</a:t>
                      </a:r>
                      <a:endParaRPr dirty="0"/>
                    </a:p>
                  </a:txBody>
                  <a:tcPr marL="91450" marR="91450" marT="45725" marB="45725" anchor="ct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시장감독관리국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경내책임자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중문라벨 견본</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원문 라벨 및 포장 이미지</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제품명명 근거</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전성분표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사용방법 및 주의사항</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생산일자 또는 사용기한 표시자료</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등록번호 또는 허가번호</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등록인</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경내책임자</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생산기업 정보</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효능 클레임 근거자료</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특수화장품 허가정보</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해당 시</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원문 라벨 및 제품정보 확인 → ② 중국 표시 필수항목 검토 → ③ 제품명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효능</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성분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사용방법</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주의문구 번역 및 검토 → ④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자료와 정합성 확인 → ⑤ 중문라벨 제작 → ⑥ 부착 위치 및 방식 확인 → ⑦ 선적 전 또는 중국 통관 전 부착 → ⑧ 통관 및 시판 후 라벨 관리</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a:t>주의사항</a:t>
                      </a:r>
                      <a:endParaRPr sz="1200" b="1" u="none" strike="noStrike" cap="none"/>
                    </a:p>
                    <a:p>
                      <a:pPr marL="0" marR="0" lvl="0" indent="0" algn="ctr" rtl="0">
                        <a:spcBef>
                          <a:spcPts val="0"/>
                        </a:spcBef>
                        <a:spcAft>
                          <a:spcPts val="0"/>
                        </a:spcAft>
                        <a:buNone/>
                      </a:pPr>
                      <a:r>
                        <a:rPr lang="ko-KR" sz="1200" b="1" u="none" strike="noStrike" cap="none"/>
                        <a:t>또는</a:t>
                      </a:r>
                      <a:endParaRPr sz="1200" b="1" u="none" strike="noStrike" cap="none"/>
                    </a:p>
                    <a:p>
                      <a:pPr marL="0" marR="0" lvl="0" indent="0" algn="ctr" rtl="0">
                        <a:spcBef>
                          <a:spcPts val="0"/>
                        </a:spcBef>
                        <a:spcAft>
                          <a:spcPts val="0"/>
                        </a:spcAft>
                        <a:buNone/>
                      </a:pPr>
                      <a:r>
                        <a:rPr lang="ko-KR" sz="1200" b="1" u="none" strike="noStrike" cap="none"/>
                        <a:t>확인사항</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중문라벨은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자료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처방</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효능평가자료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안전성평가보고서와 일치해야 함</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효능 표현이 과장</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허위 광고 또는 의약품적 표현으로 판단되지 않도록 사전 검토 필요</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특수화장품은 </a:t>
                      </a:r>
                      <a:r>
                        <a:rPr lang="ko-KR" altLang="en-US" sz="1000" b="0" i="0" u="none" strike="noStrike" cap="none" dirty="0" err="1">
                          <a:solidFill>
                            <a:schemeClr val="dk1"/>
                          </a:solidFill>
                          <a:latin typeface="Malgun Gothic"/>
                          <a:ea typeface="Malgun Gothic"/>
                          <a:cs typeface="Malgun Gothic"/>
                          <a:sym typeface="Malgun Gothic"/>
                        </a:rPr>
                        <a:t>허가받은</a:t>
                      </a:r>
                      <a:r>
                        <a:rPr lang="ko-KR" altLang="en-US" sz="1000" b="0" i="0" u="none" strike="noStrike" cap="none" dirty="0">
                          <a:solidFill>
                            <a:schemeClr val="dk1"/>
                          </a:solidFill>
                          <a:latin typeface="Malgun Gothic"/>
                          <a:ea typeface="Malgun Gothic"/>
                          <a:cs typeface="Malgun Gothic"/>
                          <a:sym typeface="Malgun Gothic"/>
                        </a:rPr>
                        <a:t> 효능 및 표시사항 범위를 초과하지 않도록 관리할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수입자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경내책임자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생산기업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원산지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사용기한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보관조건 등 필수 표시사항 누락 여부 확인 필요</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 변경 시 </a:t>
                      </a: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정보 변경 필요 여부를 확인할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통관 단계 또는 시판 후 감독검사에서 라벨 불일치가 주요 지적사항이 될 수 있음</a:t>
                      </a:r>
                      <a:endParaRPr dirty="0"/>
                    </a:p>
                  </a:txBody>
                  <a:tcPr marL="91450" marR="91450" marT="45725" marB="45725" anchor="ctr"/>
                </a:tc>
                <a:extLst>
                  <a:ext uri="{0D108BD9-81ED-4DB2-BD59-A6C34878D82A}">
                    <a16:rowId xmlns:a16="http://schemas.microsoft.com/office/drawing/2014/main" val="10005"/>
                  </a:ext>
                </a:extLst>
              </a:tr>
            </a:tbl>
          </a:graphicData>
        </a:graphic>
      </p:graphicFrame>
      <p:sp>
        <p:nvSpPr>
          <p:cNvPr id="157" name="Google Shape;157;p8">
            <a:extLst>
              <a:ext uri="{FF2B5EF4-FFF2-40B4-BE49-F238E27FC236}">
                <a16:creationId xmlns:a16="http://schemas.microsoft.com/office/drawing/2014/main" id="{A05D1A2C-4AE2-E4EA-0A3A-F75C9B015E27}"/>
              </a:ext>
            </a:extLst>
          </p:cNvPr>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2000" b="1" dirty="0">
                <a:solidFill>
                  <a:srgbClr val="0070C0"/>
                </a:solidFill>
                <a:latin typeface="Malgun Gothic"/>
                <a:ea typeface="Malgun Gothic"/>
                <a:cs typeface="Malgun Gothic"/>
                <a:sym typeface="Malgun Gothic"/>
              </a:rPr>
              <a:t>05. </a:t>
            </a:r>
            <a:r>
              <a:rPr lang="ko-KR" altLang="en-US" sz="2000" b="1" dirty="0">
                <a:solidFill>
                  <a:srgbClr val="0070C0"/>
                </a:solidFill>
                <a:latin typeface="Malgun Gothic"/>
                <a:ea typeface="Malgun Gothic"/>
                <a:cs typeface="Malgun Gothic"/>
                <a:sym typeface="Malgun Gothic"/>
              </a:rPr>
              <a:t>현지 통관 </a:t>
            </a:r>
            <a:endParaRPr sz="2000" b="1" dirty="0">
              <a:solidFill>
                <a:srgbClr val="0070C0"/>
              </a:solidFill>
              <a:latin typeface="Malgun Gothic"/>
              <a:ea typeface="Malgun Gothic"/>
              <a:cs typeface="Malgun Gothic"/>
              <a:sym typeface="Malgun Gothic"/>
            </a:endParaRPr>
          </a:p>
        </p:txBody>
      </p:sp>
      <p:sp>
        <p:nvSpPr>
          <p:cNvPr id="158" name="Google Shape;158;p8">
            <a:extLst>
              <a:ext uri="{FF2B5EF4-FFF2-40B4-BE49-F238E27FC236}">
                <a16:creationId xmlns:a16="http://schemas.microsoft.com/office/drawing/2014/main" id="{C71FD0E9-34AC-2C73-90E0-D8A4DEE3EA12}"/>
              </a:ext>
            </a:extLst>
          </p:cNvPr>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5-2. </a:t>
            </a:r>
            <a:r>
              <a:rPr lang="ko-KR" altLang="en-US" b="1" dirty="0">
                <a:solidFill>
                  <a:schemeClr val="dk1"/>
                </a:solidFill>
                <a:latin typeface="Malgun Gothic"/>
                <a:ea typeface="Malgun Gothic"/>
                <a:cs typeface="Malgun Gothic"/>
                <a:sym typeface="Malgun Gothic"/>
              </a:rPr>
              <a:t>중문라벨 확인</a:t>
            </a:r>
            <a:endParaRPr sz="1400" b="1" dirty="0">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837184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7B25B245-B672-B876-596C-FEA8F230A29B}"/>
            </a:ext>
          </a:extLst>
        </p:cNvPr>
        <p:cNvGrpSpPr/>
        <p:nvPr/>
      </p:nvGrpSpPr>
      <p:grpSpPr>
        <a:xfrm>
          <a:off x="0" y="0"/>
          <a:ext cx="0" cy="0"/>
          <a:chOff x="0" y="0"/>
          <a:chExt cx="0" cy="0"/>
        </a:xfrm>
      </p:grpSpPr>
      <p:graphicFrame>
        <p:nvGraphicFramePr>
          <p:cNvPr id="156" name="Google Shape;156;p8">
            <a:extLst>
              <a:ext uri="{FF2B5EF4-FFF2-40B4-BE49-F238E27FC236}">
                <a16:creationId xmlns:a16="http://schemas.microsoft.com/office/drawing/2014/main" id="{4369C34B-EE2B-E56C-CE7F-3E47B482A3DA}"/>
              </a:ext>
            </a:extLst>
          </p:cNvPr>
          <p:cNvGraphicFramePr/>
          <p:nvPr>
            <p:extLst>
              <p:ext uri="{D42A27DB-BD31-4B8C-83A1-F6EECF244321}">
                <p14:modId xmlns:p14="http://schemas.microsoft.com/office/powerpoint/2010/main" val="3475020038"/>
              </p:ext>
            </p:extLst>
          </p:nvPr>
        </p:nvGraphicFramePr>
        <p:xfrm>
          <a:off x="397947" y="1275778"/>
          <a:ext cx="11178500" cy="5582222"/>
        </p:xfrm>
        <a:graphic>
          <a:graphicData uri="http://schemas.openxmlformats.org/drawingml/2006/table">
            <a:tbl>
              <a:tblPr firstRow="1" bandRow="1">
                <a:noFill/>
                <a:tableStyleId>{FDF456CB-F135-4C2A-B49E-3954C3F3A06D}</a:tableStyleId>
              </a:tblPr>
              <a:tblGrid>
                <a:gridCol w="1574100">
                  <a:extLst>
                    <a:ext uri="{9D8B030D-6E8A-4147-A177-3AD203B41FA5}">
                      <a16:colId xmlns:a16="http://schemas.microsoft.com/office/drawing/2014/main" val="20000"/>
                    </a:ext>
                  </a:extLst>
                </a:gridCol>
                <a:gridCol w="9604400">
                  <a:extLst>
                    <a:ext uri="{9D8B030D-6E8A-4147-A177-3AD203B41FA5}">
                      <a16:colId xmlns:a16="http://schemas.microsoft.com/office/drawing/2014/main" val="20001"/>
                    </a:ext>
                  </a:extLst>
                </a:gridCol>
              </a:tblGrid>
              <a:tr h="547925">
                <a:tc>
                  <a:txBody>
                    <a:bodyPr/>
                    <a:lstStyle/>
                    <a:p>
                      <a:pPr marL="0" marR="0" lvl="0" indent="0" algn="ctr" rtl="0">
                        <a:spcBef>
                          <a:spcPts val="0"/>
                        </a:spcBef>
                        <a:spcAft>
                          <a:spcPts val="0"/>
                        </a:spcAft>
                        <a:buNone/>
                      </a:pPr>
                      <a:r>
                        <a:rPr lang="ko-KR" sz="1200" b="1" u="none" strike="noStrike" cap="none"/>
                        <a:t>설명 또는 정의</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통관 후 중국 내 온</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오프라인 채널을 통해 제품을 유통</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판매하고</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이상반응 모니터링</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리콜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광고</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라벨 관리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감독검사 대응 등 시판 후 의무를 관리하는 단계</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0"/>
                  </a:ext>
                </a:extLst>
              </a:tr>
              <a:tr h="395525">
                <a:tc>
                  <a:txBody>
                    <a:bodyPr/>
                    <a:lstStyle/>
                    <a:p>
                      <a:pPr marL="0" marR="0" lvl="0" indent="0" algn="ctr" rtl="0">
                        <a:spcBef>
                          <a:spcPts val="0"/>
                        </a:spcBef>
                        <a:spcAft>
                          <a:spcPts val="0"/>
                        </a:spcAft>
                        <a:buNone/>
                      </a:pPr>
                      <a:r>
                        <a:rPr lang="ko-KR" sz="1200" b="1" u="none" strike="noStrike" cap="none"/>
                        <a:t>방식</a:t>
                      </a:r>
                      <a:endParaRPr/>
                    </a:p>
                  </a:txBody>
                  <a:tcPr marL="91450" marR="91450" marT="45725" marB="45725" anchor="ctr"/>
                </a:tc>
                <a:tc>
                  <a:txBody>
                    <a:bodyPr/>
                    <a:lstStyle/>
                    <a:p>
                      <a:pPr marL="0" marR="0" lvl="0" indent="0" algn="l" rtl="0">
                        <a:lnSpc>
                          <a:spcPct val="150000"/>
                        </a:lnSpc>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유통사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경내책임자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판매채널별 역할을 구분하여 유통</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광고</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품질</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고객 클레임</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리콜 대응 체계 운영</a:t>
                      </a:r>
                      <a:endParaRPr dirty="0"/>
                    </a:p>
                  </a:txBody>
                  <a:tcPr marL="91450" marR="91450" marT="45725" marB="45725" anchor="ctr"/>
                </a:tc>
                <a:extLst>
                  <a:ext uri="{0D108BD9-81ED-4DB2-BD59-A6C34878D82A}">
                    <a16:rowId xmlns:a16="http://schemas.microsoft.com/office/drawing/2014/main" val="10001"/>
                  </a:ext>
                </a:extLst>
              </a:tr>
              <a:tr h="375925">
                <a:tc>
                  <a:txBody>
                    <a:bodyPr/>
                    <a:lstStyle/>
                    <a:p>
                      <a:pPr marL="0" marR="0" lvl="0" indent="0" algn="ctr" rtl="0">
                        <a:spcBef>
                          <a:spcPts val="0"/>
                        </a:spcBef>
                        <a:spcAft>
                          <a:spcPts val="0"/>
                        </a:spcAft>
                        <a:buNone/>
                      </a:pPr>
                      <a:r>
                        <a:rPr lang="ko-KR" sz="1200" b="1" u="none" strike="noStrike" cap="none"/>
                        <a:t>기관</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NMPA, </a:t>
                      </a:r>
                      <a:r>
                        <a:rPr lang="ko-KR" altLang="en-US" sz="1000" b="0" i="0" u="none" strike="noStrike" cap="none" dirty="0">
                          <a:solidFill>
                            <a:schemeClr val="dk1"/>
                          </a:solidFill>
                          <a:latin typeface="Malgun Gothic"/>
                          <a:ea typeface="Malgun Gothic"/>
                          <a:cs typeface="Malgun Gothic"/>
                          <a:sym typeface="Malgun Gothic"/>
                        </a:rPr>
                        <a:t>지방 약품감독관리국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시장감독관리국</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해관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경내책임자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중국 </a:t>
                      </a:r>
                      <a:r>
                        <a:rPr lang="ko-KR" altLang="en-US" sz="1000" b="0" i="0" u="none" strike="noStrike" cap="none" dirty="0" err="1">
                          <a:solidFill>
                            <a:schemeClr val="dk1"/>
                          </a:solidFill>
                          <a:latin typeface="Malgun Gothic"/>
                          <a:ea typeface="Malgun Gothic"/>
                          <a:cs typeface="Malgun Gothic"/>
                          <a:sym typeface="Malgun Gothic"/>
                        </a:rPr>
                        <a:t>수입자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유통사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전자상거래 플랫폼</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2"/>
                  </a:ext>
                </a:extLst>
              </a:tr>
              <a:tr h="618000">
                <a:tc>
                  <a:txBody>
                    <a:bodyPr/>
                    <a:lstStyle/>
                    <a:p>
                      <a:pPr marL="0" marR="0" lvl="0" indent="0" algn="ctr" rtl="0">
                        <a:spcBef>
                          <a:spcPts val="0"/>
                        </a:spcBef>
                        <a:spcAft>
                          <a:spcPts val="0"/>
                        </a:spcAft>
                        <a:buNone/>
                      </a:pPr>
                      <a:r>
                        <a:rPr lang="ko-KR" sz="1200" b="1" u="none" strike="noStrike" cap="none"/>
                        <a:t>참고 또는</a:t>
                      </a:r>
                      <a:endParaRPr sz="1200" b="1" u="none" strike="noStrike" cap="none"/>
                    </a:p>
                    <a:p>
                      <a:pPr marL="0" marR="0" lvl="0" indent="0" algn="ctr" rtl="0">
                        <a:spcBef>
                          <a:spcPts val="0"/>
                        </a:spcBef>
                        <a:spcAft>
                          <a:spcPts val="0"/>
                        </a:spcAft>
                        <a:buNone/>
                      </a:pPr>
                      <a:r>
                        <a:rPr lang="ko-KR" sz="1200" b="1" u="none" strike="noStrike" cap="none"/>
                        <a:t>필요서류</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NMPA </a:t>
                      </a:r>
                      <a:r>
                        <a:rPr lang="ko-KR" altLang="en-US" sz="1000" b="0" i="0" u="none" strike="noStrike" cap="none" dirty="0">
                          <a:solidFill>
                            <a:schemeClr val="dk1"/>
                          </a:solidFill>
                          <a:latin typeface="Malgun Gothic"/>
                          <a:ea typeface="Malgun Gothic"/>
                          <a:cs typeface="Malgun Gothic"/>
                          <a:sym typeface="Malgun Gothic"/>
                        </a:rPr>
                        <a:t>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자료</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통관자료 및 수입기록</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중문라벨 및 광고문구</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판매계약서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총판계약서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유통채널별 제품정보</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이상반응 모니터링 기록</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소비자 클레임 기록</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리콜 또는 회수 계획서</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품질검사 기록</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재고 및 판매이력 자료</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3"/>
                  </a:ext>
                </a:extLst>
              </a:tr>
              <a:tr h="481275">
                <a:tc>
                  <a:txBody>
                    <a:bodyPr/>
                    <a:lstStyle/>
                    <a:p>
                      <a:pPr marL="0" marR="0" lvl="0" indent="0" algn="ctr" rtl="0">
                        <a:spcBef>
                          <a:spcPts val="0"/>
                        </a:spcBef>
                        <a:spcAft>
                          <a:spcPts val="0"/>
                        </a:spcAft>
                        <a:buNone/>
                      </a:pPr>
                      <a:r>
                        <a:rPr lang="ko-KR" sz="1200" b="1" u="none" strike="noStrike" cap="none"/>
                        <a:t>절차</a:t>
                      </a:r>
                      <a:endParaRPr/>
                    </a:p>
                  </a:txBody>
                  <a:tcPr marL="91450" marR="91450" marT="45725" marB="45725" anchor="ctr"/>
                </a:tc>
                <a:tc>
                  <a:txBody>
                    <a:bodyPr/>
                    <a:lstStyle/>
                    <a:p>
                      <a:pPr marL="0" marR="0" lvl="0" indent="0" algn="l" rtl="0">
                        <a:spcBef>
                          <a:spcPts val="0"/>
                        </a:spcBef>
                        <a:spcAft>
                          <a:spcPts val="0"/>
                        </a:spcAft>
                        <a:buNone/>
                      </a:pPr>
                      <a:r>
                        <a:rPr lang="ko-KR" altLang="en-US" sz="1000" b="0" i="0" u="none" strike="noStrike" cap="none" dirty="0">
                          <a:solidFill>
                            <a:schemeClr val="dk1"/>
                          </a:solidFill>
                          <a:latin typeface="Malgun Gothic"/>
                          <a:ea typeface="Malgun Gothic"/>
                          <a:cs typeface="Malgun Gothic"/>
                          <a:sym typeface="Malgun Gothic"/>
                        </a:rPr>
                        <a:t>① 통관 완료 및 창고 입고 → ② 유통채널별 판매정보 등록 → ③ 라벨</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광고</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상세페이지 문구 검토 → ④ 판매 개시 → ⑤ 이상반응 및 소비자 클레임 모니터링 → ⑥ 품질 이슈 발생 시 경내책임자</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보고 → ⑦ 필요 시 리콜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회수</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시정조치 → ⑧ 감독검사 및 자료제출 요구 대응 → ⑨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변경 및 갱신 관리</a:t>
                      </a:r>
                      <a:endParaRPr sz="1000" b="0" i="0" u="none" strike="noStrike" cap="none" dirty="0">
                        <a:solidFill>
                          <a:schemeClr val="dk1"/>
                        </a:solidFill>
                        <a:latin typeface="Malgun Gothic"/>
                        <a:ea typeface="Malgun Gothic"/>
                        <a:cs typeface="Malgun Gothic"/>
                        <a:sym typeface="Malgun Gothic"/>
                      </a:endParaRPr>
                    </a:p>
                  </a:txBody>
                  <a:tcPr marL="91450" marR="91450" marT="45725" marB="45725" anchor="ctr"/>
                </a:tc>
                <a:extLst>
                  <a:ext uri="{0D108BD9-81ED-4DB2-BD59-A6C34878D82A}">
                    <a16:rowId xmlns:a16="http://schemas.microsoft.com/office/drawing/2014/main" val="10004"/>
                  </a:ext>
                </a:extLst>
              </a:tr>
              <a:tr h="526125">
                <a:tc>
                  <a:txBody>
                    <a:bodyPr/>
                    <a:lstStyle/>
                    <a:p>
                      <a:pPr marL="0" marR="0" lvl="0" indent="0" algn="ctr" rtl="0">
                        <a:spcBef>
                          <a:spcPts val="0"/>
                        </a:spcBef>
                        <a:spcAft>
                          <a:spcPts val="0"/>
                        </a:spcAft>
                        <a:buNone/>
                      </a:pPr>
                      <a:r>
                        <a:rPr lang="ko-KR" sz="1200" b="1" u="none" strike="noStrike" cap="none"/>
                        <a:t>주의사항</a:t>
                      </a:r>
                      <a:endParaRPr sz="1200" b="1" u="none" strike="noStrike" cap="none"/>
                    </a:p>
                    <a:p>
                      <a:pPr marL="0" marR="0" lvl="0" indent="0" algn="ctr" rtl="0">
                        <a:spcBef>
                          <a:spcPts val="0"/>
                        </a:spcBef>
                        <a:spcAft>
                          <a:spcPts val="0"/>
                        </a:spcAft>
                        <a:buNone/>
                      </a:pPr>
                      <a:r>
                        <a:rPr lang="ko-KR" sz="1200" b="1" u="none" strike="noStrike" cap="none"/>
                        <a:t>또는</a:t>
                      </a:r>
                      <a:endParaRPr sz="1200" b="1" u="none" strike="noStrike" cap="none"/>
                    </a:p>
                    <a:p>
                      <a:pPr marL="0" marR="0" lvl="0" indent="0" algn="ctr" rtl="0">
                        <a:spcBef>
                          <a:spcPts val="0"/>
                        </a:spcBef>
                        <a:spcAft>
                          <a:spcPts val="0"/>
                        </a:spcAft>
                        <a:buNone/>
                      </a:pPr>
                      <a:r>
                        <a:rPr lang="ko-KR" sz="1200" b="1" u="none" strike="noStrike" cap="none"/>
                        <a:t>확인사항</a:t>
                      </a:r>
                      <a:endParaRPr/>
                    </a:p>
                  </a:txBody>
                  <a:tcPr marL="91450" marR="91450" marT="45725" marB="45725" anchor="ctr"/>
                </a:tc>
                <a:tc>
                  <a:txBody>
                    <a:bodyPr/>
                    <a:lstStyle/>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온라인 상세페이지</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라이브커머스</a:t>
                      </a:r>
                      <a:r>
                        <a:rPr lang="en-US" altLang="ko-KR" sz="1000" b="0" i="0" u="none" strike="noStrike" cap="none" dirty="0">
                          <a:solidFill>
                            <a:schemeClr val="dk1"/>
                          </a:solidFill>
                          <a:latin typeface="Malgun Gothic"/>
                          <a:ea typeface="Malgun Gothic"/>
                          <a:cs typeface="Malgun Gothic"/>
                          <a:sym typeface="Malgun Gothic"/>
                        </a:rPr>
                        <a:t>, SNS </a:t>
                      </a:r>
                      <a:r>
                        <a:rPr lang="ko-KR" altLang="en-US" sz="1000" b="0" i="0" u="none" strike="noStrike" cap="none" dirty="0">
                          <a:solidFill>
                            <a:schemeClr val="dk1"/>
                          </a:solidFill>
                          <a:latin typeface="Malgun Gothic"/>
                          <a:ea typeface="Malgun Gothic"/>
                          <a:cs typeface="Malgun Gothic"/>
                          <a:sym typeface="Malgun Gothic"/>
                        </a:rPr>
                        <a:t>광고 표현도 화장품 효능</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광고 규제 대상이 될 수 있음</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범위를 초과하는 효능 표현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의학적 표현</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절대적 표현 사용 금지 여부 확인 필요</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이상반응 발생 시 경내책임자와 수입자의 보고</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평가</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조치 절차를 사전에 정할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판매채널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총판</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대리점별 가격정책</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광고문구</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 이미지 사용 기준을 계약서에 명확히 둘 것</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사후 감독검사에서 처방</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라벨</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효능자료</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안전성평가보고서</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수입기록 간 정합성 확인 가능</a:t>
                      </a:r>
                    </a:p>
                    <a:p>
                      <a:pPr marL="0" marR="0" lvl="0" indent="0" algn="l" rtl="0">
                        <a:lnSpc>
                          <a:spcPct val="150000"/>
                        </a:lnSpc>
                        <a:spcBef>
                          <a:spcPts val="0"/>
                        </a:spcBef>
                        <a:spcAft>
                          <a:spcPts val="0"/>
                        </a:spcAft>
                        <a:buNone/>
                      </a:pP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경내책임자 변경</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err="1">
                          <a:solidFill>
                            <a:schemeClr val="dk1"/>
                          </a:solidFill>
                          <a:latin typeface="Malgun Gothic"/>
                          <a:ea typeface="Malgun Gothic"/>
                          <a:cs typeface="Malgun Gothic"/>
                          <a:sym typeface="Malgun Gothic"/>
                        </a:rPr>
                        <a:t>수입자</a:t>
                      </a:r>
                      <a:r>
                        <a:rPr lang="ko-KR" altLang="en-US" sz="1000" b="0" i="0" u="none" strike="noStrike" cap="none" dirty="0">
                          <a:solidFill>
                            <a:schemeClr val="dk1"/>
                          </a:solidFill>
                          <a:latin typeface="Malgun Gothic"/>
                          <a:ea typeface="Malgun Gothic"/>
                          <a:cs typeface="Malgun Gothic"/>
                          <a:sym typeface="Malgun Gothic"/>
                        </a:rPr>
                        <a:t> 변경</a:t>
                      </a:r>
                      <a:r>
                        <a:rPr lang="en-US" altLang="ko-KR" sz="1000" b="0" i="0" u="none" strike="noStrike" cap="none" dirty="0">
                          <a:solidFill>
                            <a:schemeClr val="dk1"/>
                          </a:solidFill>
                          <a:latin typeface="Malgun Gothic"/>
                          <a:ea typeface="Malgun Gothic"/>
                          <a:cs typeface="Malgun Gothic"/>
                          <a:sym typeface="Malgun Gothic"/>
                        </a:rPr>
                        <a:t>, </a:t>
                      </a:r>
                      <a:r>
                        <a:rPr lang="ko-KR" altLang="en-US" sz="1000" b="0" i="0" u="none" strike="noStrike" cap="none" dirty="0">
                          <a:solidFill>
                            <a:schemeClr val="dk1"/>
                          </a:solidFill>
                          <a:latin typeface="Malgun Gothic"/>
                          <a:ea typeface="Malgun Gothic"/>
                          <a:cs typeface="Malgun Gothic"/>
                          <a:sym typeface="Malgun Gothic"/>
                        </a:rPr>
                        <a:t>제품명</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처방</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라벨 변경 시 등록</a:t>
                      </a:r>
                      <a:r>
                        <a:rPr lang="en-US" altLang="ko-KR" sz="1000" b="0" i="0" u="none" strike="noStrike" cap="none" dirty="0">
                          <a:solidFill>
                            <a:schemeClr val="dk1"/>
                          </a:solidFill>
                          <a:latin typeface="Malgun Gothic"/>
                          <a:ea typeface="Malgun Gothic"/>
                          <a:cs typeface="Malgun Gothic"/>
                          <a:sym typeface="Malgun Gothic"/>
                        </a:rPr>
                        <a:t>·</a:t>
                      </a:r>
                      <a:r>
                        <a:rPr lang="ko-KR" altLang="en-US" sz="1000" b="0" i="0" u="none" strike="noStrike" cap="none" dirty="0">
                          <a:solidFill>
                            <a:schemeClr val="dk1"/>
                          </a:solidFill>
                          <a:latin typeface="Malgun Gothic"/>
                          <a:ea typeface="Malgun Gothic"/>
                          <a:cs typeface="Malgun Gothic"/>
                          <a:sym typeface="Malgun Gothic"/>
                        </a:rPr>
                        <a:t>허가 정보 변경 필요 여부 확인 필요</a:t>
                      </a:r>
                      <a:endParaRPr dirty="0"/>
                    </a:p>
                  </a:txBody>
                  <a:tcPr marL="91450" marR="91450" marT="45725" marB="45725" anchor="ctr"/>
                </a:tc>
                <a:extLst>
                  <a:ext uri="{0D108BD9-81ED-4DB2-BD59-A6C34878D82A}">
                    <a16:rowId xmlns:a16="http://schemas.microsoft.com/office/drawing/2014/main" val="10005"/>
                  </a:ext>
                </a:extLst>
              </a:tr>
            </a:tbl>
          </a:graphicData>
        </a:graphic>
      </p:graphicFrame>
      <p:sp>
        <p:nvSpPr>
          <p:cNvPr id="157" name="Google Shape;157;p8">
            <a:extLst>
              <a:ext uri="{FF2B5EF4-FFF2-40B4-BE49-F238E27FC236}">
                <a16:creationId xmlns:a16="http://schemas.microsoft.com/office/drawing/2014/main" id="{FBE3F25E-D5C1-F6D9-318A-0699D4D264FE}"/>
              </a:ext>
            </a:extLst>
          </p:cNvPr>
          <p:cNvSpPr txBox="1"/>
          <p:nvPr/>
        </p:nvSpPr>
        <p:spPr>
          <a:xfrm>
            <a:off x="325826" y="339047"/>
            <a:ext cx="872121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2000" b="1" dirty="0">
                <a:solidFill>
                  <a:srgbClr val="0070C0"/>
                </a:solidFill>
                <a:latin typeface="Malgun Gothic"/>
                <a:ea typeface="Malgun Gothic"/>
                <a:cs typeface="Malgun Gothic"/>
                <a:sym typeface="Malgun Gothic"/>
              </a:rPr>
              <a:t>05. </a:t>
            </a:r>
            <a:r>
              <a:rPr lang="ko-KR" altLang="en-US" sz="2000" b="1" dirty="0">
                <a:solidFill>
                  <a:srgbClr val="0070C0"/>
                </a:solidFill>
                <a:latin typeface="Malgun Gothic"/>
                <a:ea typeface="Malgun Gothic"/>
                <a:cs typeface="Malgun Gothic"/>
                <a:sym typeface="Malgun Gothic"/>
              </a:rPr>
              <a:t>현지 통관 </a:t>
            </a:r>
            <a:endParaRPr sz="2000" b="1" dirty="0">
              <a:solidFill>
                <a:srgbClr val="0070C0"/>
              </a:solidFill>
              <a:latin typeface="Malgun Gothic"/>
              <a:ea typeface="Malgun Gothic"/>
              <a:cs typeface="Malgun Gothic"/>
              <a:sym typeface="Malgun Gothic"/>
            </a:endParaRPr>
          </a:p>
        </p:txBody>
      </p:sp>
      <p:sp>
        <p:nvSpPr>
          <p:cNvPr id="158" name="Google Shape;158;p8">
            <a:extLst>
              <a:ext uri="{FF2B5EF4-FFF2-40B4-BE49-F238E27FC236}">
                <a16:creationId xmlns:a16="http://schemas.microsoft.com/office/drawing/2014/main" id="{97EFFB20-6FB9-97A6-FC6E-2393A6F84458}"/>
              </a:ext>
            </a:extLst>
          </p:cNvPr>
          <p:cNvSpPr txBox="1"/>
          <p:nvPr/>
        </p:nvSpPr>
        <p:spPr>
          <a:xfrm>
            <a:off x="325826" y="886609"/>
            <a:ext cx="872121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400" b="1" dirty="0">
                <a:solidFill>
                  <a:schemeClr val="dk1"/>
                </a:solidFill>
                <a:latin typeface="Malgun Gothic"/>
                <a:ea typeface="Malgun Gothic"/>
                <a:cs typeface="Malgun Gothic"/>
                <a:sym typeface="Malgun Gothic"/>
              </a:rPr>
              <a:t>5-3. </a:t>
            </a:r>
            <a:r>
              <a:rPr lang="ko-KR" altLang="en-US" sz="1400" b="1" dirty="0">
                <a:solidFill>
                  <a:schemeClr val="dk1"/>
                </a:solidFill>
                <a:latin typeface="Malgun Gothic"/>
                <a:ea typeface="Malgun Gothic"/>
                <a:cs typeface="Malgun Gothic"/>
                <a:sym typeface="Malgun Gothic"/>
              </a:rPr>
              <a:t>중국 내 유통 및 사후관리</a:t>
            </a:r>
            <a:endParaRPr sz="1400" b="1" dirty="0">
              <a:solidFill>
                <a:schemeClr val="dk1"/>
              </a:solidFill>
              <a:latin typeface="Malgun Gothic"/>
              <a:ea typeface="Malgun Gothic"/>
              <a:cs typeface="Malgun Gothic"/>
              <a:sym typeface="Malgun Gothic"/>
            </a:endParaRPr>
          </a:p>
        </p:txBody>
      </p:sp>
    </p:spTree>
    <p:extLst>
      <p:ext uri="{BB962C8B-B14F-4D97-AF65-F5344CB8AC3E}">
        <p14:creationId xmlns:p14="http://schemas.microsoft.com/office/powerpoint/2010/main" val="406473334"/>
      </p:ext>
    </p:extLst>
  </p:cSld>
  <p:clrMapOvr>
    <a:masterClrMapping/>
  </p:clrMapOvr>
</p:sld>
</file>

<file path=ppt/theme/theme1.xml><?xml version="1.0" encoding="utf-8"?>
<a:theme xmlns:a="http://schemas.openxmlformats.org/drawingml/2006/main"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1442</TotalTime>
  <Words>4616</Words>
  <Application>Microsoft Office PowerPoint</Application>
  <PresentationFormat>와이드스크린</PresentationFormat>
  <Paragraphs>450</Paragraphs>
  <Slides>16</Slides>
  <Notes>16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16</vt:i4>
      </vt:variant>
    </vt:vector>
  </HeadingPairs>
  <TitlesOfParts>
    <vt:vector size="21" baseType="lpstr">
      <vt:lpstr>Malgun Gothic</vt:lpstr>
      <vt:lpstr>Malgun Gothic</vt:lpstr>
      <vt:lpstr>Arial</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은정 김</dc:creator>
  <cp:lastModifiedBy>관리자 대한화장품협회</cp:lastModifiedBy>
  <cp:revision>29</cp:revision>
  <dcterms:created xsi:type="dcterms:W3CDTF">2026-06-17T04:37:34Z</dcterms:created>
  <dcterms:modified xsi:type="dcterms:W3CDTF">2026-10-23T04:33:47Z</dcterms:modified>
</cp:coreProperties>
</file>