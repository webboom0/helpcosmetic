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5D417036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5_B404018D.xml" ContentType="application/vnd.ms-powerpoint.comments+xml"/>
  <Override PartName="/ppt/notesSlides/notesSlide4.xml" ContentType="application/vnd.openxmlformats-officedocument.presentationml.notesSlide+xml"/>
  <Override PartName="/ppt/comments/modernComment_10D_EA7711BE.xml" ContentType="application/vnd.ms-powerpoint.comments+xml"/>
  <Override PartName="/ppt/notesSlides/notesSlide5.xml" ContentType="application/vnd.openxmlformats-officedocument.presentationml.notesSlide+xml"/>
  <Override PartName="/ppt/comments/modernComment_10E_1151531A.xml" ContentType="application/vnd.ms-powerpoint.comments+xml"/>
  <Override PartName="/ppt/notesSlides/notesSlide6.xml" ContentType="application/vnd.openxmlformats-officedocument.presentationml.notesSlide+xml"/>
  <Override PartName="/ppt/comments/modernComment_10B_65584E78.xml" ContentType="application/vnd.ms-powerpoint.comments+xml"/>
  <Override PartName="/ppt/notesSlides/notesSlide7.xml" ContentType="application/vnd.openxmlformats-officedocument.presentationml.notesSlide+xml"/>
  <Override PartName="/ppt/comments/modernComment_107_D4A2BB0F.xml" ContentType="application/vnd.ms-powerpoint.comments+xml"/>
  <Override PartName="/ppt/notesSlides/notesSlide8.xml" ContentType="application/vnd.openxmlformats-officedocument.presentationml.notesSlide+xml"/>
  <Override PartName="/ppt/comments/modernComment_111_5C88F3A6.xml" ContentType="application/vnd.ms-powerpoint.comments+xml"/>
  <Override PartName="/ppt/notesSlides/notesSlide9.xml" ContentType="application/vnd.openxmlformats-officedocument.presentationml.notesSlide+xml"/>
  <Override PartName="/ppt/comments/modernComment_109_8180DCBA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0A_741D51D9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2" r:id="rId5"/>
    <p:sldId id="261" r:id="rId6"/>
    <p:sldId id="269" r:id="rId7"/>
    <p:sldId id="270" r:id="rId8"/>
    <p:sldId id="267" r:id="rId9"/>
    <p:sldId id="263" r:id="rId10"/>
    <p:sldId id="273" r:id="rId11"/>
    <p:sldId id="265" r:id="rId12"/>
    <p:sldId id="274" r:id="rId13"/>
    <p:sldId id="266" r:id="rId14"/>
    <p:sldId id="271" r:id="rId15"/>
    <p:sldId id="268" r:id="rId16"/>
    <p:sldId id="272" r:id="rId17"/>
    <p:sldId id="27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94E26-C7D1-BA6A-00B6-2540C16AE08A}" name="관리자 대한화장품협회" initials="관대" userId="5afd10ffc425ac2a" providerId="Windows Live"/>
  <p188:author id="{08794461-2643-D43C-2337-98A8AE1B5E4B}" name="은정 김" initials="은김" userId="c1d3832e69e7af5e" providerId="Windows Live"/>
  <p188:author id="{A1F4ACA4-32C5-3A05-D2BC-2194DD035544}" name="윈게이트코리아 2" initials="2윈" userId="S::wynngatekr@wynngatekorea.onmicrosoft.com::4fb62243-b349-4c92-b34d-bb23574c9f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1" autoAdjust="0"/>
    <p:restoredTop sz="95465" autoAdjust="0"/>
  </p:normalViewPr>
  <p:slideViewPr>
    <p:cSldViewPr snapToGrid="0">
      <p:cViewPr varScale="1">
        <p:scale>
          <a:sx n="97" d="100"/>
          <a:sy n="97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A_741D51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7C68AC-2831-4EE8-9C6F-D6F42E3BE3A9}" authorId="{A1F4ACA4-32C5-3A05-D2BC-2194DD035544}" status="resolved" created="2026-08-04T07:19:47.60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8078553" sldId="266"/>
      <ac:graphicFrameMk id="5" creationId="{83680017-532B-F30F-00A1-79EED46A202E}"/>
      <ac:tblMk/>
      <ac:tcMk rowId="3471127830" colId="4224328845"/>
      <ac:txMk cp="15" len="4">
        <ac:context len="141" hash="3038644824"/>
      </ac:txMk>
    </ac:txMkLst>
    <p188:pos x="2371938" y="1318235"/>
    <p188:txBody>
      <a:bodyPr/>
      <a:lstStyle/>
      <a:p>
        <a:r>
          <a:rPr lang="ko-KR" altLang="en-US"/>
          <a:t>첨부파일 5-1</a:t>
        </a:r>
      </a:p>
    </p188:txBody>
  </p188:cm>
  <p188:cm id="{0737F20B-536B-472E-955A-D8529A7A563E}" authorId="{A1F4ACA4-32C5-3A05-D2BC-2194DD035544}" status="resolved" created="2026-08-04T07:19:55.96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8078553" sldId="266"/>
      <ac:graphicFrameMk id="5" creationId="{83680017-532B-F30F-00A1-79EED46A202E}"/>
      <ac:tblMk/>
      <ac:tcMk rowId="3471127830" colId="4224328845"/>
      <ac:txMk cp="41" len="5">
        <ac:context len="141" hash="3038644824"/>
      </ac:txMk>
    </ac:txMkLst>
    <p188:pos x="2496629" y="1546835"/>
    <p188:txBody>
      <a:bodyPr/>
      <a:lstStyle/>
      <a:p>
        <a:r>
          <a:rPr lang="ko-KR" altLang="en-US"/>
          <a:t>첨부파일 5-2</a:t>
        </a:r>
      </a:p>
    </p188:txBody>
  </p188:cm>
  <p188:cm id="{9EF3A531-EE8C-49EE-8680-0DA1B71905E4}" authorId="{A1F4ACA4-32C5-3A05-D2BC-2194DD035544}" status="resolved" created="2026-08-04T07:20:07.26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8078553" sldId="266"/>
      <ac:graphicFrameMk id="5" creationId="{83680017-532B-F30F-00A1-79EED46A202E}"/>
      <ac:tblMk/>
      <ac:tcMk rowId="3471127830" colId="4224328845"/>
      <ac:txMk cp="62" len="4">
        <ac:context len="141" hash="3038644824"/>
      </ac:txMk>
    </ac:txMkLst>
    <p188:pos x="2371938" y="1775435"/>
    <p188:txBody>
      <a:bodyPr/>
      <a:lstStyle/>
      <a:p>
        <a:r>
          <a:rPr lang="ko-KR" altLang="en-US"/>
          <a:t>첨부파일 5-3</a:t>
        </a:r>
      </a:p>
    </p188:txBody>
  </p188:cm>
  <p188:cm id="{4AB9378D-33CE-4177-AEC9-D478141E03E8}" authorId="{A1F4ACA4-32C5-3A05-D2BC-2194DD035544}" status="resolved" created="2026-08-04T07:20:22.5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8078553" sldId="266"/>
      <ac:graphicFrameMk id="5" creationId="{83680017-532B-F30F-00A1-79EED46A202E}"/>
      <ac:tblMk/>
      <ac:tcMk rowId="3471127830" colId="4224328845"/>
      <ac:txMk cp="76" len="8">
        <ac:context len="141" hash="3038644824"/>
      </ac:txMk>
    </ac:txMkLst>
    <p188:pos x="3951357" y="1775435"/>
    <p188:txBody>
      <a:bodyPr/>
      <a:lstStyle/>
      <a:p>
        <a:r>
          <a:rPr lang="ko-KR" altLang="en-US"/>
          <a:t>첨부파일 5-4</a:t>
        </a:r>
      </a:p>
    </p188:txBody>
  </p188:cm>
  <p188:cm id="{CCFBBDF2-5CA4-43C3-A7E0-AE3D964AA614}" authorId="{A1F4ACA4-32C5-3A05-D2BC-2194DD035544}" status="resolved" created="2026-08-04T07:20:38.55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8078553" sldId="266"/>
      <ac:graphicFrameMk id="5" creationId="{83680017-532B-F30F-00A1-79EED46A202E}"/>
      <ac:tblMk/>
      <ac:tcMk rowId="3471127830" colId="4224328845"/>
      <ac:txMk cp="114" len="5">
        <ac:context len="141" hash="3038644824"/>
      </ac:txMk>
    </ac:txMkLst>
    <p188:pos x="2496629" y="2461235"/>
    <p188:txBody>
      <a:bodyPr/>
      <a:lstStyle/>
      <a:p>
        <a:r>
          <a:rPr lang="ko-KR" altLang="en-US"/>
          <a:t>첨부파일 5-5</a:t>
        </a:r>
      </a:p>
    </p188:txBody>
  </p188:cm>
</p188:cmLst>
</file>

<file path=ppt/comments/modernComment_10B_65584E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37AA5B-38D0-4122-BFAA-76A6CD296B7C}" authorId="{0A894E26-C7D1-BA6A-00B6-2540C16AE08A}" status="resolved" created="2026-07-22T10:32:42.59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00286072" sldId="267"/>
      <ac:graphicFrameMk id="4" creationId="{D9725D31-43A6-E0C1-6CEB-8CC88190D3EF}"/>
      <ac:tblMk/>
      <ac:tcMk rowId="2473776228" colId="1944886688"/>
      <ac:txMk cp="173" len="10">
        <ac:context len="263" hash="1463172923"/>
      </ac:txMk>
    </ac:txMkLst>
    <p188:pos x="4038784" y="2646928"/>
    <p188:replyLst>
      <p188:reply id="{04ECB61C-B16F-4529-A21B-079673397479}" authorId="{A1F4ACA4-32C5-3A05-D2BC-2194DD035544}" created="2026-07-27T06:39:20.163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링크는 중국 자료입니다. </a:t>
        </a:r>
      </a:p>
    </p188:txBody>
  </p188:cm>
</p188:cmLst>
</file>

<file path=ppt/comments/modernComment_10D_EA7711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8275A6-CA1F-48E4-A620-CC6787052155}" authorId="{0A894E26-C7D1-BA6A-00B6-2540C16AE08A}" status="resolved" created="2026-07-22T10:30:35.40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33671870" sldId="269"/>
      <ac:graphicFrameMk id="4" creationId="{F1A06AF8-86D9-B422-495A-6A26E99D875D}"/>
      <ac:tblMk/>
      <ac:tcMk rowId="2473776228" colId="1944886688"/>
      <ac:txMk cp="2" len="26">
        <ac:context len="250" hash="2979507390"/>
      </ac:txMk>
    </ac:txMkLst>
    <p188:pos x="6131535" y="1121131"/>
    <p188:replyLst>
      <p188:reply id="{DEEEAB7D-4A08-4235-9E34-DEDEA14850CD}" authorId="{A1F4ACA4-32C5-3A05-D2BC-2194DD035544}" created="2026-07-27T06:10:09.985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링크는 중국 경내책임자 수권서입니다. 확인필요</a:t>
        </a:r>
      </a:p>
    </p188:txBody>
  </p188:cm>
  <p188:cm id="{CBAD93F1-1E6F-42F3-A567-5898FFA87ED1}" authorId="{A1F4ACA4-32C5-3A05-D2BC-2194DD035544}" status="resolved" created="2026-08-04T07:12:52.12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33671870" sldId="269"/>
      <ac:graphicFrameMk id="4" creationId="{F1A06AF8-86D9-B422-495A-6A26E99D875D}"/>
    </ac:deMkLst>
    <p188:txBody>
      <a:bodyPr/>
      <a:lstStyle/>
      <a:p>
        <a:r>
          <a:rPr lang="ko-KR" altLang="en-US"/>
          <a:t>첨부파일 2-1</a:t>
        </a:r>
      </a:p>
    </p188:txBody>
  </p188:cm>
</p188:cmLst>
</file>

<file path=ppt/comments/modernComment_10E_115153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781C6-B913-461B-8C19-F26199FECA09}" authorId="{0A894E26-C7D1-BA6A-00B6-2540C16AE08A}" created="2026-10-01T06:08:52.1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0542362" sldId="270"/>
      <ac:graphicFrameMk id="4" creationId="{70C05311-DC1A-3D39-EF41-8AA2E25CA60A}"/>
      <ac:tblMk/>
      <ac:tcMk rowId="3129518004" colId="1944886688"/>
      <ac:txMk cp="4" len="10">
        <ac:context len="169" hash="3897045341"/>
      </ac:txMk>
    </ac:txMkLst>
    <p188:pos x="4355504" y="341869"/>
    <p188:replyLst>
      <p188:reply id="{B2114EC6-8B37-40ED-91CE-13CD7C3BB1BA}" authorId="{A1F4ACA4-32C5-3A05-D2BC-2194DD035544}" created="2026-10-06T09:12:25.700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화장품글로벌규제조화지원센터 게시글 연결</a:t>
        </a:r>
      </a:p>
    </p188:txBody>
  </p188:cm>
</p188:cmLst>
</file>

<file path=ppt/comments/modernComment_103_5D4170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1E4819-4C8B-48CF-B4A3-0AEB30708AAE}" authorId="{0A894E26-C7D1-BA6A-00B6-2540C16AE08A}" status="resolved" created="2026-07-22T10:17:26.6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1549504629" colId="3376188853"/>
      <ac:txMk cp="3" len="2">
        <ac:context len="6" hash="4185626708"/>
      </ac:txMk>
    </ac:txMkLst>
    <p188:pos x="1026976" y="1061054"/>
    <p188:replyLst>
      <p188:reply id="{EC269947-37B6-42C5-873D-63709FF41D2E}" authorId="{A1F4ACA4-32C5-3A05-D2BC-2194DD035544}" created="2026-07-27T09:15:28.539">
        <p188:txBody>
          <a:bodyPr/>
          <a:lstStyle/>
          <a:p>
            <a:r>
              <a:rPr lang="ko-KR" altLang="en-US"/>
              <a:t>수정 완료</a:t>
            </a:r>
          </a:p>
        </p188:txBody>
      </p188:reply>
      <p188:reply id="{082A2D8F-24E8-4A03-A29D-6F2C3DF56C99}" authorId="{0A894E26-C7D1-BA6A-00B6-2540C16AE08A}" created="2026-08-14T11:35:46.211">
        <p188:txBody>
          <a:bodyPr/>
          <a:lstStyle/>
          <a:p>
            <a:r>
              <a:rPr lang="ko-KR" altLang="en-US"/>
              <a:t>대제목을 '계약서 서식 참고'로 수정해주세요. 
타국가 동일 항목도 동일하게 수정</a:t>
            </a:r>
          </a:p>
        </p188:txBody>
      </p188:reply>
      <p188:reply id="{A073FA07-89CB-4C7A-B0B1-7CB9BDBD0FD3}" authorId="{A1F4ACA4-32C5-3A05-D2BC-2194DD035544}" created="2026-08-26T08:59:58.744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계약방식, 관련 기관 등 제목을 구체적으로 적어주는게 좋겠습니다.</a:t>
        </a:r>
      </a:p>
    </p188:txBody>
  </p188:cm>
  <p188:cm id="{73454397-A672-43B4-83A1-437BBDC617D4}" authorId="{0A894E26-C7D1-BA6A-00B6-2540C16AE08A}" status="resolved" created="2026-07-22T10:17:59.78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517785727" colId="4224328845"/>
      <ac:txMk cp="0">
        <ac:context len="240" hash="22125015"/>
      </ac:txMk>
    </ac:txMkLst>
    <p188:pos x="9925879" y="1560675"/>
    <p188:replyLst>
      <p188:reply id="{61BEBF0C-186F-40D4-9BEB-0132FDCE43C6}" authorId="{A1F4ACA4-32C5-3A05-D2BC-2194DD035544}" created="2026-07-27T09:21:33.770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무역협회, 코트라 등이 수출 계약과 직접적인 관련이 있는 기관인지 확인 부탁드립니다. </a:t>
        </a:r>
      </a:p>
    </p188:txBody>
  </p188:cm>
  <p188:cm id="{093FD1FF-E9E8-4734-8010-D06B7C83978B}" authorId="{0A894E26-C7D1-BA6A-00B6-2540C16AE08A}" status="resolved" created="2026-07-22T10:18:22.99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471127830" colId="4224328845"/>
      <ac:txMk cp="0" len="8">
        <ac:context len="9" hash="3114057886"/>
      </ac:txMk>
    </ac:txMkLst>
    <p188:pos x="2987751" y="2277112"/>
    <p188:replyLst>
      <p188:reply id="{EA2BD17F-D728-4D71-9BB6-BCFC833F5D93}" authorId="{A1F4ACA4-32C5-3A05-D2BC-2194DD035544}" created="2026-07-27T09:17:00.612">
        <p188:txBody>
          <a:bodyPr/>
          <a:lstStyle/>
          <a:p>
            <a:r>
              <a:rPr lang="ko-KR" altLang="en-US"/>
              <a:t>수정 완료</a:t>
            </a:r>
          </a:p>
        </p188:txBody>
      </p188:reply>
      <p188:reply id="{D09AAE9A-01CA-4902-A1F4-DC6477C4A62A}" authorId="{0A894E26-C7D1-BA6A-00B6-2540C16AE08A}" created="2026-08-14T11:25:21.044">
        <p188:txBody>
          <a:bodyPr/>
          <a:lstStyle/>
          <a:p>
            <a:r>
              <a:rPr lang="ko-KR" altLang="en-US"/>
              <a:t>두 링크가 같은 주소임, 1개로 통일</a:t>
            </a:r>
          </a:p>
        </p188:txBody>
      </p188:reply>
      <p188:reply id="{3FB27161-E12A-43F4-813A-0B728C80F11B}" authorId="{A1F4ACA4-32C5-3A05-D2BC-2194DD035544}" created="2026-08-21T05:42:11.673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사이트 연결 불가, 유효한 사이트로 안내 필요</a:t>
        </a:r>
      </a:p>
    </p188:txBody>
  </p188:cm>
  <p188:cm id="{5B152E13-568C-4889-8AE4-56A03A1551DB}" authorId="{A1F4ACA4-32C5-3A05-D2BC-2194DD035544}" status="resolved" created="2026-08-04T06:56:27.13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1549504629" colId="4224328845"/>
      <ac:txMk cp="0" len="5">
        <ac:context len="65" hash="3748602069"/>
      </ac:txMk>
    </ac:txMkLst>
    <p188:pos x="2323447" y="995424"/>
    <p188:txBody>
      <a:bodyPr/>
      <a:lstStyle/>
      <a:p>
        <a:r>
          <a:rPr lang="ko-KR" altLang="en-US"/>
          <a:t>첨부파일 1-1</a:t>
        </a:r>
      </a:p>
    </p188:txBody>
  </p188:cm>
  <p188:cm id="{E94C6499-D933-41DA-BF6B-0BA71F0664D7}" authorId="{0A894E26-C7D1-BA6A-00B6-2540C16AE08A}" created="2026-09-11T01:21:05.9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4569654" sldId="259"/>
      <ac:graphicFrameMk id="5" creationId="{02105134-4194-C6D1-D94E-2778D40821AF}"/>
      <ac:tblMk/>
      <ac:tcMk rowId="3517785727" colId="4224328845"/>
      <ac:txMk cp="172" len="67">
        <ac:context len="240" hash="22125015"/>
      </ac:txMk>
    </ac:txMkLst>
    <p188:pos x="6640945" y="2279981"/>
    <p188:replyLst>
      <p188:reply id="{1145CA4D-FB1B-406D-921B-B5C5267B3EE6}" authorId="{A1F4ACA4-32C5-3A05-D2BC-2194DD035544}" created="2026-09-17T08:10:20.489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콜론이 두번 들어가 있어 1개 기관을 말하는지 헷갈림. 아래와 같이 수정 요망
대만 (상표 출원 주무관청): 대만 경제부 지혜재산국(TIPO) — 대만 현지 상표(영문·중문·로고)의 출원 및 심사 관할</a:t>
        </a:r>
      </a:p>
    </p188:txBody>
  </p188:cm>
</p188:cmLst>
</file>

<file path=ppt/comments/modernComment_105_B40401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9F7276-AA18-4492-A4DF-9079BC8AE850}" authorId="{0A894E26-C7D1-BA6A-00B6-2540C16AE08A}" status="resolved" created="2026-07-22T10:30:10.42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20161421" sldId="261"/>
      <ac:graphicFrameMk id="4" creationId="{DC6E0229-3686-5145-6220-2CDA9B3FEFAC}"/>
      <ac:tblMk/>
      <ac:tcMk rowId="3471127830" colId="1944886688"/>
      <ac:txMk cp="0" len="21">
        <ac:context len="22" hash="2793271497"/>
      </ac:txMk>
    </ac:txMkLst>
    <p188:pos x="5490512" y="3170233"/>
    <p188:replyLst>
      <p188:reply id="{E0F7AF82-5F98-49E5-B376-E37C5D72634E}" authorId="{A1F4ACA4-32C5-3A05-D2BC-2194DD035544}" created="2026-07-27T06:10:03.036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링크는 중국 경내책임자 수권서입니다. 확인필요</a:t>
        </a:r>
      </a:p>
    </p188:txBody>
  </p188:cm>
  <p188:cm id="{88510659-8D92-4846-AA46-70962993CD8A}" authorId="{A1F4ACA4-32C5-3A05-D2BC-2194DD035544}" status="resolved" created="2026-08-04T07:11:31.73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20161421" sldId="261"/>
      <ac:graphicFrameMk id="4" creationId="{DC6E0229-3686-5145-6220-2CDA9B3FEFAC}"/>
    </ac:deMkLst>
    <p188:txBody>
      <a:bodyPr/>
      <a:lstStyle/>
      <a:p>
        <a:r>
          <a:rPr lang="ko-KR" altLang="en-US"/>
          <a:t>첨부파일 2-1</a:t>
        </a:r>
      </a:p>
    </p188:txBody>
  </p188:cm>
</p188:cmLst>
</file>

<file path=ppt/comments/modernComment_107_D4A2BB0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A38925-855F-428E-8B41-3F4084E0750C}" authorId="{0A894E26-C7D1-BA6A-00B6-2540C16AE08A}" created="2026-10-01T06:13:28.0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567434511" sldId="263"/>
      <ac:graphicFrameMk id="5" creationId="{97C0919B-94F1-A1B8-1461-5F92CD23F2E2}"/>
      <ac:tblMk/>
      <ac:tcMk rowId="3129518004" colId="4224328845"/>
      <ac:txMk cp="5" len="10">
        <ac:context len="97" hash="574715066"/>
      </ac:txMk>
    </ac:txMkLst>
    <p188:pos x="3460424" y="278240"/>
    <p188:replyLst>
      <p188:reply id="{83F50633-4BCC-42EC-B7F4-39138C7DBC64}" authorId="{A1F4ACA4-32C5-3A05-D2BC-2194DD035544}" created="2026-10-06T09:12:37.606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화장품글로벌규제조화지원센터 게시글 연결</a:t>
        </a:r>
      </a:p>
    </p188:txBody>
  </p188:cm>
</p188:cmLst>
</file>

<file path=ppt/comments/modernComment_109_8180DC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FD163D-309E-4B85-A8B8-083F35F3E73B}" authorId="{0A894E26-C7D1-BA6A-00B6-2540C16AE08A}" status="resolved" created="2026-07-22T10:35:22.46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517785727" colId="4224328845"/>
      <ac:txMk cp="13" len="12">
        <ac:context len="67" hash="4134457761"/>
      </ac:txMk>
    </ac:txMkLst>
    <p188:pos x="3110300" y="1538555"/>
    <p188:replyLst>
      <p188:reply id="{9B0C702B-F63E-46D0-A63D-3BAF0DC522C7}" authorId="{A1F4ACA4-32C5-3A05-D2BC-2194DD035544}" created="2026-07-27T06:17:05.541">
        <p188:txBody>
          <a:bodyPr/>
          <a:lstStyle/>
          <a:p>
            <a:r>
              <a:rPr lang="ko-KR" altLang="en-US"/>
              <a:t>수정완료</a:t>
            </a:r>
          </a:p>
        </p188:txBody>
      </p188:reply>
    </p188:replyLst>
    <p188:txBody>
      <a:bodyPr/>
      <a:lstStyle/>
      <a:p>
        <a:r>
          <a:rPr lang="ko-KR" altLang="en-US"/>
          <a:t>KCA</a:t>
        </a:r>
      </a:p>
    </p188:txBody>
  </p188:cm>
  <p188:cm id="{2627FC6C-933B-4B8B-8CFF-BB20B3E53314}" authorId="{0A894E26-C7D1-BA6A-00B6-2540C16AE08A}" status="resolved" created="2026-07-22T10:35:54.66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129518004" colId="4224328845"/>
      <ac:txMk cp="107" len="12">
        <ac:context len="285" hash="1123994848"/>
      </ac:txMk>
    </ac:txMkLst>
    <p188:pos x="3044312" y="727850"/>
    <p188:replyLst>
      <p188:reply id="{C3EF9310-8B19-4C12-9A6A-F183D05D04D0}" authorId="{A1F4ACA4-32C5-3A05-D2BC-2194DD035544}" created="2026-07-27T06:19:02.243">
        <p188:txBody>
          <a:bodyPr/>
          <a:lstStyle/>
          <a:p>
            <a:r>
              <a:rPr lang="ko-KR" altLang="en-US"/>
              <a:t>- 대만은 아포스티유 협약국이 아니므로, 해당 인증 적용 불가.
- 주한국대만대표부 인증 필요.</a:t>
            </a:r>
          </a:p>
        </p188:txBody>
      </p188:reply>
    </p188:replyLst>
    <p188:txBody>
      <a:bodyPr/>
      <a:lstStyle/>
      <a:p>
        <a:r>
          <a:rPr lang="ko-KR" altLang="en-US"/>
          <a:t>대표부 인증, 아포스티유 인증 등이 필요한지</a:t>
        </a:r>
      </a:p>
    </p188:txBody>
  </p188:cm>
  <p188:cm id="{1E808000-DB10-4A38-9FAE-AFEBA97E7A46}" authorId="{A1F4ACA4-32C5-3A05-D2BC-2194DD035544}" status="resolved" created="2026-08-04T07:15:07.43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16" len="6">
        <ac:context len="145" hash="1936381301"/>
      </ac:txMk>
    </ac:txMkLst>
    <p188:pos x="2586684" y="2451598"/>
    <p188:txBody>
      <a:bodyPr/>
      <a:lstStyle/>
      <a:p>
        <a:r>
          <a:rPr lang="ko-KR" altLang="en-US"/>
          <a:t>첨부파일 4-1</a:t>
        </a:r>
      </a:p>
    </p188:txBody>
  </p188:cm>
  <p188:cm id="{13F74E3F-0E2B-4CDD-9E3C-4CFE1800C381}" authorId="{A1F4ACA4-32C5-3A05-D2BC-2194DD035544}" status="resolved" created="2026-08-04T07:15:22.49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28" len="5">
        <ac:context len="145" hash="1936381301"/>
      </ac:txMk>
    </ac:txMkLst>
    <p188:pos x="2461993" y="2908798"/>
    <p188:txBody>
      <a:bodyPr/>
      <a:lstStyle/>
      <a:p>
        <a:r>
          <a:rPr lang="ko-KR" altLang="en-US"/>
          <a:t>첨부파일 4-2</a:t>
        </a:r>
      </a:p>
    </p188:txBody>
  </p188:cm>
  <p188:cm id="{A5DD28F5-81BD-4F41-934E-DC985AF2F988}" authorId="{A1F4ACA4-32C5-3A05-D2BC-2194DD035544}" status="resolved" created="2026-08-04T07:15:31.54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36" len="5">
        <ac:context len="145" hash="1936381301"/>
      </ac:txMk>
    </ac:txMkLst>
    <p188:pos x="2461993" y="3137398"/>
    <p188:txBody>
      <a:bodyPr/>
      <a:lstStyle/>
      <a:p>
        <a:r>
          <a:rPr lang="ko-KR" altLang="en-US"/>
          <a:t>첨부파일 4-3</a:t>
        </a:r>
      </a:p>
    </p188:txBody>
  </p188:cm>
  <p188:cm id="{296F9CA2-1EDF-4245-B24D-C37C49A69663}" authorId="{A1F4ACA4-32C5-3A05-D2BC-2194DD035544}" status="resolved" created="2026-08-04T07:17:25.3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42" len="5">
        <ac:context len="145" hash="1936381301"/>
      </ac:txMk>
    </ac:txMkLst>
    <p188:pos x="2545120" y="3365998"/>
    <p188:txBody>
      <a:bodyPr/>
      <a:lstStyle/>
      <a:p>
        <a:r>
          <a:rPr lang="ko-KR" altLang="en-US"/>
          <a:t>첨부파일 4-4</a:t>
        </a:r>
      </a:p>
    </p188:txBody>
  </p188:cm>
  <p188:cm id="{29D8CBA2-6CBE-430C-BBA4-71482B6DA912}" authorId="{A1F4ACA4-32C5-3A05-D2BC-2194DD035544}" status="resolved" created="2026-08-04T07:17:40.02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48" len="4">
        <ac:context len="145" hash="1936381301"/>
      </ac:txMk>
    </ac:txMkLst>
    <p188:pos x="2371938" y="3594598"/>
    <p188:txBody>
      <a:bodyPr/>
      <a:lstStyle/>
      <a:p>
        <a:r>
          <a:rPr lang="ko-KR" altLang="en-US"/>
          <a:t>첨부파일 4-5</a:t>
        </a:r>
      </a:p>
    </p188:txBody>
  </p188:cm>
  <p188:cm id="{FF736CDF-0B02-4847-AE6B-801ECDF4DCB5}" authorId="{A1F4ACA4-32C5-3A05-D2BC-2194DD035544}" status="resolved" created="2026-08-04T07:17:51.88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62" len="7">
        <ac:context len="145" hash="1936381301"/>
      </ac:txMk>
    </ac:txMkLst>
    <p188:pos x="3909793" y="3594598"/>
    <p188:txBody>
      <a:bodyPr/>
      <a:lstStyle/>
      <a:p>
        <a:r>
          <a:rPr lang="ko-KR" altLang="en-US"/>
          <a:t>첨부파일 4-6</a:t>
        </a:r>
      </a:p>
    </p188:txBody>
  </p188:cm>
  <p188:cm id="{581B54F9-5846-4AD0-BA5E-0B6D9D9FB73F}" authorId="{A1F4ACA4-32C5-3A05-D2BC-2194DD035544}" status="resolved" created="2026-08-04T07:18:05.49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72705978" sldId="265"/>
      <ac:graphicFrameMk id="5" creationId="{5A010D71-C422-55B7-5795-102E23034F84}"/>
      <ac:tblMk/>
      <ac:tcMk rowId="3471127830" colId="4224328845"/>
      <ac:txMk cp="118" len="15">
        <ac:context len="145" hash="1936381301"/>
      </ac:txMk>
    </ac:txMkLst>
    <p188:pos x="3563429" y="4280398"/>
    <p188:txBody>
      <a:bodyPr/>
      <a:lstStyle/>
      <a:p>
        <a:r>
          <a:rPr lang="ko-KR" altLang="en-US"/>
          <a:t>첨부파일 4-7</a:t>
        </a:r>
      </a:p>
    </p188:txBody>
  </p188:cm>
</p188:cmLst>
</file>

<file path=ppt/comments/modernComment_111_5C88F3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842EA3-088C-4D31-AE7B-1B64B869857F}" authorId="{0A894E26-C7D1-BA6A-00B6-2540C16AE08A}" status="resolved" created="2026-07-22T10:34:45.9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52479142" sldId="273"/>
      <ac:graphicFrameMk id="5" creationId="{AE600061-8BC2-BC83-DD5E-1B7678FCF729}"/>
      <ac:tblMk/>
      <ac:tcMk rowId="2922806760" colId="4224328845"/>
      <ac:txMk cp="0" len="9">
        <ac:context len="35" hash="1535366817"/>
      </ac:txMk>
    </ac:txMkLst>
    <p188:pos x="2742655" y="779193"/>
    <p188:replyLst>
      <p188:reply id="{131B61FB-A2D4-4057-A546-F4F46E68CF88}" authorId="{A1F4ACA4-32C5-3A05-D2BC-2194DD035544}" created="2026-07-27T06:15:36.177">
        <p188:txBody>
          <a:bodyPr/>
          <a:lstStyle/>
          <a:p>
            <a:r>
              <a:rPr lang="ko-KR" altLang="en-US"/>
              <a:t>수정 완료</a:t>
            </a:r>
          </a:p>
        </p188:txBody>
      </p188:reply>
      <p188:reply id="{E19117FF-C247-449B-8900-AC8E60A55A17}" authorId="{0A894E26-C7D1-BA6A-00B6-2540C16AE08A}" created="2026-08-14T11:30:34.382">
        <p188:txBody>
          <a:bodyPr/>
          <a:lstStyle/>
          <a:p>
            <a:r>
              <a:rPr lang="ko-KR" altLang="en-US"/>
              <a:t>괄호 추가함</a:t>
            </a:r>
          </a:p>
        </p188:txBody>
      </p188:reply>
      <p188:reply id="{09659C29-2EC4-43C5-8AC7-4E6230EFD49D}" authorId="{A1F4ACA4-32C5-3A05-D2BC-2194DD035544}" created="2026-08-21T05:42:23.805">
        <p188:txBody>
          <a:bodyPr/>
          <a:lstStyle/>
          <a:p>
            <a:r>
              <a:rPr lang="ko-KR" altLang="en-US"/>
              <a:t>확인 완료</a:t>
            </a:r>
          </a:p>
        </p188:txBody>
      </p188:reply>
    </p188:replyLst>
    <p188:txBody>
      <a:bodyPr/>
      <a:lstStyle/>
      <a:p>
        <a:r>
          <a:rPr lang="ko-KR" altLang="en-US"/>
          <a:t>유효기간 만료 3개월전에 등록 연장 추가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0296A-37F5-4486-811F-1F151C3867D4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3CB24-8E61-43D1-88DB-FA93509BE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3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0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2671-E877-D5D6-4601-478E3A8F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B0194-5695-2806-F28B-9A5625B77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871D-D11A-6DE6-3509-3CFEF9063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42430-78D4-F427-FD92-5FF669022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755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E9F3-F229-908B-5AEF-869AFC3C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1D6A3F-2018-AB27-DC42-3B9399A2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EA74F9-900F-033F-1D0B-D0AC8910E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C19A58-9378-BDC4-75F9-B9005CDB5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70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C53D-EEC4-E960-5497-6B7CDED5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178192-9BE4-72E4-DD87-820776953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9C13FD-5025-D984-BDCD-C1977FCB1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C60E00-2E53-0C03-230C-6B6E4772B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688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52CB2-3835-E107-69EB-E0D96F59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D7A029-FE66-41B7-DA4D-2C575CECC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66734-FE63-3B0D-6190-A28F46054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448A2E-23A3-BA8F-041D-EB94CE070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378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C2EF-C514-5342-3210-2C26FD07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80B48B-3F72-8FE2-A17C-C1314FA82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81041-9373-4B53-8EDC-C8D912E91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407006-6A30-854E-3FF5-6B865EF05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151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A61E-EBF4-E73A-D955-6B64B72B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3CE03C-7258-F9AF-EDFA-DBA7DAB4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DD7E6-6005-3BEE-4315-C06E5CC6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5092-7227-670A-902F-205D595B5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92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7EEF-4EA4-6366-2B7B-9C344F64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B27568-FF6D-0D52-3295-6994DE3C3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282F27-7B6D-E714-D686-B950A59E7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341FA-AD24-E05F-2E62-B820F7E5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388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C154-A05A-806E-4FEC-26386E4E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980AF5-18B8-304F-05C9-23AEF0C58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AB7A41-C97C-88E4-2A6B-A0DA7A5B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D8C99-80CE-FEC2-F7E5-F6CB1EAC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16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F2C7-45ED-1DEE-21FE-C173803D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CB8CA7-E68C-AF77-1BB0-A94E47D5D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F5697C-9EC1-5E21-EF42-71EB0B6E1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D30E1-7D99-6D68-12F8-7262A366C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536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9A3C-4B2D-43DA-0B8C-6023CE0E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6733A-84E2-6B47-C6DE-D759358A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6B3639-2656-8005-D570-67ADEBA32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26837-CBDC-1AB9-7BDF-CD81DAA92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52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40CC-3F41-18CB-5F67-5E51C12D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BDAD5C-AECE-29D7-2920-48A37AA9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47C534-07BB-BAD1-D21B-52CC5EB0F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D413C-C63D-9E80-05DC-0F2770FB5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088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B32B-9547-1EA4-D683-8E77F808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C56436-40EF-F771-5EC5-59C9C7318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137AEE-BEE4-7D06-EC8F-B06C2AAD5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6F8733-39A9-2A9A-9FF2-008117674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57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0CD7-8643-6386-EE7D-A04C5D42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5E5019-3088-5529-2F45-904E51557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3226B-28A0-EE94-BB4A-571AECCA8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BA93F-A02D-41CC-8C12-347E5976D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08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11911-A632-FF2B-9824-139E2B20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5658E6-91F7-1318-C745-3422080C4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D7F8B-CD56-756F-5FFF-25199AA09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83902-4BD3-0023-678F-4C9550B86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0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D875F-BAB8-5C93-2928-688B69945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D53E41-CB99-5199-4CE4-84EDCE52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247C8-E091-B88F-A502-57553B03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A3CE-9F41-4755-BD89-B8F96F6CA52F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98D7E-4729-3993-8A65-B31458D1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724FF-FB37-328E-A2DE-B6E08D9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26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946C8-80A0-5B81-FBB6-719E5E60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EB2D8-8763-34A6-24FC-F4E8E4A2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E46C1-7190-86C5-C648-9FB280DC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5AA9-6E75-4428-81B9-22F9BBA1DE22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3F34C-F898-13F3-4F5E-8923162D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8AB0A-17FD-84BC-6ACE-DD42442F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7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ACAA7-9DA5-AAB7-1431-5167F6A5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116F8-3FCD-05B8-807F-A3A226BE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EEDED-6FA2-E0FF-519B-0484118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908A-6451-4184-9C4A-D5001FCA47B5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AF6DF-CC74-9389-3BF7-BDC5AF64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9DC8C-4E57-027B-CD3D-4B0CBA81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A764-4BEA-6099-9EFF-B3FB88D3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42AD-8F38-3095-9C73-DD921303E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3F5D8-C9F3-AE91-EB1C-AFCEA4E6E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A1A64-15AC-E047-12CA-EAB2BF03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7372-EBBA-4AB8-B080-55E522733C88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64B5CA-1F5B-C372-4896-9A0B9D2D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F9928-EF90-2B33-102B-35F53AD2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78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F8FFA-2D94-F21E-4220-EB5BF32C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458E5-3E28-A6CD-0540-D54A6AB7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D0E45-E5DA-01F7-9002-245E4A741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69FFE9-4DEB-A05B-06D8-966D36973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01E8C7-CFED-115F-B43D-9D5495F29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29784-E343-B56A-9A40-54156030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C052-E86B-44F9-9923-64875CE0E88B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01ECC4-AF50-1E02-2E3A-F030335C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1970BA-AAA0-6E8D-626D-470DCB3D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AB843-3EFB-A73F-3F11-1F950CDE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D388AB-B3C6-0B15-4441-88E1AB2A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D5224-92B9-4873-86C6-15FE5B2FCEEE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82B8CB-33DC-E5C2-2843-D52F6329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CDE1E6-4D17-B87B-8DA0-DE12618B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43382-BC93-4A4B-A5D8-E014E3CD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191C-8136-4662-896F-EDE56B4A68B7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1495C0-B422-2FFF-4B66-6C75BBD6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C3A6E3-1011-AC53-8B16-995F177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DE26C-AD75-B5B6-122E-449E7B67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6AD3D6-AC81-AE3B-1BF4-C2B694F9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AD67-947A-FBD6-DEC1-F9E7547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13D56-DCA3-1E26-8401-E4789755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78F9F-4380-4946-A3DC-3A905C8F68F1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858F4-BD94-3788-75EE-86F5917C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93FFC-5367-3921-5F0E-DE2A2049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0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5D17E-C962-419F-6CB2-1ACCB20A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7F4866-D8EC-59B6-2469-6EFB869AA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51D3A-0EB6-D5E4-BAC5-65F401F9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568017-B4C4-6E5D-AC89-1F4715AA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B0FE-C5EC-48FA-8ACD-CE9794A99755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4AC29-534C-B2A0-3265-29F973E3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B1289-A1C9-03BF-C71E-3B01ECD4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41219-F7ED-0239-BE15-8B518372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D74B3B-2EA2-77E6-BC7A-EF87C7336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58B41-0809-63EC-1C09-176E2434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ECE-1523-4889-BF60-77DE0CE3B1DD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6A076-1003-1D1A-F110-035A38C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D095D-7588-3AA9-D264-CD657171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BB902B-06E1-388A-F7AC-94E3C68E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A6EBF-0175-074D-C2F4-4D6B19FB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EA5D1-50F8-9938-DC87-6F73C8B7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D826-8C48-4997-9365-58C27656BDE5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C0DD5-9E99-A1A8-1B51-D70EFC7A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4D55B-5BF4-88B2-42CE-3D3EFD65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87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66F1F1-BA6E-5967-D6DB-917D0B0C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D1D2B-4F1D-4D3D-15CA-52CFA0D00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7C7CA-3560-F8E5-C111-89513AE9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CAB01-FD0B-4995-A3A2-DDEEA0E70F40}" type="datetime1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BD641-FF63-0838-78C7-0CF04EE6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C7F3F-6F01-3F52-D7D1-70FFE6C7A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5D41703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ita.net/board/format/formatDetail.do?postIndex=186391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tipo.gov.tw/S282/S282WV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B404018D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da.gov.tw/ENG/siteListContent.aspx?sid=10334&amp;id=4118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EA7711BE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da.gov.tw/ENG/siteListContent.aspx?sid=10334&amp;id=4118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1151531A.xml"/><Relationship Id="rId7" Type="http://schemas.openxmlformats.org/officeDocument/2006/relationships/hyperlink" Target="https://helpcosmetic.or.kr/pc/license/license02.php?ptype=view&amp;idx=5823&amp;page=1&amp;code=foreign&amp;searchopt=&amp;searchkey=%ED%99%94%EC%9E%A5%ED%92%88%20%EC%A0%9C%ED%92%88%EC%A0%95%EB%B3%B4%20%EB%AC%B8%EC%84%9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elpcosmetic.or.kr/pc/license/license02.php?ptype=view&amp;idx=5630&amp;page=1&amp;code=foreign&amp;searchopt=&amp;searchkey=%ED%99%94%EC%9E%A5%ED%92%88%20%EC%A0%9C%ED%92%88%EC%A0%95%EB%B3%B4%20%EB%AC%B8%EC%84%9C%EC%9E%91%EC%84%B1%20%EB%A7%A4%EB%89%B4%EC%96%BC" TargetMode="External"/><Relationship Id="rId5" Type="http://schemas.openxmlformats.org/officeDocument/2006/relationships/hyperlink" Target="https://helpcosmetic.or.kr/pc/license/license02.php?ptype=view&amp;idx=5629&amp;page=1&amp;code=foreign&amp;searchopt=&amp;searchkey=%EB%A7%A4%EB%89%B4%EC%96%BC" TargetMode="External"/><Relationship Id="rId4" Type="http://schemas.openxmlformats.org/officeDocument/2006/relationships/hyperlink" Target="https://helpcosmetic.or.kr/pc/license/license02.php?ptype=view&amp;idx=5668&amp;page=1&amp;code=foreign&amp;searchopt=&amp;searchkey=%EC%9C%84%EC%83%9D%EC%95%88%EC%A0%8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65584E7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cia.or.kr/inc/down.php?dir=BOARD&amp;file_name=202310_169640754590651_1.docx&amp;rename=%ED%99%94%EC%9E%A5%ED%92%88+%EC%A0%9C%ED%92%88%EC%A0%95%EB%B3%B4+%EB%AC%B8%EC%84%9C%EC%9E%91%EC%84%B1+%EB%A7%A4%EB%89%B4%EC%96%BC_%EA%B5%AD%EB%AC%B8.doc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D4A2BB0F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s.fda.gov.tw/TCAL/" TargetMode="External"/><Relationship Id="rId4" Type="http://schemas.openxmlformats.org/officeDocument/2006/relationships/hyperlink" Target="https://helpcosmetic.or.kr/pc/license/license02.php?ptype=view&amp;idx=5668&amp;page=1&amp;code=foreign&amp;searchopt=&amp;searchkey=%EC%9C%84%EC%83%9D%EC%95%88%EC%A0%8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5C88F3A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kcia.or.kr/home/law/%EC%84%A0%ED%95%98%EC%A6%9D%EA%B6%8C.pdf" TargetMode="External"/><Relationship Id="rId3" Type="http://schemas.microsoft.com/office/2018/10/relationships/comments" Target="../comments/modernComment_109_8180DCBA.xml"/><Relationship Id="rId7" Type="http://schemas.openxmlformats.org/officeDocument/2006/relationships/hyperlink" Target="https://www.kita.net/board/format/formatDetail.do?postIndex=1863940" TargetMode="External"/><Relationship Id="rId12" Type="http://schemas.openxmlformats.org/officeDocument/2006/relationships/hyperlink" Target="https://unipass.customs.go.kr/clip/index.d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ita.net/board/format/formatDetail.do?postIndex=1863877" TargetMode="External"/><Relationship Id="rId11" Type="http://schemas.openxmlformats.org/officeDocument/2006/relationships/hyperlink" Target="https://kcia.or.kr/home/law/%EA%B8%B0%ED%83%80%20%EC%88%98%EC%B6%9C%ED%86%B5%EA%B4%80%EC%97%90%20%ED%95%84%EC%9A%94%ED%95%9C%20%EC%84%9C%EB%A5%98.pdf" TargetMode="External"/><Relationship Id="rId5" Type="http://schemas.openxmlformats.org/officeDocument/2006/relationships/hyperlink" Target="https://www.kita.net/board/format/formatDetail.do?postIndex=1720212" TargetMode="External"/><Relationship Id="rId10" Type="http://schemas.openxmlformats.org/officeDocument/2006/relationships/hyperlink" Target="https://kcia.or.kr/cert/main/" TargetMode="External"/><Relationship Id="rId4" Type="http://schemas.openxmlformats.org/officeDocument/2006/relationships/hyperlink" Target="https://www.kita.net/board/format/formatDetail.do?postIndex=1863914" TargetMode="External"/><Relationship Id="rId9" Type="http://schemas.openxmlformats.org/officeDocument/2006/relationships/hyperlink" Target="https://www.kita.net/board/format/formatDetail.do?postIndex=1719028&amp;ContentsID=KI_cmmrcFormat_1719028&amp;query=AWB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ustoms.gov.tw/en/singlehtml/3333?cntId=ef481d6f272c42ac98dca2c33502bb7c" TargetMode="External"/><Relationship Id="rId3" Type="http://schemas.microsoft.com/office/2018/10/relationships/comments" Target="../comments/modernComment_10A_741D51D9.xml"/><Relationship Id="rId7" Type="http://schemas.openxmlformats.org/officeDocument/2006/relationships/hyperlink" Target="https://www.kita.net/board/format/formatDetail.do?postIndex=1719028&amp;ContentsID=KI_cmmrcFormat_1719028&amp;query=AW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cia.or.kr/home/law/%EC%84%A0%ED%95%98%EC%A6%9D%EA%B6%8C.pdf" TargetMode="External"/><Relationship Id="rId5" Type="http://schemas.openxmlformats.org/officeDocument/2006/relationships/hyperlink" Target="https://www.kita.net/board/format/formatDetail.do?postIndex=1863940" TargetMode="External"/><Relationship Id="rId4" Type="http://schemas.openxmlformats.org/officeDocument/2006/relationships/hyperlink" Target="https://www.kita.net/board/format/formatDetail.do?postIndex=1720212" TargetMode="External"/><Relationship Id="rId9" Type="http://schemas.openxmlformats.org/officeDocument/2006/relationships/hyperlink" Target="https://kcia.or.kr/cert/main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09DE6-98AB-F74A-6E1A-702F5B5FE769}"/>
              </a:ext>
            </a:extLst>
          </p:cNvPr>
          <p:cNvSpPr txBox="1"/>
          <p:nvPr/>
        </p:nvSpPr>
        <p:spPr>
          <a:xfrm>
            <a:off x="748029" y="3022573"/>
            <a:ext cx="578835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대만 화장품 수출 절차</a:t>
            </a:r>
            <a:endParaRPr lang="en-US" altLang="ko-KR" sz="2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1EE082-5763-BBC2-27F9-E9FBDA49A81B}"/>
              </a:ext>
            </a:extLst>
          </p:cNvPr>
          <p:cNvCxnSpPr>
            <a:cxnSpLocks/>
          </p:cNvCxnSpPr>
          <p:nvPr/>
        </p:nvCxnSpPr>
        <p:spPr>
          <a:xfrm>
            <a:off x="831214" y="865238"/>
            <a:ext cx="1052957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9B2F4-242E-2147-7726-E9D9B62CCE4E}"/>
              </a:ext>
            </a:extLst>
          </p:cNvPr>
          <p:cNvCxnSpPr>
            <a:cxnSpLocks/>
          </p:cNvCxnSpPr>
          <p:nvPr/>
        </p:nvCxnSpPr>
        <p:spPr>
          <a:xfrm>
            <a:off x="831213" y="5963264"/>
            <a:ext cx="105295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9846CE-48A0-6697-0721-F936EF05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70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2FBC-0B1A-6851-C7D7-07C8FC8A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CC7D37-5200-538A-9716-EAF5C42F5E77}"/>
              </a:ext>
            </a:extLst>
          </p:cNvPr>
          <p:cNvSpPr txBox="1"/>
          <p:nvPr/>
        </p:nvSpPr>
        <p:spPr>
          <a:xfrm>
            <a:off x="468066" y="528935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대만 화장품 수출 규제 주요 절차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5DE328D-7EF7-243B-58B1-7986AF8FB02B}"/>
              </a:ext>
            </a:extLst>
          </p:cNvPr>
          <p:cNvCxnSpPr>
            <a:stCxn id="37" idx="1"/>
            <a:endCxn id="41" idx="3"/>
          </p:cNvCxnSpPr>
          <p:nvPr/>
        </p:nvCxnSpPr>
        <p:spPr>
          <a:xfrm flipV="1">
            <a:off x="1258418" y="3168156"/>
            <a:ext cx="9639177" cy="8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림 36" descr="image.png">
            <a:extLst>
              <a:ext uri="{FF2B5EF4-FFF2-40B4-BE49-F238E27FC236}">
                <a16:creationId xmlns:a16="http://schemas.microsoft.com/office/drawing/2014/main" id="{F5BABE82-B9C2-64E7-4C1C-58C588C29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18" y="2838042"/>
            <a:ext cx="676275" cy="676275"/>
          </a:xfrm>
          <a:prstGeom prst="rect">
            <a:avLst/>
          </a:prstGeom>
        </p:spPr>
      </p:pic>
      <p:pic>
        <p:nvPicPr>
          <p:cNvPr id="38" name="그림 37" descr="image.png">
            <a:extLst>
              <a:ext uri="{FF2B5EF4-FFF2-40B4-BE49-F238E27FC236}">
                <a16:creationId xmlns:a16="http://schemas.microsoft.com/office/drawing/2014/main" id="{F8B0D134-FA86-31C3-84C2-2413CE4D2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660" y="2838040"/>
            <a:ext cx="676275" cy="676275"/>
          </a:xfrm>
          <a:prstGeom prst="rect">
            <a:avLst/>
          </a:prstGeom>
        </p:spPr>
      </p:pic>
      <p:pic>
        <p:nvPicPr>
          <p:cNvPr id="39" name="그림 38" descr="image.png">
            <a:extLst>
              <a:ext uri="{FF2B5EF4-FFF2-40B4-BE49-F238E27FC236}">
                <a16:creationId xmlns:a16="http://schemas.microsoft.com/office/drawing/2014/main" id="{BD3463EC-A985-5078-C84D-F4E24E3E2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880" y="2838040"/>
            <a:ext cx="676275" cy="676275"/>
          </a:xfrm>
          <a:prstGeom prst="rect">
            <a:avLst/>
          </a:prstGeom>
        </p:spPr>
      </p:pic>
      <p:pic>
        <p:nvPicPr>
          <p:cNvPr id="40" name="그림 39" descr="image.png">
            <a:extLst>
              <a:ext uri="{FF2B5EF4-FFF2-40B4-BE49-F238E27FC236}">
                <a16:creationId xmlns:a16="http://schemas.microsoft.com/office/drawing/2014/main" id="{928A5AC3-8AAB-E3ED-DF6A-AD3575521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100" y="2834029"/>
            <a:ext cx="676275" cy="676275"/>
          </a:xfrm>
          <a:prstGeom prst="rect">
            <a:avLst/>
          </a:prstGeom>
        </p:spPr>
      </p:pic>
      <p:pic>
        <p:nvPicPr>
          <p:cNvPr id="41" name="그림 40" descr="image.png">
            <a:extLst>
              <a:ext uri="{FF2B5EF4-FFF2-40B4-BE49-F238E27FC236}">
                <a16:creationId xmlns:a16="http://schemas.microsoft.com/office/drawing/2014/main" id="{DD2C18F0-4C79-36DB-7BB4-14CD83128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320" y="2830018"/>
            <a:ext cx="676275" cy="676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B3362-89A1-5352-81BE-13FBEA4DFE7F}"/>
              </a:ext>
            </a:extLst>
          </p:cNvPr>
          <p:cNvSpPr txBox="1"/>
          <p:nvPr/>
        </p:nvSpPr>
        <p:spPr>
          <a:xfrm>
            <a:off x="548905" y="3628652"/>
            <a:ext cx="2092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 계약 및 상표등록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DAB86-61EA-F351-784E-E59DB8A713FD}"/>
              </a:ext>
            </a:extLst>
          </p:cNvPr>
          <p:cNvSpPr txBox="1"/>
          <p:nvPr/>
        </p:nvSpPr>
        <p:spPr>
          <a:xfrm>
            <a:off x="2641704" y="3626293"/>
            <a:ext cx="25394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latin typeface="+mn-ea"/>
              </a:rPr>
              <a:t>대만 내 수입업자 </a:t>
            </a:r>
            <a:endParaRPr lang="en-US" altLang="ko-KR" sz="1400" b="1" dirty="0">
              <a:latin typeface="+mn-ea"/>
            </a:endParaRPr>
          </a:p>
          <a:p>
            <a:pPr algn="ctr">
              <a:buNone/>
            </a:pPr>
            <a:r>
              <a:rPr lang="en-US" altLang="ko-KR" sz="1400" b="1" dirty="0">
                <a:effectLst/>
                <a:latin typeface="+mn-ea"/>
              </a:rPr>
              <a:t>(</a:t>
            </a:r>
            <a:r>
              <a:rPr lang="ko-KR" altLang="ko-KR" sz="1400" dirty="0"/>
              <a:t>化粧品製造或輸入業者</a:t>
            </a:r>
            <a:r>
              <a:rPr lang="en-US" altLang="ko-KR" sz="1400" dirty="0"/>
              <a:t>)</a:t>
            </a:r>
            <a:endParaRPr lang="en-US" altLang="ko-KR" sz="1400" b="1" dirty="0">
              <a:effectLst/>
              <a:latin typeface="+mn-ea"/>
            </a:endParaRPr>
          </a:p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선임 및 </a:t>
            </a:r>
            <a:r>
              <a:rPr lang="en-US" altLang="ko-KR" sz="1400" b="1" dirty="0">
                <a:latin typeface="+mn-ea"/>
              </a:rPr>
              <a:t>PIF </a:t>
            </a:r>
            <a:r>
              <a:rPr lang="ko-KR" altLang="en-US" sz="1400" b="1" dirty="0">
                <a:latin typeface="+mn-ea"/>
              </a:rPr>
              <a:t>준비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8DDE0-7557-8987-6BA4-B86612CDB75B}"/>
              </a:ext>
            </a:extLst>
          </p:cNvPr>
          <p:cNvSpPr txBox="1"/>
          <p:nvPr/>
        </p:nvSpPr>
        <p:spPr>
          <a:xfrm>
            <a:off x="5163761" y="3626294"/>
            <a:ext cx="1734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제품 등록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65672-D904-EADB-9341-30664BA180F8}"/>
              </a:ext>
            </a:extLst>
          </p:cNvPr>
          <p:cNvSpPr txBox="1"/>
          <p:nvPr/>
        </p:nvSpPr>
        <p:spPr>
          <a:xfrm>
            <a:off x="7526648" y="3626293"/>
            <a:ext cx="153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수출통관</a:t>
            </a:r>
            <a:r>
              <a:rPr lang="en-US" altLang="ko-KR" sz="1400" b="1" dirty="0">
                <a:effectLst/>
                <a:latin typeface="+mn-ea"/>
              </a:rPr>
              <a:t>/</a:t>
            </a:r>
            <a:r>
              <a:rPr lang="ko-KR" altLang="en-US" sz="1400" b="1" dirty="0">
                <a:effectLst/>
                <a:latin typeface="+mn-ea"/>
              </a:rPr>
              <a:t>선적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56D04-CF8D-4AB2-C8E0-9F763C78BC3F}"/>
              </a:ext>
            </a:extLst>
          </p:cNvPr>
          <p:cNvSpPr txBox="1"/>
          <p:nvPr/>
        </p:nvSpPr>
        <p:spPr>
          <a:xfrm>
            <a:off x="9916323" y="3626293"/>
            <a:ext cx="1286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현지통관 및 시판 후 관리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29F743-22D5-89DF-017B-F2904CBA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3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F7ACC-B461-3E59-D2A7-855FA51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105134-4194-C6D1-D94E-2778D4082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84503"/>
              </p:ext>
            </p:extLst>
          </p:nvPr>
        </p:nvGraphicFramePr>
        <p:xfrm>
          <a:off x="405898" y="1616158"/>
          <a:ext cx="11178501" cy="43312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설명 또는 정의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수출을 위해 수출자와 대만 구매자 또는 수입자 간 제품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가격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결제조건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인도조건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납기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인허가 책임 등 주요 거래조건을 확정하는 단계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계약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수출계약서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(PO),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주문확인서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(Proforma Invoice)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등을 통해 거래조건 확정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관련 기관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ko-KR" sz="1000" b="0" dirty="0"/>
                        <a:t>국내 (계약 </a:t>
                      </a:r>
                      <a:r>
                        <a:rPr lang="ko-KR" altLang="ko-KR" sz="1000" b="0" dirty="0" err="1"/>
                        <a:t>서식·보험·중재</a:t>
                      </a:r>
                      <a:r>
                        <a:rPr lang="ko-KR" altLang="ko-KR" sz="1000" b="0" dirty="0"/>
                        <a:t>):</a:t>
                      </a:r>
                    </a:p>
                    <a:p>
                      <a:r>
                        <a:rPr lang="ko-KR" altLang="ko-KR" sz="1000" b="0" dirty="0"/>
                        <a:t>한국무역협회(KITA) / 통합무역정보서비스(</a:t>
                      </a:r>
                      <a:r>
                        <a:rPr lang="ko-KR" altLang="ko-KR" sz="1000" b="0" dirty="0" err="1"/>
                        <a:t>TradeNAVI</a:t>
                      </a:r>
                      <a:r>
                        <a:rPr lang="ko-KR" altLang="ko-KR" sz="1000" b="0" dirty="0"/>
                        <a:t>) / KOTRA: 표준 수출계약서 서식 제공 및 법률 자문 지원</a:t>
                      </a:r>
                    </a:p>
                    <a:p>
                      <a:r>
                        <a:rPr lang="ko-KR" altLang="ko-KR" sz="1000" b="0" dirty="0"/>
                        <a:t>한국무역보험공사(K-SURE): 대금 </a:t>
                      </a:r>
                      <a:r>
                        <a:rPr lang="ko-KR" altLang="ko-KR" sz="1000" b="0" dirty="0" err="1"/>
                        <a:t>미회수</a:t>
                      </a:r>
                      <a:r>
                        <a:rPr lang="ko-KR" altLang="ko-KR" sz="1000" b="0" dirty="0"/>
                        <a:t> 리스크 대비 무역보험/신용보증 가입</a:t>
                      </a:r>
                    </a:p>
                    <a:p>
                      <a:r>
                        <a:rPr lang="ko-KR" altLang="ko-KR" sz="1000" b="0" dirty="0"/>
                        <a:t>대한상사중재원(KCAB): 수출계약 분쟁 발생 시 중재 관할 기관</a:t>
                      </a:r>
                      <a:endParaRPr lang="en-US" altLang="ko-KR" sz="1000" b="0" dirty="0"/>
                    </a:p>
                    <a:p>
                      <a:endParaRPr lang="ko-KR" altLang="ko-KR" sz="1000" b="0" dirty="0"/>
                    </a:p>
                    <a:p>
                      <a:r>
                        <a:rPr lang="ko-KR" altLang="ko-KR" sz="1000" b="0" dirty="0"/>
                        <a:t>대만 (상표 출원 주무관청):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ko-KR" sz="1000" b="0" dirty="0"/>
                        <a:t>대만 경제부 지혜재산국(TIPO)</a:t>
                      </a:r>
                      <a:r>
                        <a:rPr lang="en-US" altLang="ko-KR" sz="1000" b="0" dirty="0"/>
                        <a:t> - </a:t>
                      </a:r>
                      <a:r>
                        <a:rPr lang="ko-KR" altLang="ko-KR" sz="1000" b="0" dirty="0"/>
                        <a:t>대만 현지 상표(</a:t>
                      </a:r>
                      <a:r>
                        <a:rPr lang="ko-KR" altLang="ko-KR" sz="1000" b="0" dirty="0" err="1"/>
                        <a:t>영문·중문·로고</a:t>
                      </a:r>
                      <a:r>
                        <a:rPr lang="ko-KR" altLang="ko-KR" sz="1000" b="0" dirty="0"/>
                        <a:t>) 출원 및 심사 관할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계약서 서식 참고</a:t>
                      </a:r>
                      <a:endParaRPr lang="en-US" altLang="ko-KR" sz="1200" b="1" i="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한국무역협회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절차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① 대만 거래상대방 및 수입업자 정보 확인 → ② 제품의 대만 수입 가능 여부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HS Code,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관세율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수입규제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허가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라벨링 요건 확인 → ③ 제품명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브랜드명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규격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단가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통화 확정 → ④ 결제조건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·Incoterms·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선적조건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납기 확정 → ⑤ 수입허가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라벨링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통관 책임 주체 확인 → ⑥ 발주서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(PO)/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견적송장 또는 형식송장 확인 → ⑦ 수출계약 체결 → ⑧ 계약내용과 상업송장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포장명세서 기재정보의 정합성 확인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주의사항</a:t>
                      </a:r>
                      <a:endParaRPr lang="en-US" altLang="ko-KR" sz="1200" b="1"/>
                    </a:p>
                    <a:p>
                      <a:pPr algn="ctr" latinLnBrk="1"/>
                      <a:r>
                        <a:rPr lang="ko-KR" altLang="en-US" sz="1200" b="1"/>
                        <a:t>또는</a:t>
                      </a:r>
                      <a:endParaRPr lang="en-US" altLang="ko-KR" sz="1200" b="1"/>
                    </a:p>
                    <a:p>
                      <a:pPr algn="ctr" latinLnBrk="1"/>
                      <a:r>
                        <a:rPr lang="ko-KR" altLang="en-US" sz="1200" b="1"/>
                        <a:t>확인사항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계약상 매수인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수하인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수입업자 정보 구분 및 정합성 확인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브랜드명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단가 등 계약정보와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상업송장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포장명세서 기재정보 일치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Incoterms 2020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기준 비용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위험 이전 시점 명확화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결제조건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납기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운송방식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클레임 처리 기준 명확화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수입허가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라벨링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및 통관 책임 주체를 계약 단계에서 확인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현지 수입업자 또는 대리점의 상표 임의 출원을 방지하기 위해 상표권 귀속 및 사용제한 조항 검토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거래처는 선금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신용장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지급보증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무역보험 등 대금 회수 안전장치 검토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3B3C984-187A-EB7A-B445-0267D5A65D12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4B3D0-2B7F-A332-CBAF-727D49FC2487}"/>
              </a:ext>
            </a:extLst>
          </p:cNvPr>
          <p:cNvSpPr txBox="1"/>
          <p:nvPr/>
        </p:nvSpPr>
        <p:spPr>
          <a:xfrm>
            <a:off x="325826" y="1119957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1-1. </a:t>
            </a:r>
            <a:r>
              <a:rPr lang="ko-KR" altLang="en-US" sz="1400" b="1" dirty="0">
                <a:latin typeface="+mn-ea"/>
              </a:rPr>
              <a:t>수출계약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653E29-BAAF-F6BD-2030-F0D0C6F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5696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2D1C-72C7-2F9F-69D2-64289762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B5007DA-8D58-5901-4860-32FB3594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165008"/>
              </p:ext>
            </p:extLst>
          </p:nvPr>
        </p:nvGraphicFramePr>
        <p:xfrm>
          <a:off x="405898" y="1341837"/>
          <a:ext cx="11178501" cy="54533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744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선출원주의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채택하고 있어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동일〮유사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상표가 먼저 출원될 경우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후출원자의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등록이 제한될 수 있음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수출 전 브랜드명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중문명에 대한 사전 출원이 권장됨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내용은 설명 또는 정의에 부적합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브랜드명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등에 대한 상표권을 확보하고 현지 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또는 거래상대방의 상표 선점을 방지하기 위해 선행상표 검색 및 상표출원을 검토하는 단계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476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경제부 지혜재산국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TIPO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선행상표 검색 후 상표출원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현지 대리인을 통해 진행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452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경제부 지혜재산국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(TIPO, Taiwan Intellectual Property Office / </a:t>
                      </a: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經濟部智慧財產局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744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대만은 마드리드 국제상표 출원의 지정국이 아니므로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개별 출원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출원인 정보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견본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지정상품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목록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법인 또는 사업자 정보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위임장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대리인을 선임하는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우선권 주장서류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시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 상표명 후보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시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판매 제품 목록 또는 제품 카테고리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한국 또는 해외 상표등록증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참고용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744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수출 제품 및 사용 상표 확정 → ② 영문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 브랜드명 및 로고 검토 → ③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대만 내 선행 상표 검색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④ 지정상품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서비스류 확정 → ⑤ 출원인 명의 및 대리인 선임 여부 결정 → ⑥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상표출원 → ⑦ 심사 및 보정 대응 → ⑧ 공고 및 이의신청 기간 경과 → ⑨ 등록 및 갱신기한 관리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예상 소요기간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통상 출원부터 등록까지 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8~12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내외 소요될 수 있으며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거절이유 통지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발생 시 기간이 연장될 수 있음</a:t>
                      </a:r>
                      <a:b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상표권 존속기간은 등록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년이며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만료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 갱신 신청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10281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또는 다른 국가에 등록된 상표라도 대만에서 자동으로 보호되는 것은 아니므로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별도 상표출원 필요 여부 확인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수입업자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총판 명의로 상표를 출원할 경우 계약 종료 후 분쟁이 발생할 수 있으므로 브랜드 권리자 명의 출원 권장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 브랜드명뿐 아니라 중문 브랜드명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음역명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의역명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제품명도 별도 보호 필요성 검토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수출계약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총판계약 또는 대리점계약에 상표권 귀속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사용허락 범위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종료 후 상표 사용중지 조항 반영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등록상표가 정당한 사유 없이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이상 사용되지 않을 경우 불사용 취소 대상이 될 수 있으므로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후 실제 사용 및 사용증거 관리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관련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절차는 상표등록 완료가 일반적으로 필수 요건은 아니므로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상표출원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제품등록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절차를 병행할 수 있음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후에도 갱신기한 및 유사상표 모니터링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FBA179-B4E9-107F-9436-35469F44C35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B7F30-E5F2-A70D-64CF-24CF730C9764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1-2. </a:t>
            </a:r>
            <a:r>
              <a:rPr lang="ko-KR" altLang="en-US" sz="1400" b="1" dirty="0">
                <a:latin typeface="+mn-ea"/>
              </a:rPr>
              <a:t>상표등록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0A5FB49-9950-1E06-186B-B9132D90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8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A4E2-5739-691A-1A07-C73AF091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E0229-3686-5145-6220-2CDA9B3FE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831559"/>
              </p:ext>
            </p:extLst>
          </p:nvPr>
        </p:nvGraphicFramePr>
        <p:xfrm>
          <a:off x="325826" y="1288645"/>
          <a:ext cx="11175294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75731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대리인 역할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시스템상 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및 제품정보 관리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구축 자료 수집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보관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시 제출 대응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제품 표시사항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및 광고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홍보 문구의 적합성 관리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이상사례 수집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회수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공지 등 시판 후 안전관리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감독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및 조사 대응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자료 제출 협조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대리인 자격 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대만 내 관련 법령에 따라 설립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등록된 법인 또는 사업자일 것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화장품 수입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 또는 관련 영업 범위를 보유할 것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계정 개설 및 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 관리가 가능할 것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대만 내 연락 가능한 담당자와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대응 체계를 갖출 것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이상사례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불만 등 시판 후 관리 대응이 가능할 것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선정 요령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체크포인트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자사 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사후관리 권한을 직접 통제 가능하나 설립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운영비 및 현지 규제 대응 인력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수입〮유통업체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초기 진입과 유통망 확보에 유리하나 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유통채널 권한이 수입업체에 집중될 수 있으므로 계약상 권한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조건 명확화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규제 대행사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컨설팅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대행 업체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)]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보안성은 높을 수 있으나 실제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제품 책임주체 역할 수행 가능 여부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역할 분리 여부 확인 필요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수권 계약서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화장품 수입업자 위임계약서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또는 수권서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858135-E31B-B85E-F887-DBA2E2E7FBD3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대만 내 수입업자 선임 및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PIF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준비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3651B9-8997-1297-2B9B-8BF1B10BB4CF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2-1. </a:t>
            </a:r>
            <a:r>
              <a:rPr lang="ko-KR" altLang="en-US" sz="1400" b="1" dirty="0">
                <a:latin typeface="+mn-ea"/>
              </a:rPr>
              <a:t>대만 내 수입업자 선임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F16166-FD1C-7F65-482B-9319D954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BBCD2-61CE-38E0-A180-7456533F1AA3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20161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2F6E-658B-9291-4880-E403EDEC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A06AF8-86D9-B422-495A-6A26E99D8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94798"/>
              </p:ext>
            </p:extLst>
          </p:nvPr>
        </p:nvGraphicFramePr>
        <p:xfrm>
          <a:off x="325826" y="1461813"/>
          <a:ext cx="11175294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19621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주의사항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수입업자 선임 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역할〮권한〮비용〮계약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해지 조건 등을 명확히 계약서에 기재할 것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계정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정보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접근권한을 사전에 확인할 것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에는 제조공정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성분자료 등 영업비밀이 포함될 수 있으므로 접근권한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열람범위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비밀유지의무를 계약서에 명시할 것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동일 제품을 여러 수입업체가 판매할 수 있으므로 각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내 수입업자의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책임 범위를 명확히 설정할 것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내 수입업자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변경 시 제품 등록 및 관리정보 이전 가능 여부를 사전에 검토할 것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644737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필요서류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467886"/>
                          </a:solidFill>
                          <a:highlight>
                            <a:srgbClr val="FFFF00"/>
                          </a:highlight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화장품 대만 내 수입업자</a:t>
                      </a:r>
                      <a:r>
                        <a:rPr lang="ko-KR" altLang="ko-KR" sz="1000" dirty="0">
                          <a:solidFill>
                            <a:srgbClr val="467886"/>
                          </a:solidFill>
                          <a:highlight>
                            <a:srgbClr val="FFFF00"/>
                          </a:highlight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위임계약</a:t>
                      </a:r>
                      <a:r>
                        <a:rPr lang="ko-KR" altLang="en-US" sz="1000" dirty="0">
                          <a:solidFill>
                            <a:srgbClr val="467886"/>
                          </a:solidFill>
                          <a:highlight>
                            <a:srgbClr val="FFFF00"/>
                          </a:highlight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서 또는 수권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서</a:t>
                      </a:r>
                      <a:endParaRPr lang="ko-KR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② 대만 내 수입업자 회사설립등기자료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사업자등록 또는 상업등기 관련 서류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③ 대만 내 수입업자 회사 기본정보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회사명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 정보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④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시스템 계정 신청자료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⑤ 대만 내 수입업자 법인 대표자 또는 등록 담당자 신분증 사본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수입업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허가 또는 관련 영업등록 서류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시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⑦ 브랜드사 또는 제조사 위임장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필요 시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⑧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PIF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보관장소 및 접근권한 확인자료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필요 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소요기간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1~2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소요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대만 내 수입업자 확정 및 계약조건 합의가 완료된 경우 기준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수입업자 발굴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협상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개설 상황에 따라 기간 연장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3543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B65481-7CA7-763B-EB1F-F234AF025561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대만 내 수입업자 선임 및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PIF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준비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B44DB-2D92-4DD2-0256-A127DE4202A8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2-1. </a:t>
            </a:r>
            <a:r>
              <a:rPr lang="ko-KR" altLang="en-US" sz="1400" b="1" dirty="0">
                <a:latin typeface="+mn-ea"/>
              </a:rPr>
              <a:t>대만 내 수입업자 선임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66F809-A76C-CC9E-47DF-30F90EEE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BBB53-2C13-964F-3B33-82183CD9BFC8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336718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2F87-7C53-4B8E-22C2-A87FB846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C05311-DC1A-3D39-EF41-8AA2E25CA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682614"/>
              </p:ext>
            </p:extLst>
          </p:nvPr>
        </p:nvGraphicFramePr>
        <p:xfrm>
          <a:off x="325826" y="1208635"/>
          <a:ext cx="11175294" cy="432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784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577446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465354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PIF(Product</a:t>
                      </a: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File)</a:t>
                      </a: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개요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화장품위생안전관리법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화장품의 안전성 및 품질을 입증하기 위해 구축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보관해야 하는 기술문서로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대응 및 시판 후 관리의 기초 자료로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활용됨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/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1000" b="1">
                          <a:hlinkClick r:id="rId5"/>
                        </a:rPr>
                        <a:t>[1] PIF </a:t>
                      </a:r>
                      <a:r>
                        <a:rPr lang="ko-KR" altLang="en-US" sz="1000" b="1">
                          <a:hlinkClick r:id="rId5"/>
                        </a:rPr>
                        <a:t>작성 입문 매뉴얼</a:t>
                      </a:r>
                      <a:r>
                        <a:rPr lang="en-US" altLang="ko-KR" sz="1000" b="1" u="none"/>
                        <a:t>  </a:t>
                      </a:r>
                      <a:r>
                        <a:rPr lang="en-US" altLang="ko-KR" sz="1000" b="1">
                          <a:hlinkClick r:id="rId6"/>
                        </a:rPr>
                        <a:t>[2] PIF </a:t>
                      </a:r>
                      <a:r>
                        <a:rPr lang="ko-KR" altLang="en-US" sz="1000" b="1">
                          <a:hlinkClick r:id="rId6"/>
                        </a:rPr>
                        <a:t>작성 매뉴얼</a:t>
                      </a:r>
                      <a:r>
                        <a:rPr lang="en-US" altLang="ko-KR" sz="1000" b="1" u="none"/>
                        <a:t>               </a:t>
                      </a:r>
                      <a:r>
                        <a:rPr lang="en-US" altLang="ko-KR" sz="1000" b="1"/>
                        <a:t> [3] </a:t>
                      </a:r>
                      <a:r>
                        <a:rPr lang="en-US" altLang="ko-KR" sz="1000" b="1">
                          <a:hlinkClick r:id="rId7"/>
                        </a:rPr>
                        <a:t>PIF </a:t>
                      </a:r>
                      <a:r>
                        <a:rPr lang="ko-KR" altLang="en-US" sz="1000" b="1">
                          <a:hlinkClick r:id="rId7"/>
                        </a:rPr>
                        <a:t>파일 예시</a:t>
                      </a:r>
                      <a:endParaRPr lang="en-US" altLang="ko-KR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dirty="0"/>
                        <a:t>PIF </a:t>
                      </a:r>
                      <a:r>
                        <a:rPr lang="ko-KR" altLang="en-US" sz="1400" b="1" dirty="0"/>
                        <a:t>주요 </a:t>
                      </a:r>
                      <a:r>
                        <a:rPr lang="ko-KR" altLang="en-US" sz="1400" b="1"/>
                        <a:t>구성 항목</a:t>
                      </a:r>
                      <a:endParaRPr lang="en-US" altLang="ko-KR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제품의 기본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유형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제조공장의 이름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주소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제조업자 또는 수입상의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시스템상 제품정보 제출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입증자료전성분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명칭 및 함량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배합목적 및 제한성분 해당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포장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및 표시사항 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22716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시 또는 적용 대상 제품제조방법 및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제조방법 및 제조공정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사용법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적용부위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사용빈도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사용대상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사용으로 인한 이상사례 또는 알려진 부작용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및 개별 성분의 물리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화학적 특성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독성학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 보고서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미생물 검사 보고서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보존력 시험 또는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방부력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시험 보고서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표방문구 입증자료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제품과 접촉하는 포장재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안전성 관련 정보 및 참고자료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42286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dirty="0"/>
                        <a:t>PIF </a:t>
                      </a:r>
                      <a:r>
                        <a:rPr lang="ko-KR" altLang="en-US" sz="1400" b="1" dirty="0"/>
                        <a:t>보관 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① 대만 내 수입업자 또는 대만 내 책임주체 소재지에 상시 보관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②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요청 시 정해진 기한 내 제출 가능해야 함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③ 제품 성분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제조소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라벨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포장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안전성 자료 등 제품정보 변경 시 업데이트 필요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④ 제품의 최종 시판 또는 판매 종료 후 법정 보관기간 동안 보관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년 기준 여부는 최신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규정 확인 권장</a:t>
                      </a:r>
                      <a:endParaRPr lang="ko-KR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준비 절차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제품 정보 수집 → ② 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자료 확보 → ③ 제조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품질시험 자료 확보 → ④ 라벨 및 표방문구 검토 → ⑤ 안전성 평가 수행 → ⑥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및 자료 누락 검토 → ⑦ 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정보와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정합성 확인 → ⑧ 대만 내 수입업자 또는 책임주체 보관 → ⑨ 변경사항 발생 시 업데이트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1C9D02-DB2B-A890-0A04-53E754DE18E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대만 내 수입업자 선임 및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PIF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준비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17733-8F28-0324-FAFD-FBFBAF472322}"/>
              </a:ext>
            </a:extLst>
          </p:cNvPr>
          <p:cNvSpPr txBox="1"/>
          <p:nvPr/>
        </p:nvSpPr>
        <p:spPr>
          <a:xfrm>
            <a:off x="325826" y="79516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2-2. PIF </a:t>
            </a:r>
            <a:r>
              <a:rPr lang="ko-KR" altLang="en-US" sz="1400" b="1" dirty="0">
                <a:latin typeface="+mn-ea"/>
              </a:rPr>
              <a:t>준비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C4D2D3-FA99-2690-113C-05499ECC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BE7A0-8B46-A6E2-7F6B-C9E96383C799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05423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F26EC-3F84-24B1-4F85-5C2F5FCA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725D31-43A6-E0C1-6CEB-8CC88190D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36953"/>
              </p:ext>
            </p:extLst>
          </p:nvPr>
        </p:nvGraphicFramePr>
        <p:xfrm>
          <a:off x="325826" y="1208635"/>
          <a:ext cx="11175294" cy="3535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025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8575040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주의사항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원칙적으로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사전 제출하는 서류가 아니라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보관 후 요청 시 제출하는 기술문서임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시판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보관을 완료하고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시 제출 가능해야 함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자료는 최신 상태로 유지해야 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제품정보 변경 시 즉시 업데이트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시스템상 제품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 간 정합성 확인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 안전성 자료 및 안전성 평가 보고서의 누락 여부를 사전에 확인할 것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 보고서는 요구되는 자격요건을 갖춘 평가자가 작성했는지 확인 필요</a:t>
                      </a:r>
                    </a:p>
                    <a:p>
                      <a:pPr marL="171450" indent="-171450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대응을 위해 주요 자료의 중문 또는 영문 번역 필요 여부 확인 필요</a:t>
                      </a: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화장품 제품정보 문서작성 매뉴얼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644737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필요서류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① 제품 설명서 및 제품 기본정보</a:t>
                      </a:r>
                    </a:p>
                    <a:p>
                      <a:r>
                        <a:rPr lang="ko-KR" altLang="en-US" sz="1000" dirty="0"/>
                        <a:t>② </a:t>
                      </a:r>
                      <a:r>
                        <a:rPr lang="ko-KR" altLang="en-US" sz="1000" dirty="0" err="1"/>
                        <a:t>전성분</a:t>
                      </a:r>
                      <a:r>
                        <a:rPr lang="ko-KR" altLang="en-US" sz="1000" dirty="0"/>
                        <a:t> 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성분명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함량 및 배합목적</a:t>
                      </a:r>
                    </a:p>
                    <a:p>
                      <a:r>
                        <a:rPr lang="ko-KR" altLang="en-US" sz="1000" dirty="0"/>
                        <a:t>③ 제조공정서 및 </a:t>
                      </a:r>
                      <a:r>
                        <a:rPr lang="ko-KR" altLang="en-US" sz="1000" dirty="0" err="1"/>
                        <a:t>제조소</a:t>
                      </a:r>
                      <a:r>
                        <a:rPr lang="ko-KR" altLang="en-US" sz="1000" dirty="0"/>
                        <a:t> 정보</a:t>
                      </a:r>
                    </a:p>
                    <a:p>
                      <a:r>
                        <a:rPr lang="ko-KR" altLang="en-US" sz="1000" dirty="0"/>
                        <a:t>④ 제품 규격서 및 시험성적서</a:t>
                      </a:r>
                    </a:p>
                    <a:p>
                      <a:r>
                        <a:rPr lang="ko-KR" altLang="en-US" sz="1000" dirty="0"/>
                        <a:t>⑤ 원료 </a:t>
                      </a:r>
                      <a:r>
                        <a:rPr lang="en-US" altLang="ko-KR" sz="1000" dirty="0"/>
                        <a:t>COA, SDS </a:t>
                      </a:r>
                      <a:r>
                        <a:rPr lang="ko-KR" altLang="en-US" sz="1000" dirty="0"/>
                        <a:t>및 성분 안전성 자료</a:t>
                      </a:r>
                    </a:p>
                    <a:p>
                      <a:r>
                        <a:rPr lang="ko-KR" altLang="en-US" sz="1000" dirty="0"/>
                        <a:t>⑥ </a:t>
                      </a:r>
                      <a:r>
                        <a:rPr lang="en-US" altLang="ko-KR" sz="1000" dirty="0"/>
                        <a:t>GMP </a:t>
                      </a:r>
                      <a:r>
                        <a:rPr lang="ko-KR" altLang="en-US" sz="1000" dirty="0"/>
                        <a:t>또는 </a:t>
                      </a:r>
                      <a:r>
                        <a:rPr lang="en-US" altLang="ko-KR" sz="1000" dirty="0"/>
                        <a:t>ISO 22716 </a:t>
                      </a:r>
                      <a:r>
                        <a:rPr lang="ko-KR" altLang="en-US" sz="1000" dirty="0"/>
                        <a:t>인증자료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해당 시 또는 적용 대상 제품</a:t>
                      </a:r>
                    </a:p>
                    <a:p>
                      <a:r>
                        <a:rPr lang="ko-KR" altLang="en-US" sz="1000" dirty="0"/>
                        <a:t>⑦ 제품 라벨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포장 도안 및 표시사항 자료</a:t>
                      </a:r>
                      <a:endParaRPr lang="en-US" altLang="ko-KR" sz="1000" dirty="0"/>
                    </a:p>
                    <a:p>
                      <a:r>
                        <a:rPr lang="ko-KR" altLang="ko-KR" sz="1000" dirty="0"/>
                        <a:t>⑧ 안전성 평가 보고서</a:t>
                      </a:r>
                      <a:endParaRPr lang="ko-KR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⑨ 미생물 시험자료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⑩ 안정성 및 보존력 시험자료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시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⑪ 효능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표방문구 입증자료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시</a:t>
                      </a:r>
                    </a:p>
                    <a:p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⑫ 제품과 접촉하는 포장재 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시</a:t>
                      </a:r>
                      <a:endParaRPr lang="ko-KR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  <a:tr h="133160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소요기간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2~8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소요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제품 복잡도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원료자료 확보 수준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 및 추가 시험 필요 여부에 따라 기간 연장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3543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D45DF34-3138-535C-AB1B-93B8A53764A1}"/>
              </a:ext>
            </a:extLst>
          </p:cNvPr>
          <p:cNvSpPr txBox="1"/>
          <p:nvPr/>
        </p:nvSpPr>
        <p:spPr>
          <a:xfrm>
            <a:off x="325826" y="252420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대만 내 수입업자 선임 및 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PIF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준비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162891-84BD-D79F-3012-2EED12F24450}"/>
              </a:ext>
            </a:extLst>
          </p:cNvPr>
          <p:cNvSpPr txBox="1"/>
          <p:nvPr/>
        </p:nvSpPr>
        <p:spPr>
          <a:xfrm>
            <a:off x="325826" y="79516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2-2. PIF </a:t>
            </a:r>
            <a:r>
              <a:rPr lang="ko-KR" altLang="en-US" sz="1400" b="1" dirty="0">
                <a:latin typeface="+mn-ea"/>
              </a:rPr>
              <a:t>준비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3BA2A1-D06E-8C3F-F886-6C7460A1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2860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DB79-7145-5424-2FB3-A7D48666F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7C0919B-94F1-A1B8-1461-5F92CD23F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892453"/>
              </p:ext>
            </p:extLst>
          </p:nvPr>
        </p:nvGraphicFramePr>
        <p:xfrm>
          <a:off x="405898" y="1341838"/>
          <a:ext cx="11178501" cy="4073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207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화장품위생안전관리법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화장품의 시판 전 제품정보 등록제도를 운영하고 있으며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수입업자 또는 책임주체가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시스템에 제품정보를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관리해야 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399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온라인 시스템을 통한 제품정보 등록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(Online Registration)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191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위생복리부 식품약물관리서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(TFDA, Taiwan Food and Drug Administration)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[제품 등록 필요서류]</a:t>
                      </a:r>
                      <a:br>
                        <a:rPr lang="ko-KR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① 제품명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영문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② 제품 유형 및 용도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③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전성분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INCI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함량 또는 함량범위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제한성분 해당 여부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④ 제조업체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제조소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정보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⑤ 대만 내 수입업자 또는 책임주체 정보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⑥ 제품 라벨 및 표시사항 정보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⑦ 제품정보파일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PIF,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PIF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구축 확인자료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⑧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GMP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ISO 22716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관련 자료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해당 시 또는 적용 대상 제품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⑨ 제품 사진 또는 포장 도안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필요 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⑩ 기타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TFDA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시스템 입력 또는 확인에 필요한 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265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대만 내 수입업자 또는 책임주체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로그인 → ② 제품 기본정보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정보 입력 → ③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구축 여부 및 관련 정보 확인 → ④ 등록 수수료 납부 → ⑤ 등록번호 발급 → ⑥ 등록정보와 실제 판매제품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정합성 확인 → ⑦ 제품 판매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72903B-199B-AD2E-95B0-0280D9C14379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EB1650-907B-DA05-639B-20EE1568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6B296-5E41-BDCD-64A8-E0C9AEEB54E1}"/>
              </a:ext>
            </a:extLst>
          </p:cNvPr>
          <p:cNvSpPr txBox="1"/>
          <p:nvPr/>
        </p:nvSpPr>
        <p:spPr>
          <a:xfrm>
            <a:off x="325826" y="79516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3. </a:t>
            </a:r>
            <a:r>
              <a:rPr lang="ko-KR" altLang="en-US" sz="1400" b="1" dirty="0">
                <a:latin typeface="+mn-ea"/>
              </a:rPr>
              <a:t>제품 등록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1EAE6-2A22-6D42-9976-48C90AADA016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674345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A779-0499-D15E-18F4-E56ACE607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600061-8BC2-BC83-DD5E-1B7678FCF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18636"/>
              </p:ext>
            </p:extLst>
          </p:nvPr>
        </p:nvGraphicFramePr>
        <p:xfrm>
          <a:off x="405898" y="1341838"/>
          <a:ext cx="11178501" cy="2991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8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소요기간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등록정보 제출 및 수수료 납부 후 시스템 처리 기준으로 등록번호가 발급될 수 있음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 준비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 개설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입력정보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 처리 상황에 따라 실제 준비기간은 달라질 수 있음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  <a:tr h="2539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등록 유효기간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유효기간 만료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전 등록 연장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806760"/>
                  </a:ext>
                </a:extLst>
              </a:tr>
              <a:tr h="2487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등록 수수료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제품당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NT$800 (2026.07.01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최신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고시 또는 시스템 기준 확인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57046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대만은 기존 특정용도화장품 허가제를 폐지하고 모든 화장품에 대해 제품정보 등록제도를 운영함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등록은 사전 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허가가 아니라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시스템상 제품정보 등록 성격이므로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등록정보의 정확성과 사후 점검 대응이 중요함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 전 또는 늦어도 제품 시판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보관이 완료되어야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정보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내용은 실제 판매제품과 일치해야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등록정보 변경 시 수정 등록이 필요하며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등 제품 동일성에 영향을 주는 변경은 재등록 필요 여부를 검토해야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유효기간 만료 전 갱신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전 갱신기한 관리 권장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수입업자 또는 책임주체 변경 시 등록정보 이전 또는 재등록 필요 여부를 사전에 확인해야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 표현 및 광고 문구가 화장품 범위를 벗어나 의약품적 효능으로 해석되지 않도록 확인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26701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FACC22-3F30-7FFF-3A95-7FE85153E3AB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등록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754BE2-DFF1-133B-78EF-4BF37E7F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7D080-64EA-A221-1BF6-A8CA96C39067}"/>
              </a:ext>
            </a:extLst>
          </p:cNvPr>
          <p:cNvSpPr txBox="1"/>
          <p:nvPr/>
        </p:nvSpPr>
        <p:spPr>
          <a:xfrm>
            <a:off x="325826" y="79516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3.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제품 등록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24791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A398-3E9B-E914-DFAE-3E940991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010D71-C422-55B7-5795-102E23034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00423"/>
              </p:ext>
            </p:extLst>
          </p:nvPr>
        </p:nvGraphicFramePr>
        <p:xfrm>
          <a:off x="405898" y="1157511"/>
          <a:ext cx="11178501" cy="4591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한국에서 대만으로 수출되는 화장품에 대해 관세청에 수출신고를 진행하고 수출신고 수리를 받는 절차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 수리 후 화물을 선박 또는 항공기에 적재하여 대만으로 운송하는 절차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자유판매증명서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바이어 또는 대만 내 수입업자가 요구하는 경우 국내에서 정상적으로 판매 가능한 제품임을 증명하기 위해 발급받는 서류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대만은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아포스티유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미가맹국이므로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세관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바이어가 공증 서류를 요구할 경우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외교부 영사확인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주한국타이페이대표부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인증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절차를 거쳐 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관세청 전자통관시스템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UNI-PASS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통한 전자 수출신고 후 수출신고 수리일로부터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 해상운송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B/L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항공운송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AWB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방식으로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대만행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화물 선적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관세청 및 지역본부세관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대한화장품협회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(KCA), CFS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화장품 관련 증명서 발급 시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포워더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 시 제출 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수출 신고서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송장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5"/>
                        </a:rPr>
                        <a:t>상업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6"/>
                        </a:rPr>
                        <a:t>견적 송장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7"/>
                        </a:rPr>
                        <a:t>포장명세서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8"/>
                        </a:rPr>
                        <a:t>선하증권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(B/L)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9"/>
                        </a:rPr>
                        <a:t>항공화물운송장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(AWB)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자유판매증명서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원산지증명서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거래조건에 따라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11"/>
                        </a:rPr>
                        <a:t>기타 수출통관에 필요한 서류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/>
                        </a:rPr>
                        <a:t>관세율 조회 사이트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519A92-4239-4D46-A5D8-CCB787FFBE1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396AA-3BB1-ABE5-B264-7364656BF4B4}"/>
              </a:ext>
            </a:extLst>
          </p:cNvPr>
          <p:cNvSpPr txBox="1"/>
          <p:nvPr/>
        </p:nvSpPr>
        <p:spPr>
          <a:xfrm>
            <a:off x="325826" y="7723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4. </a:t>
            </a:r>
            <a:r>
              <a:rPr lang="ko-KR" altLang="en-US" sz="1400" b="1" dirty="0">
                <a:latin typeface="+mn-ea"/>
              </a:rPr>
              <a:t>수출통관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19464CB-0456-420D-4128-A522A187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FCDB7-F708-1DD0-89D4-A8B8C516A349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727059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ADF6-5B3D-6438-7457-22F2B02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90BB5E6-4072-1318-95E3-821FDE934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68812"/>
              </p:ext>
            </p:extLst>
          </p:nvPr>
        </p:nvGraphicFramePr>
        <p:xfrm>
          <a:off x="382249" y="1343194"/>
          <a:ext cx="11178501" cy="2287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선적 전 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수입업자 정보 확인 → ② 수출서류 작성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포장명세서 등 → ③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UNI-PASS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 → ④ 수출신고 수리 → ⑤ 선사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항공사 또는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포워더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부킹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⑥ 화물 반입 및 선적 → ⑦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B/L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발급 → ⑧ 대만 수입업자에게 통관서류 송부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 등록 완료 여부 또는 대만 내 판매 가능 상태를 확인한 후 선적 진행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상업송장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포장명세서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B/L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AWB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 선적서류의 제품명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제조소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수입업자 정보가 제품 등록정보 및 실제 제품과 일치해야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대만 내 수입업자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수하인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통지처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실제 구매자 정보가 정확하게 기재되어야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자유판매증명서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CFS,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원산지증명서 등 바이어 또는 대만 수입통관에서 요구하는 서류를 사전에 확인할 것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Incoterms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조건에 따라 운임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수입통관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세금 부담 주체를 명확히 확인할 것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 라벨의 번체중문 표시사항이 대만 등록정보와 일치하는지 선적 전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HS Code,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수출신고 가격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통화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원산지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포장단위 등 통관정보의 정합성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수출신고 수리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 이내 선적 원칙을 준수하고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지연 시 정정 또는 취하 필요 여부를 관세사와 확인할 것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E7B24F9-892C-38E7-C818-AC9650B7822C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DDCAC-BD92-49C4-7A5B-3FC3FB59EDE8}"/>
              </a:ext>
            </a:extLst>
          </p:cNvPr>
          <p:cNvSpPr txBox="1"/>
          <p:nvPr/>
        </p:nvSpPr>
        <p:spPr>
          <a:xfrm>
            <a:off x="325826" y="7723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4. </a:t>
            </a:r>
            <a:r>
              <a:rPr lang="ko-KR" altLang="en-US" sz="1400" b="1" dirty="0">
                <a:latin typeface="+mn-ea"/>
              </a:rPr>
              <a:t>수출통관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96EDF2-2B2D-D2F5-8508-742A411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20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E59D-2EC8-580A-54F0-896E05A5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3680017-532B-F30F-00A1-79EED46A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998070"/>
              </p:ext>
            </p:extLst>
          </p:nvPr>
        </p:nvGraphicFramePr>
        <p:xfrm>
          <a:off x="405898" y="1341838"/>
          <a:ext cx="11178501" cy="2815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523587532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대만으로 수입되는 화장품에 대해 대만 내 수입업자 또는 통관업자가 수입신고를 진행하고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세관의 서류심사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과세 및 통관절차를 거쳐 반출하는 단계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수입업자 또는 그 위임을 받은 통관업자가 대만 세관 전자통관시스템을 통해 수입신고를 진행하며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세관의 위험분류에 따라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C1·C2·C3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방식으로 통관 처리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재정부 관무서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(Customs Administration)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 시 기본 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상업송장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(Commercial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Invoice)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5"/>
                        </a:rPr>
                        <a:t>포장명세서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(Packing List)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6"/>
                        </a:rPr>
                        <a:t>선하증권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(B/L)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7"/>
                        </a:rPr>
                        <a:t>항공장화물운송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(AWB)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등록번호 및 등록정보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 라벨 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8"/>
                        </a:rPr>
                        <a:t>수입신고서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(Import Declaration)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제출서류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무역계약서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(Sales Contract)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제품정보파일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세관 요청 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시험성적서 또는 안전성 관련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자유판매증명서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원산지증명서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시 또는 관세 적용상 필요 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 세관 또는 관계기관 요청자료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수입신고 → ② 세관심사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C1·C2·C3 → ③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서류보완 또는 실물검사 → ④ 관세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부가세 등 세금 납부 → ⑤ 통관 및 반출 → ⑥ 대만 내 유통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63FF21-E4CC-B0A9-6CFC-CD6311F3C88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시판 후 관리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385BE-FAB6-B335-9A04-25319F535FB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5-1. </a:t>
            </a:r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B61840-7773-534A-0F22-F0B516AA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346EA-4FA7-946C-4687-DEB45C29F0B8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DE2DA-B0A6-D6A7-F3D5-46654F79A7AB}"/>
              </a:ext>
            </a:extLst>
          </p:cNvPr>
          <p:cNvSpPr txBox="1"/>
          <p:nvPr/>
        </p:nvSpPr>
        <p:spPr>
          <a:xfrm>
            <a:off x="1838739" y="5078896"/>
            <a:ext cx="2613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ym typeface="Wingdings 2" panose="05020102010507070707" pitchFamily="18" charset="2"/>
              </a:rPr>
              <a:t> 메모</a:t>
            </a:r>
            <a:r>
              <a:rPr lang="en-US" altLang="ko-KR">
                <a:sym typeface="Wingdings 2" panose="05020102010507070707" pitchFamily="18" charset="2"/>
              </a:rPr>
              <a:t>: </a:t>
            </a:r>
            <a:r>
              <a:rPr lang="ko-KR" altLang="en-US"/>
              <a:t>상업송장</a:t>
            </a:r>
            <a:r>
              <a:rPr lang="en-US" altLang="ko-KR"/>
              <a:t>, </a:t>
            </a:r>
            <a:r>
              <a:rPr lang="ko-KR" altLang="en-US"/>
              <a:t>포장명세서</a:t>
            </a:r>
            <a:r>
              <a:rPr lang="en-US" altLang="ko-KR"/>
              <a:t>, </a:t>
            </a:r>
            <a:r>
              <a:rPr lang="ko-KR" altLang="en-US"/>
              <a:t>항공화물운송장은 기재요령 파일도 함께 다운로드할 수 있도록 첨부</a:t>
            </a:r>
          </a:p>
        </p:txBody>
      </p:sp>
    </p:spTree>
    <p:extLst>
      <p:ext uri="{BB962C8B-B14F-4D97-AF65-F5344CB8AC3E}">
        <p14:creationId xmlns:p14="http://schemas.microsoft.com/office/powerpoint/2010/main" val="19480785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377DE-0CF8-A562-2378-9ABC8083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79ACFC-8268-C4D5-6D5D-1BC3AA263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651006"/>
              </p:ext>
            </p:extLst>
          </p:nvPr>
        </p:nvGraphicFramePr>
        <p:xfrm>
          <a:off x="405898" y="1341838"/>
          <a:ext cx="11178501" cy="5838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포장명세서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B/L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AWB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수입업자 정보가 실제 수입제품 및 등록정보와 일치해야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 표시사항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외관 및 포장정보의 적합성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 등 제품정보와 실제 수입제품의 일치 여부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 또는 관계기관 요청 시 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시험성적서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CFS,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자료 등 증빙자료 제출 가능해야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 Code,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과세가격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포장단위 등 통관신고 정보의 정합성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 보류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서류보완 요청 발생 시 대만 내 수입업자와 제조사 간 신속한 자료제공 체계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세부 통관 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수입업자 또는 수입업자가 수입신고 진행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등록번호 및 제품정보 제출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 및 부가세 납부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세관심사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면제 또는 간이심사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C2: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서류심사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C3: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서류심사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실물검사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화물검사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표시사항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외관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중문 라벨 적합성 검토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샘플 검사 또는 추가자료 요청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 및 반출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 심사 완료 후 반출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유통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사후심사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세관이 가격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품목분류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 등을 사후 검토할 수 있음</a:t>
                      </a:r>
                    </a:p>
                    <a:p>
                      <a:pPr marL="628650" lvl="1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허위신고 또는 자료 불일치 적발 시 보정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과태료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추징 등 행정처분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8754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166142E-51BA-528D-CA71-B7F00EE04688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시판 후 관리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B0003-8A6A-B846-875F-C23EDC2D8DBA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5-1. </a:t>
            </a:r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397C61C-832A-0200-0D86-B3691490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175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AAAE-9CC5-7A0B-C610-143881CF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23D7E80-D2E0-407E-7565-ED4FD7547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67967"/>
              </p:ext>
            </p:extLst>
          </p:nvPr>
        </p:nvGraphicFramePr>
        <p:xfrm>
          <a:off x="405898" y="1341838"/>
          <a:ext cx="11178501" cy="52814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5802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412699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판매 이후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관할기관이 실시하는 시장감시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점검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이상사례 관리 및 회수 등 사후관리 제도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출시 후 대만 내 수입업자 또는 책임주체가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공급원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유통흐름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시험자료 및 이상사례 자료를 보관하고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TFDA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시장감시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샘플링 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자료요청에 대응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위생복리부 식품약물관리서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(TFDA)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지방 보건당국 및 세관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제품정보파일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(PIF)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(Safety Assessment Report)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등록정보 및 등록번호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 및 광고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홍보 자료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시험성적서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미생물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보존력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 자료 등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공급원 및 유통흐름 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출하 기록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이상사례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불만 및 회수 관련 자료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변경 이력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기록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시장감시 또는 자료요청 → ② 제품 수거 또는 샘플링 → ③ 표시사항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점검 → ④ 시험검사 → 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제품 등록정보 확인 → ⑥ 필요 시 시정명령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판매중지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회수 또는 행정처분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대만 내 수입업자 또는 책임주체 소재지에 상시 보관해야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TFDA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시 정해진 기한 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관련 자료를 제출할 수 있어야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판매제품 및 광고문구 간 정합성 유지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이상사례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불만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품질문제 발생 시 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보고 및 회수 대응 절차를 갖추어야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광고문구 변경 시 등록정보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출하 기록 및 유통흐름 자료를 보관하여 회수 발생 시 추적 가능해야 함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온라인몰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SNS,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인플루언서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광고 등 판매채널의 표시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 문구도 화장품 규정 준수 여부 확인 필요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 보고서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시험성적서 등 주요 자료가 최신 상태인지 정기적으로 검토 필요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C1DA0E1-C3C1-1FA6-4249-94F1F635E64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시판 후 관리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A0EC-82E0-C226-59DA-BBD1E45048DC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5-2. </a:t>
            </a:r>
            <a:r>
              <a:rPr lang="ko-KR" altLang="en-US" sz="1400" b="1" dirty="0">
                <a:latin typeface="+mn-ea"/>
              </a:rPr>
              <a:t>시판 후 관리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B84999-D298-44EC-9F75-F7A3CC99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A859B-E3FD-8A4F-6CD2-F0957AB81F0B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4915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5DF9-B3F7-A89D-C110-8833E126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5DAC67-51CA-1E37-5B3C-DA510CB9E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74109"/>
              </p:ext>
            </p:extLst>
          </p:nvPr>
        </p:nvGraphicFramePr>
        <p:xfrm>
          <a:off x="405898" y="1341838"/>
          <a:ext cx="11178501" cy="4405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5802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412699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TFDA </a:t>
                      </a:r>
                      <a:r>
                        <a:rPr lang="ko-KR" altLang="en-US" sz="1200" b="1" dirty="0"/>
                        <a:t>주요 점검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표시사항 점검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대만 내 수입업자 또는 책임주체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제조업체 정보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내용량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용량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제조번호 또는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로트번호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사용기한 또는 유통기한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사용방법 및 사용상 주의사항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기능성 표현 및 광고문구의 적합성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수거검사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미생물 기준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중금속 기준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금지성분 함유 여부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사용제한 성분 기준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보존제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색소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자외선차단제 등 허용성분 기준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표시사항과 실제 제품 성분의 일치 여부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품질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 및 안전성 관련 시험자료 확인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7651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D945D72-F19F-33DC-FD12-B9AB7A15A74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시판 후 관리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42A23-CECB-022B-DC5C-D25D412B52BB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5-2. </a:t>
            </a:r>
            <a:r>
              <a:rPr lang="ko-KR" altLang="en-US" sz="1400" b="1" dirty="0">
                <a:latin typeface="+mn-ea"/>
              </a:rPr>
              <a:t>시판 후 관리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5EFD854-6222-A0CF-1A77-A75714B6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A4530-9381-14B1-BC4D-DD22F3A3C80E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217883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70D97-539A-3138-2E41-701DFA8D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CC583E9-14D9-6050-E68D-99980B77C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960923"/>
              </p:ext>
            </p:extLst>
          </p:nvPr>
        </p:nvGraphicFramePr>
        <p:xfrm>
          <a:off x="405898" y="1341838"/>
          <a:ext cx="11178501" cy="3948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5802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412699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TFDA </a:t>
                      </a:r>
                      <a:r>
                        <a:rPr lang="ko-KR" altLang="en-US" sz="1200" b="1" dirty="0"/>
                        <a:t>주요 점검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 startAt="3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평가자료 보유 여부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 안전성 자료 보유 여부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시험성적서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보존력 자료 보유 여부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등록정보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실제 판매제품 간 정합성</a:t>
                      </a: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변경사항 반영 및 최신 정보 유지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 startAt="3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행정조치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이상사례 및 소비자 불만 접수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기록 체계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출하 기록 및 유통흐름 추적 가능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회수 절차 및 책임자 지정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브랜드사 간 자료제공 및 비상연락 체계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latinLnBrk="0">
                        <a:lnSpc>
                          <a:spcPct val="150000"/>
                        </a:lnSpc>
                        <a:buFont typeface="+mj-lt"/>
                        <a:buAutoNum type="arabicPeriod" startAt="3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행정조치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시정명령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판매중지 또는 판매금지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회수명령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폐기 또는 개선명령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85800" lvl="1" indent="-22860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과태료 부과 또는 벌금 부과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7651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E0A0AAB-3DBD-C399-23B7-5BC85D6B2569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 및 시판 후 관리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0E2B7B-867D-10AC-A249-F8F61D4C5DCC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5-2. </a:t>
            </a:r>
            <a:r>
              <a:rPr lang="ko-KR" altLang="en-US" sz="1400" b="1" dirty="0">
                <a:latin typeface="+mn-ea"/>
              </a:rPr>
              <a:t>시판 후 관리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C4AC8A-C8EF-97EA-5A8F-D99ACA65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07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3657</Words>
  <Application>Microsoft Office PowerPoint</Application>
  <PresentationFormat>와이드스크린</PresentationFormat>
  <Paragraphs>421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은정 김</dc:creator>
  <cp:lastModifiedBy>관리자 대한화장품협회</cp:lastModifiedBy>
  <cp:revision>141</cp:revision>
  <dcterms:created xsi:type="dcterms:W3CDTF">2026-06-17T04:37:34Z</dcterms:created>
  <dcterms:modified xsi:type="dcterms:W3CDTF">2026-10-23T04:35:03Z</dcterms:modified>
</cp:coreProperties>
</file>