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106_51FC2C99.xml" ContentType="application/vnd.ms-powerpoint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omments/modernComment_10B_EDB5D776.xml" ContentType="application/vnd.ms-powerpoint.comments+xml"/>
  <Override PartName="/ppt/notesSlides/notesSlide7.xml" ContentType="application/vnd.openxmlformats-officedocument.presentationml.notesSlide+xml"/>
  <Override PartName="/ppt/comments/modernComment_10D_9B12CEA9.xml" ContentType="application/vnd.ms-powerpoint.comment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omments/modernComment_108_C44DC7BF.xml" ContentType="application/vnd.ms-powerpoint.comments+xml"/>
  <Override PartName="/ppt/notesSlides/notesSlide10.xml" ContentType="application/vnd.openxmlformats-officedocument.presentationml.notesSlide+xml"/>
  <Override PartName="/ppt/comments/modernComment_111_766DB801.xml" ContentType="application/vnd.ms-powerpoint.comments+xml"/>
  <Override PartName="/ppt/notesSlides/notesSlide11.xml" ContentType="application/vnd.openxmlformats-officedocument.presentationml.notesSlide+xml"/>
  <Override PartName="/ppt/comments/modernComment_109_8180DCBA.xml" ContentType="application/vnd.ms-powerpoint.comment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9" r:id="rId4"/>
    <p:sldId id="262" r:id="rId5"/>
    <p:sldId id="261" r:id="rId6"/>
    <p:sldId id="272" r:id="rId7"/>
    <p:sldId id="267" r:id="rId8"/>
    <p:sldId id="269" r:id="rId9"/>
    <p:sldId id="263" r:id="rId10"/>
    <p:sldId id="264" r:id="rId11"/>
    <p:sldId id="273" r:id="rId12"/>
    <p:sldId id="265" r:id="rId13"/>
    <p:sldId id="270" r:id="rId14"/>
    <p:sldId id="266" r:id="rId15"/>
    <p:sldId id="268" r:id="rId16"/>
    <p:sldId id="271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C508541-925B-51CF-C0E3-505D498F1B69}" name="주원 이" initials="주이" userId="c40e7f5d1066676b" providerId="Windows Live"/>
  <p188:author id="{F5B7B953-1DF4-8E25-2FD7-461A6661F625}" name="user" initials="u" userId="user" providerId="None"/>
  <p188:author id="{08794461-2643-D43C-2337-98A8AE1B5E4B}" name="은정 김" initials="은김" userId="c1d3832e69e7af5e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Eon Rachel No" initials="JRN" lastIdx="13" clrIdx="0">
    <p:extLst>
      <p:ext uri="{19B8F6BF-5375-455C-9EA6-DF929625EA0E}">
        <p15:presenceInfo xmlns:p15="http://schemas.microsoft.com/office/powerpoint/2012/main" userId="f72468d025d06c6a" providerId="Windows Live"/>
      </p:ext>
    </p:extLst>
  </p:cmAuthor>
  <p:cmAuthor id="2" name="mnkim@kcia.or.kr" initials="m" lastIdx="10" clrIdx="1">
    <p:extLst>
      <p:ext uri="{19B8F6BF-5375-455C-9EA6-DF929625EA0E}">
        <p15:presenceInfo xmlns:p15="http://schemas.microsoft.com/office/powerpoint/2012/main" userId="569c49100803825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882" autoAdjust="0"/>
  </p:normalViewPr>
  <p:slideViewPr>
    <p:cSldViewPr snapToGrid="0">
      <p:cViewPr varScale="1">
        <p:scale>
          <a:sx n="83" d="100"/>
          <a:sy n="83" d="100"/>
        </p:scale>
        <p:origin x="120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omments/modernComment_10B_EDB5D77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C05B712-BF90-4CB3-84EA-9E6F1564CC33}" authorId="{F5B7B953-1DF4-8E25-2FD7-461A6661F625}" status="resolved" created="2026-10-15T06:50:40.843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988117366" sldId="267"/>
      <ac:graphicFrameMk id="4" creationId="{0F9D710C-B878-5874-C54D-0FEBC72FCC97}"/>
      <ac:tblMk/>
      <ac:tcMk rowId="3517785727" colId="1944886688"/>
      <ac:txMk cp="15" len="60">
        <ac:context len="131" hash="3310530939"/>
      </ac:txMk>
    </ac:txMkLst>
    <p188:pos x="9597107" y="2106742"/>
    <p188:txBody>
      <a:bodyPr/>
      <a:lstStyle/>
      <a:p>
        <a:r>
          <a:rPr lang="ko-KR" altLang="en-US"/>
          <a:t>기존 
'계정 선택: 제조시설 또는 책임자'를
계정선택 -&gt; 업무유형선택 2가지 단계로 분리</a:t>
        </a:r>
      </a:p>
    </p188:txBody>
  </p188:cm>
</p188:cmLst>
</file>

<file path=ppt/comments/modernComment_10D_9B12CEA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46E32E8-A1C3-410F-A246-90916356CD68}" authorId="{F5B7B953-1DF4-8E25-2FD7-461A6661F625}" status="resolved" created="2026-10-15T06:34:00.972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601701033" sldId="269"/>
      <ac:graphicFrameMk id="5" creationId="{6519EFF4-E20B-C6C7-A05E-D81C2D0E7B42}"/>
      <ac:tblMk/>
      <ac:tcMk rowId="1204222730" colId="4224328845"/>
      <ac:txMk cp="0" len="19">
        <ac:context len="84" hash="2045678057"/>
      </ac:txMk>
    </ac:txMkLst>
    <p188:pos x="3049996" y="4706471"/>
    <p188:txBody>
      <a:bodyPr/>
      <a:lstStyle/>
      <a:p>
        <a:r>
          <a:rPr lang="ko-KR" altLang="en-US"/>
          <a:t>FEPS &gt; Direct</a:t>
        </a:r>
      </a:p>
    </p188:txBody>
  </p188:cm>
  <p188:cm id="{A7CA32B7-20F9-460E-BE5B-46B4B7532F55}" authorId="{F5B7B953-1DF4-8E25-2FD7-461A6661F625}" status="resolved" created="2026-10-15T06:41:23.574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601701033" sldId="269"/>
      <ac:graphicFrameMk id="5" creationId="{6519EFF4-E20B-C6C7-A05E-D81C2D0E7B42}"/>
      <ac:tblMk/>
      <ac:tcMk rowId="1549504629" colId="4224328845"/>
      <ac:txMk cp="94" len="45">
        <ac:context len="140" hash="3931141077"/>
      </ac:txMk>
    </ac:txMkLst>
    <p188:pos x="7936591" y="1044222"/>
    <p188:txBody>
      <a:bodyPr/>
      <a:lstStyle/>
      <a:p>
        <a:r>
          <a:rPr lang="ko-KR" altLang="en-US"/>
          <a:t>이메일 주소 추가</a:t>
        </a:r>
      </a:p>
    </p188:txBody>
  </p188:cm>
</p188:cmLst>
</file>

<file path=ppt/comments/modernComment_106_51FC2C9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8E01348-F967-4A29-875C-B808F7344E56}" authorId="{F5B7B953-1DF4-8E25-2FD7-461A6661F625}" status="resolved" created="2026-10-15T06:29:00.461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375480985" sldId="262"/>
      <ac:graphicFrameMk id="3" creationId="{D0085317-AD30-6F9A-BE61-8CE27D4C0F17}"/>
      <ac:tblMk/>
      <ac:tcMk rowId="3517785727" colId="3189312337"/>
      <ac:txMk cp="0" len="16">
        <ac:context len="48" hash="2854507842"/>
      </ac:txMk>
    </ac:txMkLst>
    <p188:pos x="7536361" y="1422318"/>
    <p188:txBody>
      <a:bodyPr/>
      <a:lstStyle/>
      <a:p>
        <a:r>
          <a:rPr lang="ko-KR" altLang="en-US"/>
          <a:t>특허청 -&gt; 지식재산처</a:t>
        </a:r>
      </a:p>
    </p188:txBody>
  </p188:cm>
</p188:cmLst>
</file>

<file path=ppt/comments/modernComment_108_C44DC7B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62EE373-86D3-4D4A-AA7C-400498DEF2F0}" authorId="{F5B7B953-1DF4-8E25-2FD7-461A6661F625}" status="resolved" created="2026-10-15T06:34:49.626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293431743" sldId="264"/>
      <ac:graphicFrameMk id="5" creationId="{D4D71391-DA32-647F-A34A-8BC2BFA0915C}"/>
      <ac:tblMk/>
      <ac:tcMk rowId="1204222730" colId="4224328845"/>
      <ac:txMk cp="0" len="19">
        <ac:context len="79" hash="3334843013"/>
      </ac:txMk>
    </ac:txMkLst>
    <p188:pos x="3036549" y="3902515"/>
    <p188:txBody>
      <a:bodyPr/>
      <a:lstStyle/>
      <a:p>
        <a:r>
          <a:rPr lang="ko-KR" altLang="en-US"/>
          <a:t>FEPS &gt; Direct</a:t>
        </a:r>
      </a:p>
    </p188:txBody>
  </p188:cm>
</p188:cmLst>
</file>

<file path=ppt/comments/modernComment_109_8180DCB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11B06FD-EB1B-4DD2-A555-155C9D4B58F2}" authorId="{F5B7B953-1DF4-8E25-2FD7-461A6661F625}" status="resolved" created="2026-10-15T06:38:56.310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172705978" sldId="265"/>
      <ac:graphicFrameMk id="5" creationId="{5A010D71-C422-55B7-5795-102E23034F84}"/>
      <ac:tblMk/>
      <ac:tcMk rowId="3471127830" colId="4224328845"/>
      <ac:txMk cp="181" len="10">
        <ac:context len="192" hash="3583629101"/>
      </ac:txMk>
    </ac:txMkLst>
    <p188:pos x="5690102" y="4868462"/>
    <p188:txBody>
      <a:bodyPr/>
      <a:lstStyle/>
      <a:p>
        <a:r>
          <a:rPr lang="ko-KR" altLang="en-US"/>
          <a:t>링크에서 chatgpt 태그 삭제</a:t>
        </a:r>
      </a:p>
    </p188:txBody>
  </p188:cm>
</p188:cmLst>
</file>

<file path=ppt/comments/modernComment_111_766DB80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7B11980-AD3A-4E8E-A57A-4FE19B588AC6}" authorId="{EC508541-925B-51CF-C0E3-505D498F1B69}" status="resolved" created="2026-10-06T09:03:48.368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986902017" sldId="273"/>
      <ac:graphicFrameMk id="5" creationId="{1712D01E-DE1C-302B-C6C3-5BE9D863AF42}"/>
      <ac:tblMk/>
      <ac:tcMk rowId="2473776228" colId="4224328845"/>
      <ac:txMk cp="108" len="13">
        <ac:context len="711" hash="450011837"/>
      </ac:txMk>
    </ac:txMkLst>
    <p188:pos x="6381401" y="496389"/>
    <p188:txBody>
      <a:bodyPr/>
      <a:lstStyle/>
      <a:p>
        <a:r>
          <a:rPr lang="ko-KR" altLang="en-US"/>
          <a:t>화장품 글로벌 규제조화 지원센터 링크 추가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C0296A-37F5-4486-811F-1F151C3867D4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23CB24-8E61-43D1-88DB-FA93509BE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3234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23CB24-8E61-43D1-88DB-FA93509BE25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94038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23CB24-8E61-43D1-88DB-FA93509BE25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37077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B2671-E877-D5D6-4601-478E3A8FA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B2B0194-5695-2806-F28B-9A5625B773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D8871D-D11A-6DE6-3509-3CFEF9063D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542430-78D4-F427-FD92-5FF669022E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23CB24-8E61-43D1-88DB-FA93509BE25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67557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EE9F3-F229-908B-5AEF-869AFC3C2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61D6A3F-2018-AB27-DC42-3B9399A2B5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1EA74F9-900F-033F-1D0B-D0AC8910EC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C19A58-9378-BDC4-75F9-B9005CDB50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23CB24-8E61-43D1-88DB-FA93509BE25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04706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1DA47-58C7-147D-B4A6-55E5A960E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9658BEA-B443-3769-80E4-320A863EF0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1C058FE-A632-F7F4-122C-42CC24F53C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DF1263-1B5A-38ED-4086-29A4AB2BE1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23CB24-8E61-43D1-88DB-FA93509BE251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16316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04BBC-6675-CA28-DEBA-8E8F75903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08E1E3F-41A4-78C8-0272-B251D9AB57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12DB26B-4602-1D04-8730-F22B8C39C5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D0DCC0-41EB-415F-770F-ED0E04C7CA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23CB24-8E61-43D1-88DB-FA93509BE251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67656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511A4-BFA7-1F86-DC04-73BAD105D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46F3765-2FFF-CD4F-E719-CCE8A819C2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8D3855C-54D7-9D57-95DD-498BCE6562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1307E8-B101-5183-7CF9-ABA92ADE39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23CB24-8E61-43D1-88DB-FA93509BE251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08508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7A61E-EBF4-E73A-D955-6B64B72BF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B3CE03C-7258-F9AF-EDFA-DBA7DAB4C9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7DD7E6-6005-3BEE-4315-C06E5CC636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2B5092-7227-670A-902F-205D595B5D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23CB24-8E61-43D1-88DB-FA93509BE251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70926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6CD2D-5392-3C5A-D0DD-BABAEE512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B3AE589-E214-1AC2-D012-9E5A7094E5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60C6D50-C7CD-BCB5-3ED4-C2E29DAD1C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6034EF-0F78-AE27-6C55-3F9BB6E6ED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23CB24-8E61-43D1-88DB-FA93509BE251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44312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1D17D-2970-1AF2-A7AE-4B310D0EE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A23391-5338-798D-31DF-984BCC99E3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056118-629B-6030-54DA-FDA6F38F61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B02248-E3F9-C380-0FBF-5E989F5D47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23CB24-8E61-43D1-88DB-FA93509BE251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22401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3C154-A05A-806E-4FEC-26386E4EA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9980AF5-18B8-304F-05C9-23AEF0C58C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EAB7A41-C97C-88E4-2A6B-A0DA7A5B1D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FD8C99-80CE-FEC2-F7E5-F6CB1EACC5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23CB24-8E61-43D1-88DB-FA93509BE251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33165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E7634-77AB-51DC-D53A-51084A797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D6BD019-8952-1DC4-4FD1-58155854B2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DCE2D9C-FAB9-8344-E627-2AE0C3DDD7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08B963-6256-FCAD-2DE9-C03DF048BF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23CB24-8E61-43D1-88DB-FA93509BE251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37025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E9A3C-4B2D-43DA-0B8C-6023CE0E7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B46733A-84E2-6B47-C6DE-D759358A3E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D6B3639-2656-8005-D570-67ADEBA328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C26837-CBDC-1AB9-7BDF-CD81DAA924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23CB24-8E61-43D1-88DB-FA93509BE251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30524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01632-0502-9513-4369-4293072E5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CAB8E4-C6E3-867D-3F61-2E4B6A2EC9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8E402F-8D29-E52C-6CBE-0467F62DA4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DF1B20-7047-702C-5A53-1EE1190F74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23CB24-8E61-43D1-88DB-FA93509BE251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59709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BE4A8-DBA7-0D25-04FB-FAC95DAF4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1B0521F-54A3-36F6-EA18-74A90A5E27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114CD90-4E59-BFBE-4044-37EA93152E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DCDD55-1E4C-282F-D7A5-3A70D19A53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23CB24-8E61-43D1-88DB-FA93509BE251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74727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6D875F-BAB8-5C93-2928-688B699454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7D53E41-CB99-5199-4CE4-84EDCE5233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D247C8-E091-B88F-A502-57553B032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49678-43C8-418D-B4A1-45DEC8F20186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298D7E-4729-3993-8A65-B31458D15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1724FF-FB37-328E-A2DE-B6E08D9E7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57005-D781-4E83-835B-1629CDD99A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269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7946C8-80A0-5B81-FBB6-719E5E606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2EB2D8-8763-34A6-24FC-F4E8E4A27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9E46C1-7190-86C5-C648-9FB280DC8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49678-43C8-418D-B4A1-45DEC8F20186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83F34C-F898-13F3-4F5E-8923162D5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D8AB0A-17FD-84BC-6ACE-DD42442FF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57005-D781-4E83-835B-1629CDD99A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773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6ACAA7-9DA5-AAB7-1431-5167F6A53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90116F8-3FCD-05B8-807F-A3A226BE7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3EEDED-6FA2-E0FF-519B-048411887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49678-43C8-418D-B4A1-45DEC8F20186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DAF6DF-CC74-9389-3BF7-BDC5AF648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59DC8C-4E57-027B-CD3D-4B0CBA81E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57005-D781-4E83-835B-1629CDD99A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58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BFA764-4BEA-6099-9EFF-B3FB88D3B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8042AD-8F38-3095-9C73-DD921303E6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513F5D8-C9F3-AE91-EB1C-AFCEA4E6E0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64A1A64-15AC-E047-12CA-EAB2BF03F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49678-43C8-418D-B4A1-45DEC8F20186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64B5CA-1F5B-C372-4896-9A0B9D2D0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FF9928-EF90-2B33-102B-35F53AD2E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57005-D781-4E83-835B-1629CDD99A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7789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9F8FFA-2D94-F21E-4220-EB5BF32C7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6458E5-3E28-A6CD-0540-D54A6AB70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61D0E45-E5DA-01F7-9002-245E4A7412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D69FFE9-4DEB-A05B-06D8-966D369730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601E8C7-CFED-115F-B43D-9D5495F296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AB29784-E343-B56A-9A40-54156030D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49678-43C8-418D-B4A1-45DEC8F20186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E01ECC4-AF50-1E02-2E3A-F030335C4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81970BA-AAA0-6E8D-626D-470DCB3D0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57005-D781-4E83-835B-1629CDD99A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921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9AB843-3EFB-A73F-3F11-1F950CDE5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6D388AB-B3C6-0B15-4441-88E1AB2AE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49678-43C8-418D-B4A1-45DEC8F20186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182B8CB-33DC-E5C2-2843-D52F63295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CDE1E6-4D17-B87B-8DA0-DE12618B1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57005-D781-4E83-835B-1629CDD99A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990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4643382-BC93-4A4B-A5D8-E014E3CDA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49678-43C8-418D-B4A1-45DEC8F20186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D1495C0-B422-2FFF-4B66-6C75BBD6E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C3A6E3-1011-AC53-8B16-995F17718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57005-D781-4E83-835B-1629CDD99A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103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9DE26C-AD75-B5B6-122E-449E7B675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6AD3D6-AC81-AE3B-1BF4-C2B694F9BC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B85AD67-947A-FBD6-DEC1-F9E754777C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7913D56-DCA3-1E26-8401-E4789755C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49678-43C8-418D-B4A1-45DEC8F20186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1D858F4-BD94-3788-75EE-86F5917CC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5593FFC-5367-3921-5F0E-DE2A2049E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57005-D781-4E83-835B-1629CDD99A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2308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B5D17E-C962-419F-6CB2-1ACCB20A7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B7F4866-D8EC-59B6-2469-6EFB869AA6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6E51D3A-0EB6-D5E4-BAC5-65F401F939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3568017-B4C4-6E5D-AC89-1F4715AA3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49678-43C8-418D-B4A1-45DEC8F20186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94AC29-534C-B2A0-3265-29F973E38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EBB1289-A1C9-03BF-C71E-3B01ECD49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57005-D781-4E83-835B-1629CDD99A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511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C41219-F7ED-0239-BE15-8B5183727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CD74B3B-2EA2-77E6-BC7A-EF87C73367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A58B41-0809-63EC-1C09-176E24346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49678-43C8-418D-B4A1-45DEC8F20186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D6A076-1003-1D1A-F110-035A38C07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2D095D-7588-3AA9-D264-CD6571718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57005-D781-4E83-835B-1629CDD99A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022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9BB902B-06E1-388A-F7AC-94E3C68E92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D1A6EBF-0175-074D-C2F4-4D6B19FBD5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EA5D1-50F8-9938-DC87-6F73C8B75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49678-43C8-418D-B4A1-45DEC8F20186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CC0DD5-9E99-A1A8-1B51-D70EFC7A0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D4D55B-5BF4-88B2-42CE-3D3EFD653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57005-D781-4E83-835B-1629CDD99A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6874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566F1F1-BA6E-5967-D6DB-917D0B0C8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8D1D2B-4F1D-4D3D-15CA-52CFA0D008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37C7CA-3560-F8E5-C111-89513AE99D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549678-43C8-418D-B4A1-45DEC8F20186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7BD641-FF63-0838-78C7-0CF04EE652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EC7F3F-6F01-3F52-D7D1-70FFE6C7AD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857005-D781-4E83-835B-1629CDD99A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920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ita.net/board/format/formatDetail.do?postIndex=1863913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ebaccess.wipo.int/mgs/?lang=kr" TargetMode="External"/><Relationship Id="rId3" Type="http://schemas.microsoft.com/office/2018/10/relationships/comments" Target="../comments/modernComment_106_51FC2C99.xml"/><Relationship Id="rId7" Type="http://schemas.openxmlformats.org/officeDocument/2006/relationships/hyperlink" Target="https://drive.google.com/file/d/1FVVIiIQFvBJ_HHMnbGXJP4PtRB01l7At/view?usp=drive_link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uspto.gov/trademarks/laws/specimen-refusal-and-how-overcome-refusal?" TargetMode="External"/><Relationship Id="rId5" Type="http://schemas.openxmlformats.org/officeDocument/2006/relationships/hyperlink" Target="https://www.uspto.gov/trademarks/basics/drawings-and-specimens?" TargetMode="External"/><Relationship Id="rId4" Type="http://schemas.openxmlformats.org/officeDocument/2006/relationships/hyperlink" Target="https://www.uspto.gov/trademarks/apply?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B_EDB5D77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rive.google.com/file/d/1c5j6lX6eE0-h1X_JTk49R2l5frt3IrA7/view?usp=drive_link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da.gov/cosmetics/cosmetics-news-events/fda-issues-final-guidance-registration-and-listing-cosmetic-product-facilities-and-products?" TargetMode="External"/><Relationship Id="rId3" Type="http://schemas.microsoft.com/office/2018/10/relationships/comments" Target="../comments/modernComment_10D_9B12CEA9.xml"/><Relationship Id="rId7" Type="http://schemas.openxmlformats.org/officeDocument/2006/relationships/hyperlink" Target="https://www.fda.gov/cosmetics/registration-listing-cosmetic-product-facilities-and-products?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fda.gov/cosmetics/registration-listing-cosmetic-product-facilities-and-products/form-fda-5067-cosmetic-product-listing?" TargetMode="External"/><Relationship Id="rId5" Type="http://schemas.openxmlformats.org/officeDocument/2006/relationships/hyperlink" Target="https://drive.google.com/file/d/1d9ReG0jCgj3U_vDVSNs-cFNnFc_PJryu/view?usp=drive_link" TargetMode="External"/><Relationship Id="rId4" Type="http://schemas.openxmlformats.org/officeDocument/2006/relationships/hyperlink" Target="mailto:RLC-PaperSubmissions@fda.hhs.gov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8_C44DC7BF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rive.google.com/file/d/1VjqmtjNOSoJVKksrceRHDOc0zc3_dkK8/view?usp=drive_link" TargetMode="External"/><Relationship Id="rId4" Type="http://schemas.openxmlformats.org/officeDocument/2006/relationships/hyperlink" Target="mailto:RLC-PaperSubmissions@fda.hhs.gov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1_766DB80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helpcosmetic.or.kr/pc/license/license02.php?code=foreign&amp;idx=5735&amp;page=17&amp;ptype=view&amp;utm_" TargetMode="Externa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kita.net/board/format/formatDetail.do?postIndex=1863877" TargetMode="External"/><Relationship Id="rId13" Type="http://schemas.openxmlformats.org/officeDocument/2006/relationships/hyperlink" Target="https://kcia.or.kr/cert/main/" TargetMode="External"/><Relationship Id="rId3" Type="http://schemas.microsoft.com/office/2018/10/relationships/comments" Target="../comments/modernComment_109_8180DCBA.xml"/><Relationship Id="rId7" Type="http://schemas.openxmlformats.org/officeDocument/2006/relationships/hyperlink" Target="https://www.kita.net/board/format/formatDetail.do?postIndex=1720212" TargetMode="External"/><Relationship Id="rId12" Type="http://schemas.openxmlformats.org/officeDocument/2006/relationships/hyperlink" Target="https://kcia.or.kr/cert/main/?utm_source=chatgpt.com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kita.net/board/format/formatDetail.do?postIndex=1720224&amp;ContentsID=KI_cmmrcFormat_1720224&amp;query=%EC%88%98%EC%B6%9C%EC%8B%A0%EA%B3%A0%EC%84%9C" TargetMode="External"/><Relationship Id="rId11" Type="http://schemas.openxmlformats.org/officeDocument/2006/relationships/hyperlink" Target="https://unipass.customs.go.kr/clip/index.do" TargetMode="External"/><Relationship Id="rId5" Type="http://schemas.openxmlformats.org/officeDocument/2006/relationships/hyperlink" Target="https://www.kita.net/board/format/formatDetail.do?postIndex=1719028&amp;ContentsID=KI_cmmrcFormat_1719028&amp;query=%ED%95%AD%EA%B3%B5%ED%99%94%EB%AC%BC%EC%9A%B4%EC%86%A1%EC%9E%A5" TargetMode="External"/><Relationship Id="rId10" Type="http://schemas.openxmlformats.org/officeDocument/2006/relationships/hyperlink" Target="https://kcia.or.kr/home/law/%EA%B8%B0%ED%83%80%20%EC%88%98%EC%B6%9C%ED%86%B5%EA%B4%80%EC%97%90%20%ED%95%84%EC%9A%94%ED%95%9C%20%EC%84%9C%EB%A5%98.pdf" TargetMode="External"/><Relationship Id="rId4" Type="http://schemas.openxmlformats.org/officeDocument/2006/relationships/hyperlink" Target="https://www.kita.net/board/format/formatDetail.do?postIndex=1719002&amp;ContentsID=KI_cmmrcFormat_1719002&amp;query=%EC%84%A0%ED%95%98%EC%A6%9D%EA%B6%8C" TargetMode="External"/><Relationship Id="rId9" Type="http://schemas.openxmlformats.org/officeDocument/2006/relationships/hyperlink" Target="https://drive.google.com/file/d/1Pflv1cuBiXUmLbbz17OvSntnEyxyTmCJ/view?usp=drive_link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google.com/document/d/1Aqnjtkio3aGGJG_ZAcq19FwoYq1whC1Y/edit?usp=drive_link&amp;ouid=116757525496572029278&amp;rtpof=true&amp;sd=true" TargetMode="External"/><Relationship Id="rId3" Type="http://schemas.openxmlformats.org/officeDocument/2006/relationships/hyperlink" Target="https://www.kita.net/board/format/formatDetail.do?postIndex=1719002&amp;ContentsID=KI_cmmrcFormat_1719002&amp;query=%EC%84%A0%ED%95%98%EC%A6%9D%EA%B6%8C" TargetMode="External"/><Relationship Id="rId7" Type="http://schemas.openxmlformats.org/officeDocument/2006/relationships/hyperlink" Target="https://www.kita.net/board/format/formatDetail.do?postIndex=1863877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kita.net/board/format/formatDetail.do?postIndex=1720212" TargetMode="External"/><Relationship Id="rId5" Type="http://schemas.openxmlformats.org/officeDocument/2006/relationships/hyperlink" Target="https://www.kita.net/board/format/formatDetail.do?postIndex=1720224&amp;ContentsID=KI_cmmrcFormat_1720224&amp;query=%EC%88%98%EC%B6%9C%EC%8B%A0%EA%B3%A0%EC%84%9C" TargetMode="External"/><Relationship Id="rId4" Type="http://schemas.openxmlformats.org/officeDocument/2006/relationships/hyperlink" Target="https://www.kita.net/board/format/formatDetail.do?postIndex=1719028&amp;ContentsID=KI_cmmrcFormat_1719028&amp;query=%ED%95%AD%EA%B3%B5%ED%99%94%EB%AC%BC%EC%9A%B4%EC%86%A1%EC%9E%A5" TargetMode="External"/><Relationship Id="rId9" Type="http://schemas.openxmlformats.org/officeDocument/2006/relationships/hyperlink" Target="https://drive.google.com/file/d/1TZ-xY1Svvr0soNyZs8mkz7uk_6JUn5Ca/view?usp=drive_link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609DE6-98AB-F74A-6E1A-702F5B5FE769}"/>
              </a:ext>
            </a:extLst>
          </p:cNvPr>
          <p:cNvSpPr txBox="1"/>
          <p:nvPr/>
        </p:nvSpPr>
        <p:spPr>
          <a:xfrm>
            <a:off x="748029" y="3022573"/>
            <a:ext cx="5788354" cy="655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b="1" dirty="0"/>
              <a:t>미국 화장품 수출 절차</a:t>
            </a:r>
            <a:endParaRPr lang="en-US" altLang="ko-KR" sz="2800" b="1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C1EE082-5763-BBC2-27F9-E9FBDA49A81B}"/>
              </a:ext>
            </a:extLst>
          </p:cNvPr>
          <p:cNvCxnSpPr>
            <a:cxnSpLocks/>
          </p:cNvCxnSpPr>
          <p:nvPr/>
        </p:nvCxnSpPr>
        <p:spPr>
          <a:xfrm>
            <a:off x="831214" y="865238"/>
            <a:ext cx="10529571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D09B2F4-242E-2147-7726-E9D9B62CCE4E}"/>
              </a:ext>
            </a:extLst>
          </p:cNvPr>
          <p:cNvCxnSpPr>
            <a:cxnSpLocks/>
          </p:cNvCxnSpPr>
          <p:nvPr/>
        </p:nvCxnSpPr>
        <p:spPr>
          <a:xfrm>
            <a:off x="831213" y="5963264"/>
            <a:ext cx="10529571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5704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D2FBC-0B1A-6851-C7D7-07C8FC8A1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4CC7D37-5200-538A-9716-EAF5C42F5E77}"/>
              </a:ext>
            </a:extLst>
          </p:cNvPr>
          <p:cNvSpPr txBox="1"/>
          <p:nvPr/>
        </p:nvSpPr>
        <p:spPr>
          <a:xfrm>
            <a:off x="468066" y="528935"/>
            <a:ext cx="8721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화장품 수출 규제 주요 절차</a:t>
            </a:r>
            <a:endParaRPr lang="en-US" altLang="ko-KR" sz="2000" b="1" dirty="0">
              <a:solidFill>
                <a:srgbClr val="0070C0"/>
              </a:solidFill>
              <a:latin typeface="+mn-ea"/>
            </a:endParaRP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65DE328D-7EF7-243B-58B1-7986AF8FB02B}"/>
              </a:ext>
            </a:extLst>
          </p:cNvPr>
          <p:cNvCxnSpPr>
            <a:stCxn id="37" idx="1"/>
            <a:endCxn id="41" idx="3"/>
          </p:cNvCxnSpPr>
          <p:nvPr/>
        </p:nvCxnSpPr>
        <p:spPr>
          <a:xfrm flipV="1">
            <a:off x="1258418" y="3168156"/>
            <a:ext cx="9639177" cy="80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그림 36" descr="image.png">
            <a:extLst>
              <a:ext uri="{FF2B5EF4-FFF2-40B4-BE49-F238E27FC236}">
                <a16:creationId xmlns:a16="http://schemas.microsoft.com/office/drawing/2014/main" id="{F5BABE82-B9C2-64E7-4C1C-58C588C29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8418" y="2838042"/>
            <a:ext cx="676275" cy="676275"/>
          </a:xfrm>
          <a:prstGeom prst="rect">
            <a:avLst/>
          </a:prstGeom>
        </p:spPr>
      </p:pic>
      <p:pic>
        <p:nvPicPr>
          <p:cNvPr id="38" name="그림 37" descr="image.png">
            <a:extLst>
              <a:ext uri="{FF2B5EF4-FFF2-40B4-BE49-F238E27FC236}">
                <a16:creationId xmlns:a16="http://schemas.microsoft.com/office/drawing/2014/main" id="{F8B0D134-FA86-31C3-84C2-2413CE4D22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8660" y="2838040"/>
            <a:ext cx="676275" cy="676275"/>
          </a:xfrm>
          <a:prstGeom prst="rect">
            <a:avLst/>
          </a:prstGeom>
        </p:spPr>
      </p:pic>
      <p:pic>
        <p:nvPicPr>
          <p:cNvPr id="39" name="그림 38" descr="image.png">
            <a:extLst>
              <a:ext uri="{FF2B5EF4-FFF2-40B4-BE49-F238E27FC236}">
                <a16:creationId xmlns:a16="http://schemas.microsoft.com/office/drawing/2014/main" id="{BD3463EC-A985-5078-C84D-F4E24E3E27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2880" y="2838040"/>
            <a:ext cx="676275" cy="676275"/>
          </a:xfrm>
          <a:prstGeom prst="rect">
            <a:avLst/>
          </a:prstGeom>
        </p:spPr>
      </p:pic>
      <p:pic>
        <p:nvPicPr>
          <p:cNvPr id="40" name="그림 39" descr="image.png">
            <a:extLst>
              <a:ext uri="{FF2B5EF4-FFF2-40B4-BE49-F238E27FC236}">
                <a16:creationId xmlns:a16="http://schemas.microsoft.com/office/drawing/2014/main" id="{928A5AC3-8AAB-E3ED-DF6A-AD3575521A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7100" y="2834029"/>
            <a:ext cx="676275" cy="676275"/>
          </a:xfrm>
          <a:prstGeom prst="rect">
            <a:avLst/>
          </a:prstGeom>
        </p:spPr>
      </p:pic>
      <p:pic>
        <p:nvPicPr>
          <p:cNvPr id="41" name="그림 40" descr="image.png">
            <a:extLst>
              <a:ext uri="{FF2B5EF4-FFF2-40B4-BE49-F238E27FC236}">
                <a16:creationId xmlns:a16="http://schemas.microsoft.com/office/drawing/2014/main" id="{DD2C18F0-4C79-36DB-7BB4-14CD831289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21320" y="2830018"/>
            <a:ext cx="676275" cy="6762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7FB3362-89A1-5352-81BE-13FBEA4DFE7F}"/>
              </a:ext>
            </a:extLst>
          </p:cNvPr>
          <p:cNvSpPr txBox="1"/>
          <p:nvPr/>
        </p:nvSpPr>
        <p:spPr>
          <a:xfrm>
            <a:off x="469582" y="3626293"/>
            <a:ext cx="20927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sz="1400" b="1" dirty="0">
                <a:effectLst/>
                <a:latin typeface="+mn-ea"/>
              </a:rPr>
              <a:t>수출 계약 및 상표등록</a:t>
            </a:r>
            <a:endParaRPr lang="ko-KR" altLang="ko-KR" sz="1400" b="1" dirty="0">
              <a:effectLst/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CDAB86-61EA-F351-784E-E59DB8A713FD}"/>
              </a:ext>
            </a:extLst>
          </p:cNvPr>
          <p:cNvSpPr txBox="1"/>
          <p:nvPr/>
        </p:nvSpPr>
        <p:spPr>
          <a:xfrm>
            <a:off x="2585091" y="3626293"/>
            <a:ext cx="23634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sz="1400" b="1" dirty="0">
                <a:effectLst/>
                <a:latin typeface="+mn-ea"/>
              </a:rPr>
              <a:t>미국 책임자</a:t>
            </a:r>
            <a:r>
              <a:rPr lang="en-US" altLang="ko-KR" sz="1400" b="1" dirty="0">
                <a:effectLst/>
                <a:latin typeface="+mn-ea"/>
              </a:rPr>
              <a:t>(RP) </a:t>
            </a:r>
            <a:r>
              <a:rPr lang="ko-KR" altLang="en-US" sz="1400" b="1" dirty="0">
                <a:effectLst/>
                <a:latin typeface="+mn-ea"/>
              </a:rPr>
              <a:t>지정 및 </a:t>
            </a:r>
            <a:r>
              <a:rPr lang="en-US" altLang="ko-KR" sz="1400" b="1" dirty="0">
                <a:effectLst/>
                <a:latin typeface="+mn-ea"/>
              </a:rPr>
              <a:t>FDA Direct Account </a:t>
            </a:r>
            <a:r>
              <a:rPr lang="ko-KR" altLang="en-US" sz="1400" b="1" dirty="0">
                <a:effectLst/>
                <a:latin typeface="+mn-ea"/>
              </a:rPr>
              <a:t>생성</a:t>
            </a:r>
            <a:endParaRPr lang="ko-KR" altLang="ko-KR" sz="1400" b="1" dirty="0">
              <a:effectLst/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C8DDE0-7557-8987-6BA4-B86612CDB75B}"/>
              </a:ext>
            </a:extLst>
          </p:cNvPr>
          <p:cNvSpPr txBox="1"/>
          <p:nvPr/>
        </p:nvSpPr>
        <p:spPr>
          <a:xfrm>
            <a:off x="5210750" y="3626293"/>
            <a:ext cx="17345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sz="1400" b="1" dirty="0">
                <a:effectLst/>
                <a:latin typeface="+mn-ea"/>
              </a:rPr>
              <a:t>화장품 시설 등록 및 제품 </a:t>
            </a:r>
            <a:r>
              <a:rPr lang="ko-KR" altLang="en-US" sz="1400" b="1" dirty="0" err="1">
                <a:effectLst/>
                <a:latin typeface="+mn-ea"/>
              </a:rPr>
              <a:t>리스팅</a:t>
            </a:r>
            <a:endParaRPr lang="ko-KR" altLang="ko-KR" sz="1400" b="1" dirty="0">
              <a:effectLst/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365672-D904-EADB-9341-30664BA180F8}"/>
              </a:ext>
            </a:extLst>
          </p:cNvPr>
          <p:cNvSpPr txBox="1"/>
          <p:nvPr/>
        </p:nvSpPr>
        <p:spPr>
          <a:xfrm>
            <a:off x="7526648" y="3626293"/>
            <a:ext cx="15371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sz="1400" b="1" dirty="0">
                <a:effectLst/>
                <a:latin typeface="+mn-ea"/>
              </a:rPr>
              <a:t>수출통관</a:t>
            </a:r>
            <a:r>
              <a:rPr lang="en-US" altLang="ko-KR" sz="1400" b="1" dirty="0">
                <a:effectLst/>
                <a:latin typeface="+mn-ea"/>
              </a:rPr>
              <a:t>/</a:t>
            </a:r>
            <a:r>
              <a:rPr lang="ko-KR" altLang="en-US" sz="1400" b="1" dirty="0">
                <a:effectLst/>
                <a:latin typeface="+mn-ea"/>
              </a:rPr>
              <a:t>선적</a:t>
            </a:r>
            <a:endParaRPr lang="ko-KR" altLang="ko-KR" sz="1400" b="1" dirty="0">
              <a:effectLst/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756D04-CF8D-4AB2-C8E0-9F763C78BC3F}"/>
              </a:ext>
            </a:extLst>
          </p:cNvPr>
          <p:cNvSpPr txBox="1"/>
          <p:nvPr/>
        </p:nvSpPr>
        <p:spPr>
          <a:xfrm>
            <a:off x="9648770" y="3626293"/>
            <a:ext cx="18213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sz="1400" b="1" dirty="0">
                <a:effectLst/>
                <a:latin typeface="+mn-ea"/>
              </a:rPr>
              <a:t>미국 현지통관 </a:t>
            </a:r>
            <a:br>
              <a:rPr lang="en-US" altLang="ko-KR" sz="1400" b="1" dirty="0">
                <a:effectLst/>
                <a:latin typeface="+mn-ea"/>
              </a:rPr>
            </a:br>
            <a:r>
              <a:rPr lang="ko-KR" altLang="en-US" sz="1400" b="1" dirty="0">
                <a:effectLst/>
                <a:latin typeface="+mn-ea"/>
              </a:rPr>
              <a:t>및 </a:t>
            </a:r>
            <a:r>
              <a:rPr lang="ko-KR" altLang="en-US" sz="1400" b="1" dirty="0" err="1">
                <a:effectLst/>
                <a:latin typeface="+mn-ea"/>
              </a:rPr>
              <a:t>라벨링</a:t>
            </a:r>
            <a:r>
              <a:rPr lang="ko-KR" altLang="en-US" sz="1400" b="1" dirty="0">
                <a:effectLst/>
                <a:latin typeface="+mn-ea"/>
              </a:rPr>
              <a:t> 규정 준수</a:t>
            </a:r>
            <a:endParaRPr lang="ko-KR" altLang="ko-KR" sz="1400" b="1" dirty="0"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98030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F7ACC-B461-3E59-D2A7-855FA514D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2105134-4194-C6D1-D94E-2778D40821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0000857"/>
              </p:ext>
            </p:extLst>
          </p:nvPr>
        </p:nvGraphicFramePr>
        <p:xfrm>
          <a:off x="506749" y="1305410"/>
          <a:ext cx="11178501" cy="536592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74093">
                  <a:extLst>
                    <a:ext uri="{9D8B030D-6E8A-4147-A177-3AD203B41FA5}">
                      <a16:colId xmlns:a16="http://schemas.microsoft.com/office/drawing/2014/main" val="3376188853"/>
                    </a:ext>
                  </a:extLst>
                </a:gridCol>
                <a:gridCol w="9604408">
                  <a:extLst>
                    <a:ext uri="{9D8B030D-6E8A-4147-A177-3AD203B41FA5}">
                      <a16:colId xmlns:a16="http://schemas.microsoft.com/office/drawing/2014/main" val="4224328845"/>
                    </a:ext>
                  </a:extLst>
                </a:gridCol>
              </a:tblGrid>
              <a:tr h="7163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설명 또는 정의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국내 화장품 제조업체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수출자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와 미국 내 바이어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수입자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와 수출계약 체결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9518004"/>
                  </a:ext>
                </a:extLst>
              </a:tr>
              <a:tr h="7785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계약 방식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직접 수출 계약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국내 제조업체가 미국 내 바이어와 직접 매매 계약 체결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대리점 계약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 현지 대리인을 통해 상품을 판매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(3)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디스트리뷰터 계약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(Distributor Contract) 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현지 유통업자에게 제품을 일괄 수출 후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그 유통업자가 현지에 재판매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(4)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독점 및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비독점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계약 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독점 계약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 전역 또는 특정 주 내에서 지정 받은 업체만 판매할 수 있는 권리 부여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비독점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계약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동일 지역에 여러 바이어를 두고 경쟁적으로 판매할 수 있도록 권리 분산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9504629"/>
                  </a:ext>
                </a:extLst>
              </a:tr>
              <a:tr h="8524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관련 기관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한국무역협회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통합무역정보서비스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(3)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미국식품의약국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(FDA)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785727"/>
                  </a:ext>
                </a:extLst>
              </a:tr>
              <a:tr h="7785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계약서 서식 참고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(1)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수출대행계약서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1127830"/>
                  </a:ext>
                </a:extLst>
              </a:tr>
              <a:tr h="7785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절차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바이어 발굴 및 거래 제안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→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및 거래 조건 협의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→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규제 요건 사전 검토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→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견적서 발행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→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계약 방식 결정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→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수출 계약서 작성 및 검토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→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en-US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MoCRA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책임 주체 확인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→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계약 체결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4222730"/>
                  </a:ext>
                </a:extLst>
              </a:tr>
              <a:tr h="8063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주의사항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또는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확인사항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MoCRA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규정 준수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 책임자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(RP)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선정 필수</a:t>
                      </a:r>
                    </a:p>
                    <a:p>
                      <a:pPr latinLnBrk="0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시설 등록 및 제품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리스팅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의무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(3)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안전성 입증 자료 보관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(6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소규모 기업은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심각한 부작용 보고 의무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377622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3B3C984-187A-EB7A-B445-0267D5A65D12}"/>
              </a:ext>
            </a:extLst>
          </p:cNvPr>
          <p:cNvSpPr txBox="1"/>
          <p:nvPr/>
        </p:nvSpPr>
        <p:spPr>
          <a:xfrm>
            <a:off x="325826" y="339047"/>
            <a:ext cx="8721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01. 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수출계약 및 상표등록</a:t>
            </a:r>
            <a:endParaRPr lang="en-US" altLang="ko-KR" sz="2000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44B3D0-2B7F-A332-CBAF-727D49FC2487}"/>
              </a:ext>
            </a:extLst>
          </p:cNvPr>
          <p:cNvSpPr txBox="1"/>
          <p:nvPr/>
        </p:nvSpPr>
        <p:spPr>
          <a:xfrm>
            <a:off x="325826" y="873735"/>
            <a:ext cx="87212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+mn-ea"/>
              </a:rPr>
              <a:t>수출계약</a:t>
            </a:r>
            <a:endParaRPr lang="en-US" altLang="ko-KR" sz="14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64569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12D1C-72C7-2F9F-69D2-642897620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FBA179-B4E9-107F-9436-35469F44C353}"/>
              </a:ext>
            </a:extLst>
          </p:cNvPr>
          <p:cNvSpPr txBox="1"/>
          <p:nvPr/>
        </p:nvSpPr>
        <p:spPr>
          <a:xfrm>
            <a:off x="325826" y="339047"/>
            <a:ext cx="8721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01. 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수출계약 및 상표등록</a:t>
            </a:r>
            <a:endParaRPr lang="en-US" altLang="ko-KR" sz="2000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5B7F30-E5F2-A70D-64CF-24CF730C9764}"/>
              </a:ext>
            </a:extLst>
          </p:cNvPr>
          <p:cNvSpPr txBox="1"/>
          <p:nvPr/>
        </p:nvSpPr>
        <p:spPr>
          <a:xfrm>
            <a:off x="295346" y="905433"/>
            <a:ext cx="87212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+mn-ea"/>
              </a:rPr>
              <a:t>상표등록</a:t>
            </a:r>
            <a:endParaRPr lang="en-US" altLang="ko-KR" sz="1400" b="1" dirty="0">
              <a:latin typeface="+mn-ea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0085317-AD30-6F9A-BE61-8CE27D4C0F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2481311"/>
              </p:ext>
            </p:extLst>
          </p:nvPr>
        </p:nvGraphicFramePr>
        <p:xfrm>
          <a:off x="518427" y="1320882"/>
          <a:ext cx="11044682" cy="43239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3008">
                  <a:extLst>
                    <a:ext uri="{9D8B030D-6E8A-4147-A177-3AD203B41FA5}">
                      <a16:colId xmlns:a16="http://schemas.microsoft.com/office/drawing/2014/main" val="3376188853"/>
                    </a:ext>
                  </a:extLst>
                </a:gridCol>
                <a:gridCol w="5020837">
                  <a:extLst>
                    <a:ext uri="{9D8B030D-6E8A-4147-A177-3AD203B41FA5}">
                      <a16:colId xmlns:a16="http://schemas.microsoft.com/office/drawing/2014/main" val="4224328845"/>
                    </a:ext>
                  </a:extLst>
                </a:gridCol>
                <a:gridCol w="5020837">
                  <a:extLst>
                    <a:ext uri="{9D8B030D-6E8A-4147-A177-3AD203B41FA5}">
                      <a16:colId xmlns:a16="http://schemas.microsoft.com/office/drawing/2014/main" val="3189312337"/>
                    </a:ext>
                  </a:extLst>
                </a:gridCol>
              </a:tblGrid>
              <a:tr h="6179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설명 또는 정의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0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화장품의 브랜드명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로고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제품명 등을 법적으로 보호하기 위해 등록하는 절차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수출 전 또는 수출 초기 단계에서 상표등록을 진행하는 것이 일반적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0"/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9518004"/>
                  </a:ext>
                </a:extLst>
              </a:tr>
              <a:tr h="3955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방식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 내 상표 출원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국제 상표 출원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9504629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기관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 특허상표청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(USPTO)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 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지식재산처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(MOIP),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세계지식재산기구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(WIPO),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 특허상표청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(USPTO)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785727"/>
                  </a:ext>
                </a:extLst>
              </a:tr>
              <a:tr h="6179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참고 또는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필요서류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현지 대리인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변리사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을 통해 미국 현지 로펌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변호사를 지정하여 미국 특허청에 바로 신청서를 제출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(1)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출원서 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/>
                        </a:rPr>
                        <a:t>(2)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/>
                        </a:rPr>
                        <a:t>상표 이미지 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(3)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지정 상품 목록 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6"/>
                        </a:rPr>
                        <a:t>(4)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6"/>
                        </a:rPr>
                        <a:t>사용 증빙자료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6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6"/>
                        </a:rPr>
                        <a:t>사용기반 출원 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6"/>
                        </a:rPr>
                        <a:t>)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한국에 먼저 상표가 출원되어 있는 경우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WIPO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통해 미국을 지정국가로 선택해 신청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국내 기초 상표 자격 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7"/>
                        </a:rPr>
                        <a:t>(2)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7"/>
                        </a:rPr>
                        <a:t>마드리드 국제출원서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7"/>
                        </a:rPr>
                        <a:t>(MM2)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7"/>
                        </a:rPr>
                        <a:t> 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8"/>
                        </a:rPr>
                        <a:t>(3)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8"/>
                        </a:rPr>
                        <a:t>지정 상품 목록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1127830"/>
                  </a:ext>
                </a:extLst>
              </a:tr>
              <a:tr h="6179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절차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사전 상표 검색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→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출원서 제출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→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[USPTO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심사관 심사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→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출원 공고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→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최종 등록 및 사후 관리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국내 기초 상표 확인 및 본국관 신청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→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[WIPO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형식 심사 및 국제 등록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→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USPTO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현지 심사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→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 현지 대리인 선임 및 대응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→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 내 공고 및 권리 획득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4222730"/>
                  </a:ext>
                </a:extLst>
              </a:tr>
              <a:tr h="5261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주의사항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또는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확인사항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상표를 등록하지 않는 경우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다른 기업이 동일한 상표를 먼저 등록하여 해당 브랜드를 사용하지 못할 리스크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선사용주의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존재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‘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가짜 사용 증빙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‘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제출 금지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포토샵 합성 등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‘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사용 예정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‘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출원 시 추가 비용과 기한 인지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등록 허가 통지서 수령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 이내에 실제 미국 내 판매 증빙을 제출해야 최종 등록증 발행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 변호사 선임의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필수성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및 소통 리스크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반드시 미국 변호사 자격증을 가진 대리인을 통해서만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USPTO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 진행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(1) ‘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중앙공격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(Central Attack)’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따른 상표권 동반 소멸 리스크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- 5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이내에 한국 내 기초 상표가 거절되거나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소멸되면 미국의 상표권도 별도 심사 없이 자동으로 소멸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화장품 상품 분류 명세의 무조건적 거절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한국식 분류로 접수했다가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거절 통지 받은 경우 잦음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(3)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 내 실제 사용 증명서 제출 의무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등록 후 리스크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 내 상표권 유지 시 등록 후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~6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년차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사이에 사용 선서서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(Affidavit of Use)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와 증빙 자료를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USPTO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반드시 제출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37762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548098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3A4E2-5739-691A-1A07-C73AF0917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C6E0229-3686-5145-6220-2CDA9B3FEF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7840585"/>
              </p:ext>
            </p:extLst>
          </p:nvPr>
        </p:nvGraphicFramePr>
        <p:xfrm>
          <a:off x="335658" y="1313568"/>
          <a:ext cx="11175294" cy="53902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79084">
                  <a:extLst>
                    <a:ext uri="{9D8B030D-6E8A-4147-A177-3AD203B41FA5}">
                      <a16:colId xmlns:a16="http://schemas.microsoft.com/office/drawing/2014/main" val="4224328845"/>
                    </a:ext>
                  </a:extLst>
                </a:gridCol>
                <a:gridCol w="8196210">
                  <a:extLst>
                    <a:ext uri="{9D8B030D-6E8A-4147-A177-3AD203B41FA5}">
                      <a16:colId xmlns:a16="http://schemas.microsoft.com/office/drawing/2014/main" val="1944886688"/>
                    </a:ext>
                  </a:extLst>
                </a:gridCol>
              </a:tblGrid>
              <a:tr h="75731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RP</a:t>
                      </a:r>
                      <a:r>
                        <a:rPr lang="ko-KR" alt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역할</a:t>
                      </a:r>
                      <a:endParaRPr lang="ko-KR" altLang="ko-KR" sz="1400" b="1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제품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리스팅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의무 및 필요 시 시설 등록 제출 지원</a:t>
                      </a:r>
                    </a:p>
                    <a:p>
                      <a:pPr latinLnBrk="0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안전성 입증 및 보관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(3)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심각한 부작용 보고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발생 인지 후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영업일 이내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및 레코드 관리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(4)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법적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라벨링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기재 및 연락처 제공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(5)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알레르기 유발 성분 표시 및 향후 규제 대응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(6) FDA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연락 창구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리콜 대응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기록 유지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9518004"/>
                  </a:ext>
                </a:extLst>
              </a:tr>
              <a:tr h="757313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1" dirty="0"/>
                        <a:t>RP</a:t>
                      </a:r>
                      <a:r>
                        <a:rPr lang="ko-KR" altLang="en-US" sz="1400" b="1" dirty="0"/>
                        <a:t> 자격 요건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제조업체</a:t>
                      </a:r>
                    </a:p>
                    <a:p>
                      <a:pPr latinLnBrk="0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포장업체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(3)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유통업체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※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국내 브랜드 오너도 위 요건을 충족하는 경우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RP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가능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9504629"/>
                  </a:ext>
                </a:extLst>
              </a:tr>
              <a:tr h="75731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1" dirty="0"/>
                        <a:t>선정 요령</a:t>
                      </a:r>
                      <a:r>
                        <a:rPr lang="en-US" altLang="ko-KR" sz="1400" b="1" dirty="0"/>
                        <a:t>/</a:t>
                      </a:r>
                      <a:r>
                        <a:rPr lang="ko-KR" altLang="en-US" sz="1400" b="1" dirty="0"/>
                        <a:t>체크포인트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 현지 지사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인허가 데이터 및 안전성 입증 서류의 본사 완전 통제 가능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바이어 변경 시 유통 공백 없음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현지 법인 설립 및 유지 비용이 높음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 수입 바이어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별도의 독립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RP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선임 비용이 발생하지 않으며 현지 물류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유통망과 즉각 연계 가능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바이어 갈등 시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FDA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리스팅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권한 이관 거부 분쟁 리스크 존재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(3)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전문 독립 규제 대행사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제조 처방 및 기밀 서류의 외부 유출을 원천 차단하며 다수 바이어에게 동시 공급 가능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매년 고정 관리 대행 수수료 지출 필요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단순 대행만으로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RP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가 되는 것은 아니며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규제 대행사가 라벨에 명칭이 표시되는 제조업체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·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포장업체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·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유통업체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 경우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785727"/>
                  </a:ext>
                </a:extLst>
              </a:tr>
              <a:tr h="449592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수권 계약서</a:t>
                      </a:r>
                      <a:endParaRPr lang="ko-KR" altLang="ko-KR" sz="1400" b="1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자체 양식 사용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포함되어야 할 항목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(1) RP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권한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계약기간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(3)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해지조항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(4) FDA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계정 관리권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(5)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리스팅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권한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(6)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기밀 유지 조항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1127830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1" dirty="0"/>
                        <a:t>주의사항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독점 바이어를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RP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 지정하는 경우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현지 유통 바이어를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RP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 지정하면 비용은 낮으나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향후 바이어와 거래를 중단하거나 교체할 때 상표권 및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FDA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등록 권한을 인질로 잡히는 분쟁 발생 위험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심각한 부작용 보고 대응 체계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strike="sng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RP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는 소비자의 심각한 부작용 신고 접수 시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영업일 이내에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FDA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보고해야 하는 법적 의무를 가지므로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실제 운영되는 연락처를 제공할 수 있는 업체여야 함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422273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C858135-E31B-B85E-F887-DBA2E2E7FBD3}"/>
              </a:ext>
            </a:extLst>
          </p:cNvPr>
          <p:cNvSpPr txBox="1"/>
          <p:nvPr/>
        </p:nvSpPr>
        <p:spPr>
          <a:xfrm>
            <a:off x="335658" y="339047"/>
            <a:ext cx="8721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02. 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미국 책임자</a:t>
            </a:r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(RP) 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지정 및 </a:t>
            </a:r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FDA Direct Account 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생성</a:t>
            </a:r>
            <a:endParaRPr lang="en-US" altLang="ko-KR" sz="2000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15C061-E509-5183-C986-CDD0076EED11}"/>
              </a:ext>
            </a:extLst>
          </p:cNvPr>
          <p:cNvSpPr txBox="1"/>
          <p:nvPr/>
        </p:nvSpPr>
        <p:spPr>
          <a:xfrm>
            <a:off x="295346" y="905433"/>
            <a:ext cx="87212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+mn-ea"/>
              </a:rPr>
              <a:t>미국 책임자</a:t>
            </a:r>
            <a:r>
              <a:rPr lang="en-US" altLang="ko-KR" sz="1400" b="1" dirty="0">
                <a:latin typeface="+mn-ea"/>
              </a:rPr>
              <a:t>(RP) </a:t>
            </a:r>
            <a:r>
              <a:rPr lang="ko-KR" altLang="en-US" sz="1400" b="1" dirty="0">
                <a:latin typeface="+mn-ea"/>
              </a:rPr>
              <a:t>지정</a:t>
            </a:r>
            <a:endParaRPr lang="en-US" altLang="ko-KR" sz="14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20161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E1CE9-BCF1-B1CA-479F-3DC77D975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99286BC-1DB4-1967-57C0-9DAE34ED3E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0777555"/>
              </p:ext>
            </p:extLst>
          </p:nvPr>
        </p:nvGraphicFramePr>
        <p:xfrm>
          <a:off x="335658" y="1324622"/>
          <a:ext cx="11175294" cy="1615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79084">
                  <a:extLst>
                    <a:ext uri="{9D8B030D-6E8A-4147-A177-3AD203B41FA5}">
                      <a16:colId xmlns:a16="http://schemas.microsoft.com/office/drawing/2014/main" val="4224328845"/>
                    </a:ext>
                  </a:extLst>
                </a:gridCol>
                <a:gridCol w="8196210">
                  <a:extLst>
                    <a:ext uri="{9D8B030D-6E8A-4147-A177-3AD203B41FA5}">
                      <a16:colId xmlns:a16="http://schemas.microsoft.com/office/drawing/2014/main" val="1944886688"/>
                    </a:ext>
                  </a:extLst>
                </a:gridCol>
              </a:tblGrid>
              <a:tr h="644737">
                <a:tc>
                  <a:txBody>
                    <a:bodyPr/>
                    <a:lstStyle/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ko-KR" altLang="en-US" sz="1400" b="1" dirty="0"/>
                        <a:t>필요서류</a:t>
                      </a:r>
                      <a:endParaRPr lang="en-US" altLang="ko-KR" sz="1400" b="1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회사 기본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서류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영문 사업자등록증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회사 영문 정보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정보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제품명 및 브랜드명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카테고리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(3)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성분 자료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Formula, Quantitative Ingredient List, INCI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성분표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(4)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라벨 자료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Artwork Draft, Label Draft,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최종 영문 라벨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(5)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제조 관련 자료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제조시설 정보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GMP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관련 자료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(6)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품질 자료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규격서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COA(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완제품 시험성적서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(7)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안전성 자료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Safety Substantiation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자료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MSDS/SDS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(8)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계약 관련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RP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수권계약서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위임장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(9) FDA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등록 관련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FEI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번호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DUNS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번호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(10)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부작용 대응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부작용 접수 연락체계 정보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377622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362A5C9-9BF9-A1C4-88BF-2E801FE49833}"/>
              </a:ext>
            </a:extLst>
          </p:cNvPr>
          <p:cNvSpPr txBox="1"/>
          <p:nvPr/>
        </p:nvSpPr>
        <p:spPr>
          <a:xfrm>
            <a:off x="335658" y="339047"/>
            <a:ext cx="8721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02. 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미국 책임자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(RP) 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지정 및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FDA Direct Account 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생성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C035C7-C51B-632E-CCD8-AB84317E9807}"/>
              </a:ext>
            </a:extLst>
          </p:cNvPr>
          <p:cNvSpPr txBox="1"/>
          <p:nvPr/>
        </p:nvSpPr>
        <p:spPr>
          <a:xfrm>
            <a:off x="295346" y="905433"/>
            <a:ext cx="87212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+mn-ea"/>
              </a:rPr>
              <a:t>미국 책임자</a:t>
            </a:r>
            <a:r>
              <a:rPr lang="en-US" altLang="ko-KR" sz="1400" b="1" dirty="0">
                <a:latin typeface="+mn-ea"/>
              </a:rPr>
              <a:t>(RP) </a:t>
            </a:r>
            <a:r>
              <a:rPr lang="ko-KR" altLang="en-US" sz="1400" b="1" dirty="0">
                <a:latin typeface="+mn-ea"/>
              </a:rPr>
              <a:t>지정</a:t>
            </a:r>
            <a:endParaRPr lang="en-US" altLang="ko-KR" sz="14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76583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DF896-02DE-11B9-F682-FD3CB285A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F9D710C-B878-5874-C54D-0FEBC72FCC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4354908"/>
              </p:ext>
            </p:extLst>
          </p:nvPr>
        </p:nvGraphicFramePr>
        <p:xfrm>
          <a:off x="325826" y="1313791"/>
          <a:ext cx="11175294" cy="34170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79084">
                  <a:extLst>
                    <a:ext uri="{9D8B030D-6E8A-4147-A177-3AD203B41FA5}">
                      <a16:colId xmlns:a16="http://schemas.microsoft.com/office/drawing/2014/main" val="4224328845"/>
                    </a:ext>
                  </a:extLst>
                </a:gridCol>
                <a:gridCol w="8196210">
                  <a:extLst>
                    <a:ext uri="{9D8B030D-6E8A-4147-A177-3AD203B41FA5}">
                      <a16:colId xmlns:a16="http://schemas.microsoft.com/office/drawing/2014/main" val="1944886688"/>
                    </a:ext>
                  </a:extLst>
                </a:gridCol>
              </a:tblGrid>
              <a:tr h="75731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기관</a:t>
                      </a:r>
                      <a:endParaRPr lang="ko-KR" altLang="ko-KR" sz="1400" b="1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 식품의약국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(FDA)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9518004"/>
                  </a:ext>
                </a:extLst>
              </a:tr>
              <a:tr h="75731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참고 및 필요 서류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(1) FEI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번호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(Facility Establishment Identifier) 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제조 공장의 경우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FDA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부여하는 고유 식별 번호로 시설등록과 제품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리스팅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시 반드시 필요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없을 경우 계정 신청 과정에서 검색 및 신규 신청 가능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(2) DUNS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번호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공장 및 법인의 국제 기업 식별 번호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던앤브래드스트리트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(D&amp;B)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또는 한국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나이스디앤비에서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무료 또는 유료로 발급받을 수 있으며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FDA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계정 생성 시 기업 일치 여부를 검증하는 데 사용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(3)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담당자 정보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계정을 관리할 마스터 관리자의 영문 이름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회사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E-mail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주소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전화번호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9504629"/>
                  </a:ext>
                </a:extLst>
              </a:tr>
              <a:tr h="75731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세부 절차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[FDA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승인 포털 접속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000" dirty="0">
                          <a:solidFill>
                            <a:schemeClr val="tx1"/>
                          </a:solidFill>
                        </a:rPr>
                        <a:t> → [</a:t>
                      </a:r>
                      <a:r>
                        <a:rPr lang="ko-KR" altLang="ko-KR" sz="1000" dirty="0" err="1">
                          <a:solidFill>
                            <a:schemeClr val="tx1"/>
                          </a:solidFill>
                        </a:rPr>
                        <a:t>Cosmetics</a:t>
                      </a:r>
                      <a:r>
                        <a:rPr lang="ko-KR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ko-KR" sz="1000" dirty="0" err="1">
                          <a:solidFill>
                            <a:schemeClr val="tx1"/>
                          </a:solidFill>
                        </a:rPr>
                        <a:t>Direct</a:t>
                      </a:r>
                      <a:r>
                        <a:rPr lang="ko-KR" altLang="ko-KR" sz="1000" dirty="0">
                          <a:solidFill>
                            <a:schemeClr val="tx1"/>
                          </a:solidFill>
                        </a:rPr>
                        <a:t> 계정 선택]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→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 유형 선택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제조시설 등록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또는 제품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리스팅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→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기업 및 시설 정보 입력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→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이메일 인증 및 보안 설정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→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최종 승인 및 계정 활성화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endParaRPr lang="ko-KR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785727"/>
                  </a:ext>
                </a:extLst>
              </a:tr>
              <a:tr h="449592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주의 사항 및 확인 사항</a:t>
                      </a:r>
                      <a:endParaRPr lang="ko-KR" altLang="ko-KR" sz="1400" b="1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이메일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주소 공용성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퇴사자 발생 시 계정 접근이 차단될 수 있으므로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개인 이메일보다 부서 공용 이메일 사용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정보의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일치성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DUNS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번호에 등록된 영문 회사 주소와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FDA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주소가 완벽히 일치해야 함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1127830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참고 자료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000" b="0" i="0" kern="1200" dirty="0">
                          <a:solidFill>
                            <a:srgbClr val="467886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FDA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다이렉트 사용자 계정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422273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1ABF6A4-7363-C55A-4E37-35E3202A116B}"/>
              </a:ext>
            </a:extLst>
          </p:cNvPr>
          <p:cNvSpPr txBox="1"/>
          <p:nvPr/>
        </p:nvSpPr>
        <p:spPr>
          <a:xfrm>
            <a:off x="325826" y="339047"/>
            <a:ext cx="8721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02. 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미국 책임자</a:t>
            </a:r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(RP) 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지정 및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FDA Direct Account 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생성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17CE45-2831-E374-1B2D-B12B26D46569}"/>
              </a:ext>
            </a:extLst>
          </p:cNvPr>
          <p:cNvSpPr txBox="1"/>
          <p:nvPr/>
        </p:nvSpPr>
        <p:spPr>
          <a:xfrm>
            <a:off x="295346" y="905433"/>
            <a:ext cx="87212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+mn-ea"/>
              </a:rPr>
              <a:t>FDA Direct Account </a:t>
            </a:r>
            <a:r>
              <a:rPr lang="ko-KR" altLang="en-US" sz="1400" b="1" dirty="0">
                <a:latin typeface="+mn-ea"/>
              </a:rPr>
              <a:t>생성</a:t>
            </a:r>
            <a:endParaRPr lang="en-US" altLang="ko-KR" sz="14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8811736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F1839-E80F-F231-0E58-C0A522C1B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19EFF4-E20B-C6C7-A05E-D81C2D0E7B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1783558"/>
              </p:ext>
            </p:extLst>
          </p:nvPr>
        </p:nvGraphicFramePr>
        <p:xfrm>
          <a:off x="405898" y="1371600"/>
          <a:ext cx="11178501" cy="4703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74093">
                  <a:extLst>
                    <a:ext uri="{9D8B030D-6E8A-4147-A177-3AD203B41FA5}">
                      <a16:colId xmlns:a16="http://schemas.microsoft.com/office/drawing/2014/main" val="3376188853"/>
                    </a:ext>
                  </a:extLst>
                </a:gridCol>
                <a:gridCol w="9604408">
                  <a:extLst>
                    <a:ext uri="{9D8B030D-6E8A-4147-A177-3AD203B41FA5}">
                      <a16:colId xmlns:a16="http://schemas.microsoft.com/office/drawing/2014/main" val="4224328845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설명 또는 정의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미국으로 수출되는 화장품을 실제 제조하는 국내외 공장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시설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을 미국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FDA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공식 등록하는 제도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 유통 전 등록이 필수이며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시설 등록 전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FEI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확보 필요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시설 등록은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년마다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갱신 필요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9518004"/>
                  </a:ext>
                </a:extLst>
              </a:tr>
              <a:tr h="5214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방식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0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전자 등록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(Cosmetic Direct) : FDA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Cosmetics Direct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통해 전자 제출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서면 등록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FDA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서식을 다운로드하여 우편 및 지정된 이메일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RLC-PaperSubmissions@fda.hhs.gov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 제출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9504629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기관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 식품의약국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(FDA)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785727"/>
                  </a:ext>
                </a:extLst>
              </a:tr>
              <a:tr h="6179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참고 또는</a:t>
                      </a:r>
                      <a:endParaRPr lang="en-US" altLang="ko-KR" sz="12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필요서류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FDA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Form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5066(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화장품 시설 등록서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)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문서 유형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최초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변경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취소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갱신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시설 정보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시설명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FEI,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주소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E-mail,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전화번호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(3)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시설 소유자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운영자 정보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(4)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제조 브랜드명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(5)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지정 책임자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(RP)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정보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(6)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분류 코드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(7)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 대리인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해외시설의 경우 필수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):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이름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E-mail,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전화번호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(8)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확인서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(9)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추가 연락처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선택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화장품 시설 등록 및 제품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리스팅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 안내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(</a:t>
                      </a:r>
                      <a:r>
                        <a:rPr lang="en-US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MoCRA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)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rgbClr val="467886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rgbClr val="467886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등록 및 </a:t>
                      </a:r>
                      <a:r>
                        <a:rPr lang="ko-KR" altLang="en-US" sz="1000" b="0" i="0" kern="1200" dirty="0" err="1">
                          <a:solidFill>
                            <a:srgbClr val="467886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리스팅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 최종 가이드라인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1127830"/>
                  </a:ext>
                </a:extLst>
              </a:tr>
              <a:tr h="4812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절차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[FDA </a:t>
                      </a:r>
                      <a:r>
                        <a:rPr lang="ko-KR" altLang="ko-KR" sz="1000" dirty="0" err="1">
                          <a:solidFill>
                            <a:schemeClr val="tx1"/>
                          </a:solidFill>
                        </a:rPr>
                        <a:t>Direct</a:t>
                      </a:r>
                      <a:r>
                        <a:rPr lang="ko-KR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포털 접속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→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시설 정보 및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DUNS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연동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→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 대리인 입력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→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제조 품목 및 브랜드 등록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→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서명 및 제출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4222730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27E12BD-4D93-3E93-2952-01F1600271EE}"/>
              </a:ext>
            </a:extLst>
          </p:cNvPr>
          <p:cNvSpPr txBox="1"/>
          <p:nvPr/>
        </p:nvSpPr>
        <p:spPr>
          <a:xfrm>
            <a:off x="325826" y="339047"/>
            <a:ext cx="8721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03. 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화장품 시설 등록 및 제품 </a:t>
            </a:r>
            <a:r>
              <a:rPr kumimoji="0" lang="ko-KR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리스팅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E224F7-A6E5-D5D3-3853-2A2249329701}"/>
              </a:ext>
            </a:extLst>
          </p:cNvPr>
          <p:cNvSpPr txBox="1"/>
          <p:nvPr/>
        </p:nvSpPr>
        <p:spPr>
          <a:xfrm>
            <a:off x="325826" y="886609"/>
            <a:ext cx="87212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화장품 시설 등록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1701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3.7037E-7 L 0.00104 -0.1578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-78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3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DDB79-7145-5424-2FB3-A7D48666F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7C0919B-94F1-A1B8-1461-5F92CD23F2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4417039"/>
              </p:ext>
            </p:extLst>
          </p:nvPr>
        </p:nvGraphicFramePr>
        <p:xfrm>
          <a:off x="405898" y="1371600"/>
          <a:ext cx="11178501" cy="23479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74093">
                  <a:extLst>
                    <a:ext uri="{9D8B030D-6E8A-4147-A177-3AD203B41FA5}">
                      <a16:colId xmlns:a16="http://schemas.microsoft.com/office/drawing/2014/main" val="3376188853"/>
                    </a:ext>
                  </a:extLst>
                </a:gridCol>
                <a:gridCol w="9604408">
                  <a:extLst>
                    <a:ext uri="{9D8B030D-6E8A-4147-A177-3AD203B41FA5}">
                      <a16:colId xmlns:a16="http://schemas.microsoft.com/office/drawing/2014/main" val="4224328845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주의사항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또는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확인사항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DUNS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정보와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일치성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공장의 영문 주소가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DUNS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시스템에 등록된 정보와 일치해야 함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면제 대상 확인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소기업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최근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년간 미국 내 연평균 화장품 매출액이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만 달러 미만인 제조업체는 시설 등록 의무가 면제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눈 점막에 정기적으로 접촉하는 화장품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주사 제품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체내 사용을 목적으로 하는 화장품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24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시간 이상 외관을 지속적으로 변화시키는 제품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소비자가 통상적으로 제거하지 않는 경우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은 제외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※ </a:t>
                      </a:r>
                      <a:r>
                        <a:rPr lang="ko-KR" altLang="en-US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자외선차단제 등 의약품에 해당하는 제품</a:t>
                      </a:r>
                      <a:endParaRPr lang="en-US" altLang="ko-KR" sz="1000" b="1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미국에서 자외선차단제는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OTC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의약품으로 규제되며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자외선차단제와 같이 의약품이면서 화장품에 해당하는 제품 및 그 제조시설에는 의약품 관련 등록 및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리스팅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요건이 적용됨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(3)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등록 기한 엄수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신규로 미국 유통용 화장품의 제조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및 가공을 시작하는 시설은 제조 및 가공 개시 후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60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일 이내에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FDA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시설 등록 필요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미국 수출 전 등록 여부를 사전에 확인하는 것을 권장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(4)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제조시설에서 생산하는 모든 브랜드 정보를 정확히 기재해야 함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951800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A72903B-199B-AD2E-95B0-0280D9C14379}"/>
              </a:ext>
            </a:extLst>
          </p:cNvPr>
          <p:cNvSpPr txBox="1"/>
          <p:nvPr/>
        </p:nvSpPr>
        <p:spPr>
          <a:xfrm>
            <a:off x="325826" y="339047"/>
            <a:ext cx="8721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03. 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화장품 시설 등록 및 제품 </a:t>
            </a:r>
            <a:r>
              <a:rPr lang="ko-KR" altLang="en-US" sz="2000" b="1" dirty="0" err="1">
                <a:solidFill>
                  <a:srgbClr val="0070C0"/>
                </a:solidFill>
                <a:latin typeface="+mn-ea"/>
              </a:rPr>
              <a:t>리스팅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 </a:t>
            </a:r>
            <a:endParaRPr lang="en-US" altLang="ko-KR" sz="2000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1C831B-E7D6-4604-2C27-F532A24B0403}"/>
              </a:ext>
            </a:extLst>
          </p:cNvPr>
          <p:cNvSpPr txBox="1"/>
          <p:nvPr/>
        </p:nvSpPr>
        <p:spPr>
          <a:xfrm>
            <a:off x="325826" y="886609"/>
            <a:ext cx="87212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+mn-ea"/>
              </a:rPr>
              <a:t>화장품 시설 등록</a:t>
            </a:r>
            <a:endParaRPr lang="en-US" altLang="ko-KR" sz="14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67434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3.7037E-7 L 0.00104 -0.1578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-78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07FCA-8D1C-5351-37C9-D95C22EA6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4D71391-DA32-647F-A34A-8BC2BFA091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3120803"/>
              </p:ext>
            </p:extLst>
          </p:nvPr>
        </p:nvGraphicFramePr>
        <p:xfrm>
          <a:off x="405898" y="1341838"/>
          <a:ext cx="11385768" cy="38499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61798">
                  <a:extLst>
                    <a:ext uri="{9D8B030D-6E8A-4147-A177-3AD203B41FA5}">
                      <a16:colId xmlns:a16="http://schemas.microsoft.com/office/drawing/2014/main" val="3376188853"/>
                    </a:ext>
                  </a:extLst>
                </a:gridCol>
                <a:gridCol w="9823970">
                  <a:extLst>
                    <a:ext uri="{9D8B030D-6E8A-4147-A177-3AD203B41FA5}">
                      <a16:colId xmlns:a16="http://schemas.microsoft.com/office/drawing/2014/main" val="4224328845"/>
                    </a:ext>
                  </a:extLst>
                </a:gridCol>
              </a:tblGrid>
              <a:tr h="5479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설명 또는 정의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 시장에 유통하려는 모든 개별 화장품의 성분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품목명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제조원 정보를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FDA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공식 등록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브랜드 오너 또는 지정 책임자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(RP)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주체가 되어 판매할 상품 하나 하나를 모두 등록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※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동일 처방이거나 색상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향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내용량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등만 다른 일부 제품은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FDA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기준에 따라 하나의 제출에 포함할 수 있음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별 최초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리스팅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이후 매년 변경 사항 갱신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9518004"/>
                  </a:ext>
                </a:extLst>
              </a:tr>
              <a:tr h="3955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방식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전자 등록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Cosmetic Direct(FDA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공식 화장품 등록 포털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통해 온라인으로 성분표를 직접 기재하거나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다품목의 경우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SPL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형식의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xml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파일을 업로드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서면 등록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FDA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서식을 다운로드하여 우편 또는 지정된 이메일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RLC-PaperSubmissions@fda.hhs.gov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 제출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9504629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기관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 식품의약국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(FDA)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785727"/>
                  </a:ext>
                </a:extLst>
              </a:tr>
              <a:tr h="6179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참고 또는</a:t>
                      </a:r>
                      <a:endParaRPr lang="en-US" altLang="ko-KR" sz="12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필요서류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0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FDA Form 5067(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화장품 제품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리스팅서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)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문서 유형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지정 책임자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(RP)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정보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(3)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정보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(4)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분류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(5)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제조시설 정보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(6)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전성분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목록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(INCI)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(7)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확인서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(8)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추가 연락처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(9)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라벨 이미지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웹페이지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DUNS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번호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전문용 제품 여부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1127830"/>
                  </a:ext>
                </a:extLst>
              </a:tr>
              <a:tr h="3630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절차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[FDA Direct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포털 접속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→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제조 시설 연결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→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기본 정보 입력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→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전성분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목록 입력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→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검토 및 전자서명 제출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4222730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2DA8131D-6DAB-7F26-6D35-6AE643DE7830}"/>
              </a:ext>
            </a:extLst>
          </p:cNvPr>
          <p:cNvSpPr txBox="1"/>
          <p:nvPr/>
        </p:nvSpPr>
        <p:spPr>
          <a:xfrm>
            <a:off x="325826" y="339047"/>
            <a:ext cx="8721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03. 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화장품 시설 등록 및 제품 </a:t>
            </a:r>
            <a:r>
              <a:rPr lang="ko-KR" altLang="en-US" sz="2000" b="1" dirty="0" err="1">
                <a:solidFill>
                  <a:srgbClr val="0070C0"/>
                </a:solidFill>
                <a:latin typeface="+mn-ea"/>
              </a:rPr>
              <a:t>리스팅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 </a:t>
            </a:r>
            <a:endParaRPr lang="en-US" altLang="ko-KR" sz="2000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491991-F0E7-68AA-A16B-A74C400F5A4B}"/>
              </a:ext>
            </a:extLst>
          </p:cNvPr>
          <p:cNvSpPr txBox="1"/>
          <p:nvPr/>
        </p:nvSpPr>
        <p:spPr>
          <a:xfrm>
            <a:off x="325826" y="886609"/>
            <a:ext cx="87212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+mn-ea"/>
              </a:rPr>
              <a:t>제품 </a:t>
            </a:r>
            <a:r>
              <a:rPr lang="ko-KR" altLang="en-US" sz="1400" b="1" dirty="0" err="1">
                <a:latin typeface="+mn-ea"/>
              </a:rPr>
              <a:t>리스팅</a:t>
            </a:r>
            <a:endParaRPr lang="en-US" altLang="ko-KR" sz="14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9343174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0AC95-B8C0-1B97-387C-BFD58045B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712D01E-DE1C-302B-C6C3-5BE9D863A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2772512"/>
              </p:ext>
            </p:extLst>
          </p:nvPr>
        </p:nvGraphicFramePr>
        <p:xfrm>
          <a:off x="405898" y="1341838"/>
          <a:ext cx="11385768" cy="28051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61798">
                  <a:extLst>
                    <a:ext uri="{9D8B030D-6E8A-4147-A177-3AD203B41FA5}">
                      <a16:colId xmlns:a16="http://schemas.microsoft.com/office/drawing/2014/main" val="3376188853"/>
                    </a:ext>
                  </a:extLst>
                </a:gridCol>
                <a:gridCol w="9823970">
                  <a:extLst>
                    <a:ext uri="{9D8B030D-6E8A-4147-A177-3AD203B41FA5}">
                      <a16:colId xmlns:a16="http://schemas.microsoft.com/office/drawing/2014/main" val="4224328845"/>
                    </a:ext>
                  </a:extLst>
                </a:gridCol>
              </a:tblGrid>
              <a:tr h="52612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200" b="1" dirty="0"/>
                        <a:t>주의사항</a:t>
                      </a:r>
                      <a:endParaRPr lang="en-US" altLang="ko-KR" sz="1200" b="1" dirty="0"/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200" b="1" dirty="0"/>
                        <a:t>또는</a:t>
                      </a:r>
                      <a:endParaRPr lang="en-US" altLang="ko-KR" sz="1200" b="1" dirty="0"/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200" b="1" dirty="0"/>
                        <a:t>확인사항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latinLnBrk="0">
                        <a:lnSpc>
                          <a:spcPct val="150000"/>
                        </a:lnSpc>
                        <a:buAutoNum type="arabicParenBoth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제조 공장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FEI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번호 선행 필수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화장품을 생산한 공장이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FDA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시설 등록을 완료하지 않은 경우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리스팅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단계 시작 불가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 latinLnBrk="0">
                        <a:lnSpc>
                          <a:spcPct val="150000"/>
                        </a:lnSpc>
                        <a:buAutoNum type="arabicParenBoth"/>
                      </a:pPr>
                      <a:r>
                        <a:rPr lang="ko-KR" altLang="ko-KR" sz="1000" dirty="0">
                          <a:solidFill>
                            <a:schemeClr val="tx1"/>
                          </a:solidFill>
                        </a:rPr>
                        <a:t>성분 명칭 오류(미국 기준 명칭 확인) : 제품 </a:t>
                      </a:r>
                      <a:r>
                        <a:rPr lang="ko-KR" altLang="ko-KR" sz="1000" dirty="0" err="1">
                          <a:solidFill>
                            <a:schemeClr val="tx1"/>
                          </a:solidFill>
                        </a:rPr>
                        <a:t>리스팅</a:t>
                      </a:r>
                      <a:r>
                        <a:rPr lang="ko-KR" altLang="ko-KR" sz="1000" dirty="0">
                          <a:solidFill>
                            <a:schemeClr val="tx1"/>
                          </a:solidFill>
                        </a:rPr>
                        <a:t> 시 성분명은 </a:t>
                      </a:r>
                      <a:r>
                        <a:rPr lang="ko-KR" altLang="ko-KR" sz="1000" dirty="0">
                          <a:solidFill>
                            <a:schemeClr val="tx1"/>
                          </a:solidFill>
                          <a:hlinkClick r:id="rId4"/>
                        </a:rPr>
                        <a:t>21 CFR §701.3</a:t>
                      </a:r>
                      <a:r>
                        <a:rPr lang="ko-KR" altLang="ko-KR" sz="1000" dirty="0">
                          <a:solidFill>
                            <a:schemeClr val="tx1"/>
                          </a:solidFill>
                        </a:rPr>
                        <a:t>에 따른 명칭 또는 미국에서 통용되는 </a:t>
                      </a:r>
                      <a:r>
                        <a:rPr lang="ko-KR" altLang="ko-KR" sz="1000" dirty="0" err="1">
                          <a:solidFill>
                            <a:schemeClr val="tx1"/>
                          </a:solidFill>
                        </a:rPr>
                        <a:t>일반명</a:t>
                      </a:r>
                      <a:r>
                        <a:rPr lang="ko-KR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ko-KR" sz="1000" dirty="0" err="1">
                          <a:solidFill>
                            <a:schemeClr val="tx1"/>
                          </a:solidFill>
                        </a:rPr>
                        <a:t>common</a:t>
                      </a:r>
                      <a:r>
                        <a:rPr lang="ko-KR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ko-KR" sz="1000" dirty="0" err="1">
                          <a:solidFill>
                            <a:schemeClr val="tx1"/>
                          </a:solidFill>
                        </a:rPr>
                        <a:t>or</a:t>
                      </a:r>
                      <a:r>
                        <a:rPr lang="ko-KR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ko-KR" sz="1000" dirty="0" err="1">
                          <a:solidFill>
                            <a:schemeClr val="tx1"/>
                          </a:solidFill>
                        </a:rPr>
                        <a:t>usual</a:t>
                      </a:r>
                      <a:r>
                        <a:rPr lang="ko-KR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ko-KR" sz="1000" dirty="0" err="1">
                          <a:solidFill>
                            <a:schemeClr val="tx1"/>
                          </a:solidFill>
                        </a:rPr>
                        <a:t>name</a:t>
                      </a:r>
                      <a:r>
                        <a:rPr lang="ko-KR" altLang="ko-KR" sz="1000" dirty="0">
                          <a:solidFill>
                            <a:schemeClr val="tx1"/>
                          </a:solidFill>
                        </a:rPr>
                        <a:t>)을 기준으로 작성해야 하며, 국내 성분명을 단순 영문 번역하거나 다른 국가의 </a:t>
                      </a:r>
                      <a:r>
                        <a:rPr lang="ko-KR" altLang="ko-KR" sz="1000" dirty="0" err="1">
                          <a:solidFill>
                            <a:schemeClr val="tx1"/>
                          </a:solidFill>
                        </a:rPr>
                        <a:t>성분명</a:t>
                      </a:r>
                      <a:r>
                        <a:rPr lang="ko-KR" altLang="ko-KR" sz="1000" dirty="0">
                          <a:solidFill>
                            <a:schemeClr val="tx1"/>
                          </a:solidFill>
                        </a:rPr>
                        <a:t> 체계를 그대로 적용하지 않도록 주의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 latinLnBrk="0">
                        <a:lnSpc>
                          <a:spcPct val="150000"/>
                        </a:lnSpc>
                        <a:buAutoNum type="arabicParenBoth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면제 대상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소기업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확인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최근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년간 미국 내 연평균 화장품 매출액이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만 달러 미만인 제조업체는 시설 등록 의무가 면제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눈 점막에 정기적으로 접촉하는 화장품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주사 제품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체내 사용을 목적으로 하는 화장품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24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시간 이상 외관을 지속적으로 변화시키는 제품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소비자가 통상적으로 제거하지 않는 경우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은 제외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※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자외선차단제 등 의약품에 해당하는 제품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미국에서 자외선차단제는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OTC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의약품으로 규제되며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자외선차단제와 같이 의약품이면서 화장품에 해당하는 제품 및 그 제조시설에는 의약품 관련 등록 및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리스팅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요건이 적용됨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(4)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제품분류를 올바르게 선택해야 하며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제품의 성분이나 제품명 변경 시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FDA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리스팅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정보 갱신 필요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(5) </a:t>
                      </a:r>
                      <a:r>
                        <a:rPr lang="ko-KR" altLang="ko-KR" sz="1000" b="0" dirty="0">
                          <a:solidFill>
                            <a:schemeClr val="tx1"/>
                          </a:solidFill>
                        </a:rPr>
                        <a:t>제품 </a:t>
                      </a:r>
                      <a:r>
                        <a:rPr lang="ko-KR" altLang="ko-KR" sz="1000" b="0" dirty="0" err="1">
                          <a:solidFill>
                            <a:schemeClr val="tx1"/>
                          </a:solidFill>
                        </a:rPr>
                        <a:t>리스팅</a:t>
                      </a:r>
                      <a:r>
                        <a:rPr lang="ko-KR" altLang="ko-KR" sz="1000" b="0" dirty="0">
                          <a:solidFill>
                            <a:schemeClr val="tx1"/>
                          </a:solidFill>
                        </a:rPr>
                        <a:t> 기한 확인 : 신규 화장품은 미국 내 주간거래(</a:t>
                      </a:r>
                      <a:r>
                        <a:rPr lang="ko-KR" altLang="ko-KR" sz="1000" b="0" dirty="0" err="1">
                          <a:solidFill>
                            <a:schemeClr val="tx1"/>
                          </a:solidFill>
                        </a:rPr>
                        <a:t>interstate</a:t>
                      </a:r>
                      <a:r>
                        <a:rPr lang="ko-KR" altLang="ko-KR" sz="10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ko-KR" sz="1000" b="0" dirty="0" err="1">
                          <a:solidFill>
                            <a:schemeClr val="tx1"/>
                          </a:solidFill>
                        </a:rPr>
                        <a:t>commerce</a:t>
                      </a:r>
                      <a:r>
                        <a:rPr lang="ko-KR" altLang="ko-KR" sz="1000" b="0" dirty="0">
                          <a:solidFill>
                            <a:schemeClr val="tx1"/>
                          </a:solidFill>
                        </a:rPr>
                        <a:t>)에서 최초 판매된 날부터 120일 이내에 제품 </a:t>
                      </a:r>
                      <a:r>
                        <a:rPr lang="ko-KR" altLang="ko-KR" sz="1000" b="0" dirty="0" err="1">
                          <a:solidFill>
                            <a:schemeClr val="tx1"/>
                          </a:solidFill>
                        </a:rPr>
                        <a:t>리스팅을</a:t>
                      </a:r>
                      <a:r>
                        <a:rPr lang="ko-KR" altLang="ko-KR" sz="1000" b="0" dirty="0">
                          <a:solidFill>
                            <a:schemeClr val="tx1"/>
                          </a:solidFill>
                        </a:rPr>
                        <a:t> 제출해야 하며, 이후 매년 </a:t>
                      </a:r>
                      <a:r>
                        <a:rPr lang="ko-KR" altLang="ko-KR" sz="1000" b="0" dirty="0" err="1">
                          <a:solidFill>
                            <a:schemeClr val="tx1"/>
                          </a:solidFill>
                        </a:rPr>
                        <a:t>리스팅</a:t>
                      </a:r>
                      <a:r>
                        <a:rPr lang="ko-KR" altLang="ko-KR" sz="1000" b="0" dirty="0">
                          <a:solidFill>
                            <a:schemeClr val="tx1"/>
                          </a:solidFill>
                        </a:rPr>
                        <a:t> 정보를 갱신해야 함.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377622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25DEC6B-0246-3E88-74B5-049B4C7CB883}"/>
              </a:ext>
            </a:extLst>
          </p:cNvPr>
          <p:cNvSpPr txBox="1"/>
          <p:nvPr/>
        </p:nvSpPr>
        <p:spPr>
          <a:xfrm>
            <a:off x="325826" y="339047"/>
            <a:ext cx="8721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03. 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화장품 시설 등록 및 제품 </a:t>
            </a:r>
            <a:r>
              <a:rPr lang="ko-KR" altLang="en-US" sz="2000" b="1" dirty="0" err="1">
                <a:solidFill>
                  <a:srgbClr val="0070C0"/>
                </a:solidFill>
                <a:latin typeface="+mn-ea"/>
              </a:rPr>
              <a:t>리스팅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 </a:t>
            </a:r>
            <a:endParaRPr lang="en-US" altLang="ko-KR" sz="2000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3D44A1-CA3E-B7AB-3E53-1C29B029AD7D}"/>
              </a:ext>
            </a:extLst>
          </p:cNvPr>
          <p:cNvSpPr txBox="1"/>
          <p:nvPr/>
        </p:nvSpPr>
        <p:spPr>
          <a:xfrm>
            <a:off x="325826" y="886609"/>
            <a:ext cx="87212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+mn-ea"/>
              </a:rPr>
              <a:t>제품 </a:t>
            </a:r>
            <a:r>
              <a:rPr lang="ko-KR" altLang="en-US" sz="1400" b="1" dirty="0" err="1">
                <a:latin typeface="+mn-ea"/>
              </a:rPr>
              <a:t>리스팅</a:t>
            </a:r>
            <a:endParaRPr lang="en-US" altLang="ko-KR" sz="14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8690201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1A398-3E9B-E914-DFAE-3E940991A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A010D71-C422-55B7-5795-102E23034F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2180111"/>
              </p:ext>
            </p:extLst>
          </p:nvPr>
        </p:nvGraphicFramePr>
        <p:xfrm>
          <a:off x="405898" y="1341838"/>
          <a:ext cx="11178501" cy="48199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74093">
                  <a:extLst>
                    <a:ext uri="{9D8B030D-6E8A-4147-A177-3AD203B41FA5}">
                      <a16:colId xmlns:a16="http://schemas.microsoft.com/office/drawing/2014/main" val="3376188853"/>
                    </a:ext>
                  </a:extLst>
                </a:gridCol>
                <a:gridCol w="9604408">
                  <a:extLst>
                    <a:ext uri="{9D8B030D-6E8A-4147-A177-3AD203B41FA5}">
                      <a16:colId xmlns:a16="http://schemas.microsoft.com/office/drawing/2014/main" val="4224328845"/>
                    </a:ext>
                  </a:extLst>
                </a:gridCol>
              </a:tblGrid>
              <a:tr h="5479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설명 또는 정의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수출통관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한국에서 유통되는 화장품을 세관에 신고하여 합법적으로 적재한 후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 영토에 도착했을 때 미국 세관 및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FDA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검사를 거쳐 현지 유통이 가능한 상태로 반입하는 전 과정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수출선적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수출 계약 및 통관 절차가 완료된 화장품을 운송하기 위해 선박이나 항공기에 실제로 적재하는 과정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9518004"/>
                  </a:ext>
                </a:extLst>
              </a:tr>
              <a:tr h="3955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방식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수출통관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전자통관시스템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(UNI-PASS)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을 통해 수출신고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해상운송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저렴한 비용이지만 비교적 긴 배송 기간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 서부 약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15~20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동부 약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30~40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 소요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항공운송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배송 기간이 짧지만 높은 비용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 전역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3~5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 소요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(3)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특송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소량 수출 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9504629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기관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관세청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관세국경보호청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(CBP)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(3)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 식품의약국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(FDA)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785727"/>
                  </a:ext>
                </a:extLst>
              </a:tr>
              <a:tr h="6179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참고 또는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필요서류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선하증권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또는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/>
                        </a:rPr>
                        <a:t>항공화물운송장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6"/>
                        </a:rPr>
                        <a:t>수출 신고서</a:t>
                      </a:r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(3)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송장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7"/>
                        </a:rPr>
                        <a:t>상업 송장</a:t>
                      </a:r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8"/>
                        </a:rPr>
                        <a:t>견적 송장</a:t>
                      </a:r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(4)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9"/>
                        </a:rPr>
                        <a:t>포장명세서</a:t>
                      </a:r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(5)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10"/>
                        </a:rPr>
                        <a:t>기타 수출통관에 필요한 서류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(6)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안전성 데이터 시트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항공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해상 운송 안전 규격을 충족하는 영문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MSDS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자료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(7)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11"/>
                        </a:rPr>
                        <a:t>관세율 조회 사이트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(8)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대한화장품협회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(KCA)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자유판매증명서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(CFS)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→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12"/>
                        </a:rPr>
                        <a:t>화장품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13"/>
                        </a:rPr>
                        <a:t>증명서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12"/>
                        </a:rPr>
                        <a:t> 발급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1127830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B519A92-4239-4D46-A5D8-CCB787FFBE1D}"/>
              </a:ext>
            </a:extLst>
          </p:cNvPr>
          <p:cNvSpPr txBox="1"/>
          <p:nvPr/>
        </p:nvSpPr>
        <p:spPr>
          <a:xfrm>
            <a:off x="325826" y="339047"/>
            <a:ext cx="8721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04. 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수출통관</a:t>
            </a:r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/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선적</a:t>
            </a:r>
            <a:endParaRPr lang="en-US" altLang="ko-KR" sz="2000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1396AA-3BB1-ABE5-B264-7364656BF4B4}"/>
              </a:ext>
            </a:extLst>
          </p:cNvPr>
          <p:cNvSpPr txBox="1"/>
          <p:nvPr/>
        </p:nvSpPr>
        <p:spPr>
          <a:xfrm>
            <a:off x="325826" y="886609"/>
            <a:ext cx="87212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+mn-ea"/>
              </a:rPr>
              <a:t>수출통관</a:t>
            </a:r>
            <a:r>
              <a:rPr lang="en-US" altLang="ko-KR" sz="1400" b="1" dirty="0">
                <a:latin typeface="+mn-ea"/>
              </a:rPr>
              <a:t>/</a:t>
            </a:r>
            <a:r>
              <a:rPr lang="ko-KR" altLang="en-US" sz="1400" b="1" dirty="0">
                <a:latin typeface="+mn-ea"/>
              </a:rPr>
              <a:t>선적</a:t>
            </a:r>
            <a:endParaRPr lang="en-US" altLang="ko-KR" sz="14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2705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1.11111E-6 L -0.00078 -0.2796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-155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3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5E1F9-DB52-2207-7B8D-3F6E3092E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07EC2D8-83F7-84D2-3181-4B51A0A427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7175473"/>
              </p:ext>
            </p:extLst>
          </p:nvPr>
        </p:nvGraphicFramePr>
        <p:xfrm>
          <a:off x="405898" y="1341838"/>
          <a:ext cx="11178501" cy="21434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74093">
                  <a:extLst>
                    <a:ext uri="{9D8B030D-6E8A-4147-A177-3AD203B41FA5}">
                      <a16:colId xmlns:a16="http://schemas.microsoft.com/office/drawing/2014/main" val="3376188853"/>
                    </a:ext>
                  </a:extLst>
                </a:gridCol>
                <a:gridCol w="9604408">
                  <a:extLst>
                    <a:ext uri="{9D8B030D-6E8A-4147-A177-3AD203B41FA5}">
                      <a16:colId xmlns:a16="http://schemas.microsoft.com/office/drawing/2014/main" val="4224328845"/>
                    </a:ext>
                  </a:extLst>
                </a:gridCol>
              </a:tblGrid>
              <a:tr h="4812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절차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수출계약 체결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→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수출신고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(UNI-PASS)]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→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관세청 심사 및 수출통관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→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선적 예약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→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화물 선적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→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운송서류 발급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→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운송서류를 미국 수입업체에 송부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→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현지 도착 후 통관 진행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4222730"/>
                  </a:ext>
                </a:extLst>
              </a:tr>
              <a:tr h="4476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주의사항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또는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확인사항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(1) </a:t>
                      </a:r>
                      <a:r>
                        <a:rPr lang="en-US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MoCRA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정보 매칭 오류 주의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송장이나 선하증권에 적힌 화장품의 영문 이름이 제품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리스팅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시 입력했던 이름과 다르면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심사 지연 또는 추가 검토로 이어질 수 있음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라벨 내 미국 주소 확인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용기나 라벨에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RP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미국 내 주소와 전화번호가 명확히 인쇄되어 있는지 확인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(3) OTC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분류 유의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자외선차단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여드름 치료 등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OTC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의약품에 해당하거나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미백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및 주름개선 등 의약품으로 해석될 수 있는 클레임을 사용하는 경우 미국 의약품 규제 적용 여부 확인 필요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(4) MSDS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성분 검증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위험물로 분류되는 물질의 경우 일반 선적이 불가능하므로 위험물 전문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포워더를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통해 별도 승인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(5)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화장품 온도 제어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한여름 적도 부근을 지나거나 겨울철 극한의 기온 변화를 겪을 수 있으므로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일정 온도가 유지되는 냉장 컨테이너 선적 검토 필요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377622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1D4959E-C2E3-CCA2-490E-A492D5422AC1}"/>
              </a:ext>
            </a:extLst>
          </p:cNvPr>
          <p:cNvSpPr txBox="1"/>
          <p:nvPr/>
        </p:nvSpPr>
        <p:spPr>
          <a:xfrm>
            <a:off x="325826" y="339047"/>
            <a:ext cx="8721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04. 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수출통관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선적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90B86E-638D-CBF9-E532-1085D886C6AF}"/>
              </a:ext>
            </a:extLst>
          </p:cNvPr>
          <p:cNvSpPr txBox="1"/>
          <p:nvPr/>
        </p:nvSpPr>
        <p:spPr>
          <a:xfrm>
            <a:off x="325826" y="886609"/>
            <a:ext cx="87212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수출통관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선적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7312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1.11111E-6 L -0.00078 -0.2796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-155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BE59D-2EC8-580A-54F0-896E05A56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3680017-532B-F30F-00A1-79EED46A2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6403717"/>
              </p:ext>
            </p:extLst>
          </p:nvPr>
        </p:nvGraphicFramePr>
        <p:xfrm>
          <a:off x="405898" y="1341838"/>
          <a:ext cx="11178501" cy="51345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856">
                  <a:extLst>
                    <a:ext uri="{9D8B030D-6E8A-4147-A177-3AD203B41FA5}">
                      <a16:colId xmlns:a16="http://schemas.microsoft.com/office/drawing/2014/main" val="3376188853"/>
                    </a:ext>
                  </a:extLst>
                </a:gridCol>
                <a:gridCol w="9917645">
                  <a:extLst>
                    <a:ext uri="{9D8B030D-6E8A-4147-A177-3AD203B41FA5}">
                      <a16:colId xmlns:a16="http://schemas.microsoft.com/office/drawing/2014/main" val="4224328845"/>
                    </a:ext>
                  </a:extLst>
                </a:gridCol>
              </a:tblGrid>
              <a:tr h="2939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설명 또는 정의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화물이 미국 항구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공항에 도착한 후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 세관 및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FDA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실물 화장품 패키지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라벨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표기법과 </a:t>
                      </a:r>
                      <a:r>
                        <a:rPr lang="en-US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MoCRA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전산 등록 정보가 합법적 기준에 부합하는지 공동 검역하여 현지 유통을 최종 허가하는 단계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심사 후 미국 내 유통 가능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9518004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방식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(1) ACE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전자 통합 신고 방식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 관세사가 미 세관의 자동화 상거래 시스템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(ACE)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수입 신고서를 제출하면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FDA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시스템과 실시간 연동되어 </a:t>
                      </a:r>
                      <a:r>
                        <a:rPr lang="en-US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MoCRA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등록 여부를 전산 검증함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보세창고 실물 검사 방식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샘플링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전산 심사 중 의심 사례로 분류되거나 무작위 샘플링에 당첨되면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FDA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검역관이 보세창고로 직접 출동하여 화장품 단상자와 용기 라벨의 표기 문구를 육안으로 전수 조사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9504629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기관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 식품의약국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(FDA)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 세관국경보호청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(CBP)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785727"/>
                  </a:ext>
                </a:extLst>
              </a:tr>
              <a:tr h="6179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참고 또는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필요서류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선하증권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또는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항공화물운송장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/>
                        </a:rPr>
                        <a:t>수출 신고서</a:t>
                      </a:r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(3)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송장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6"/>
                        </a:rPr>
                        <a:t>상업 송장</a:t>
                      </a:r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7"/>
                        </a:rPr>
                        <a:t>견적 송장</a:t>
                      </a:r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(4)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8"/>
                        </a:rPr>
                        <a:t>포장명세서</a:t>
                      </a:r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(5)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9"/>
                        </a:rPr>
                        <a:t>수입자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9"/>
                        </a:rPr>
                        <a:t> 관세 결속 증서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9"/>
                        </a:rPr>
                        <a:t>(Customs Bond)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1127830"/>
                  </a:ext>
                </a:extLst>
              </a:tr>
              <a:tr h="4812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절차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[ACE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신고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→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[CBP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접수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→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[FDA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자동심사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→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[Hold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여부 결정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→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검사 또는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Release]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→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수입 허가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4222730"/>
                  </a:ext>
                </a:extLst>
              </a:tr>
              <a:tr h="2341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주의사항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또는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확인사항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관세사와 실시간 소통 필요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화장품은 통상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FD2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대상 품목으로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FDA entry information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제출이 필요함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 FDA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심사 과정에서 추가자료가 요청될 수 있으므로 관세사와 신속히 대응할 필요가 있음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 2~3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일 내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미대응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시 통관 지연 또는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Detention/Refusal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가능성에 유의</a:t>
                      </a:r>
                      <a:br>
                        <a:rPr lang="en-US" altLang="ko-KR" sz="10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수입신고 서류와 실제 제품 정보 일치 여부 확인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377622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F63FF21-E4CC-B0A9-6CFC-CD6311F3C884}"/>
              </a:ext>
            </a:extLst>
          </p:cNvPr>
          <p:cNvSpPr txBox="1"/>
          <p:nvPr/>
        </p:nvSpPr>
        <p:spPr>
          <a:xfrm>
            <a:off x="325826" y="339047"/>
            <a:ext cx="8721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05. 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미국 현지통관 및 </a:t>
            </a:r>
            <a:r>
              <a:rPr lang="ko-KR" altLang="en-US" sz="2000" b="1" dirty="0" err="1">
                <a:solidFill>
                  <a:srgbClr val="0070C0"/>
                </a:solidFill>
                <a:latin typeface="+mn-ea"/>
              </a:rPr>
              <a:t>라벨링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 규정 준수</a:t>
            </a:r>
            <a:endParaRPr lang="en-US" altLang="ko-KR" sz="2000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3385BE-FAB6-B335-9A04-25319F535FBD}"/>
              </a:ext>
            </a:extLst>
          </p:cNvPr>
          <p:cNvSpPr txBox="1"/>
          <p:nvPr/>
        </p:nvSpPr>
        <p:spPr>
          <a:xfrm>
            <a:off x="325826" y="886609"/>
            <a:ext cx="87212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+mn-ea"/>
              </a:rPr>
              <a:t>현지통관</a:t>
            </a:r>
            <a:endParaRPr lang="en-US" altLang="ko-KR" sz="14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480785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5D166-786B-8985-22C9-EB4652A1A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B576E52-465D-1B34-C48A-4892DB8C4C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6246855"/>
              </p:ext>
            </p:extLst>
          </p:nvPr>
        </p:nvGraphicFramePr>
        <p:xfrm>
          <a:off x="405898" y="1341838"/>
          <a:ext cx="11178501" cy="47627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856">
                  <a:extLst>
                    <a:ext uri="{9D8B030D-6E8A-4147-A177-3AD203B41FA5}">
                      <a16:colId xmlns:a16="http://schemas.microsoft.com/office/drawing/2014/main" val="3376188853"/>
                    </a:ext>
                  </a:extLst>
                </a:gridCol>
                <a:gridCol w="9917645">
                  <a:extLst>
                    <a:ext uri="{9D8B030D-6E8A-4147-A177-3AD203B41FA5}">
                      <a16:colId xmlns:a16="http://schemas.microsoft.com/office/drawing/2014/main" val="4224328845"/>
                    </a:ext>
                  </a:extLst>
                </a:gridCol>
              </a:tblGrid>
              <a:tr h="2939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설명 또는 정의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시장에 유통되는 용기와 단상자에 미국 연방 규정 및 </a:t>
                      </a:r>
                      <a:r>
                        <a:rPr lang="en-US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MoCRA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지침에 부합하는 영문 정보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성분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경고문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책임자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(RP)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정보 등을 정확한 규격으로 인쇄하거나 부착하는 법적 의무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9518004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방식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패키지 다이렉트 인쇄 방식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용기나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단상자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제작 단계에서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FDA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규정에 맞춘 최종 영문 문안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(Artwork)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을 직접 인쇄하는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정석적인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방식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라벨 스티커 부착 방식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수정 시 유용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기존 국내용 용기나 단상자가 이미 제작된 경우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 규정에 맞는 영문 정보 스티커를 제작하여 실물 패키지에 부착하는 방식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9504629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기관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 식품의약국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(FDA)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785727"/>
                  </a:ext>
                </a:extLst>
              </a:tr>
              <a:tr h="6179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참고 또는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필요서류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(1) FDA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리스팅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데이터 시트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FDA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포털에 등록한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영문 제품명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성분 순서 등이 적힌 제출정보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라벨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최종 영문 라벨 디자인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(3)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지정책임자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(RP)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정보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(4)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포장 디자인 시안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용기 및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외포장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표시사항 검토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(5)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전성분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목록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1127830"/>
                  </a:ext>
                </a:extLst>
              </a:tr>
              <a:tr h="4812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절차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정보 및 성분 확인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→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 규정에 적합한 영문 라벨 작성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→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필수 표시사항 검토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→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[RP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및 수입업체 검토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→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최종 라벨 부착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4222730"/>
                  </a:ext>
                </a:extLst>
              </a:tr>
              <a:tr h="5261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필수 기재사항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제품명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(2)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순내용량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(Net Contents) 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기본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미국식 중량 표기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metric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표기 병기 가능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(3)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전성분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(INCI)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(4) RP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정보 및 부작용 접수 연락정보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(5)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사용방법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(6)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주의사항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(7)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원산지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377622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DE95E8E-498C-88CE-4F29-AA7AC97DEEDE}"/>
              </a:ext>
            </a:extLst>
          </p:cNvPr>
          <p:cNvSpPr txBox="1"/>
          <p:nvPr/>
        </p:nvSpPr>
        <p:spPr>
          <a:xfrm>
            <a:off x="325826" y="339047"/>
            <a:ext cx="8721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05. 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미국 현지통관 및 </a:t>
            </a:r>
            <a:r>
              <a:rPr kumimoji="0" lang="ko-KR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라벨링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규정 준수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993129-04DB-9846-D363-6F6579713BB8}"/>
              </a:ext>
            </a:extLst>
          </p:cNvPr>
          <p:cNvSpPr txBox="1"/>
          <p:nvPr/>
        </p:nvSpPr>
        <p:spPr>
          <a:xfrm>
            <a:off x="325826" y="886609"/>
            <a:ext cx="87212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라벨링</a:t>
            </a:r>
            <a:r>
              <a:rPr lang="ko-KR" alt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규정 준수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63580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FEF32-AF6C-5663-9BE8-A4E3E733E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43BC4D0-C235-F19D-6B98-094018DCB6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1467004"/>
              </p:ext>
            </p:extLst>
          </p:nvPr>
        </p:nvGraphicFramePr>
        <p:xfrm>
          <a:off x="405898" y="1341838"/>
          <a:ext cx="11178501" cy="212363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856">
                  <a:extLst>
                    <a:ext uri="{9D8B030D-6E8A-4147-A177-3AD203B41FA5}">
                      <a16:colId xmlns:a16="http://schemas.microsoft.com/office/drawing/2014/main" val="3376188853"/>
                    </a:ext>
                  </a:extLst>
                </a:gridCol>
                <a:gridCol w="9917645">
                  <a:extLst>
                    <a:ext uri="{9D8B030D-6E8A-4147-A177-3AD203B41FA5}">
                      <a16:colId xmlns:a16="http://schemas.microsoft.com/office/drawing/2014/main" val="4224328845"/>
                    </a:ext>
                  </a:extLst>
                </a:gridCol>
              </a:tblGrid>
              <a:tr h="2939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주의사항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또는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확인사항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 책임자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(RP)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정보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 내 실제 주소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 내 전화번호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또는 소비자가 문의할 수 있는 전자 연락처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웹사이트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E-mail)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중량 단위의 병행 표기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한국식 표기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(mL, g)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뿐만 아니라 미국식 표기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(oz, </a:t>
                      </a:r>
                      <a:r>
                        <a:rPr lang="en-US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fl.oz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lb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괄호 안에 병행 기재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(3)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의약품 클레임 주의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‘피부 재생’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‘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여드름 치료’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‘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화이트닝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’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등의 클레임은 질병의 치료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예방 또는 피부 등 신체의 구조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기능에 영향을 미치는 것으로 해석되는 경우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제품이 의약품으로 분류되는 근거가 될 수 있으므로 주의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(4)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기능성 화장품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(OTC)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유의 사항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 기준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OTC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해당하면 화장품 라벨이 아닌 의약품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성분표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(Drug Facts)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형식의 라벨 적용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(5)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경고 문구의 가시성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위험 소지가 있는 품목은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FDA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지정한 표준 경고 문구를 최소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1/16inch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이상의 폰트 크기로 배치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(6)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성분 명칭 통일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식물성 추출물을 적을 때 한국식 명칭을 직역하지 말고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국제 표준인 학명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(Botanical Name)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과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INCI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기준에 맞추어 기재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(7)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전문가용 제품 표시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i="0" dirty="0">
                          <a:solidFill>
                            <a:schemeClr val="tx1"/>
                          </a:solidFill>
                          <a:effectLst/>
                          <a:latin typeface="Merriweather" panose="00000500000000000000" pitchFamily="2" charset="0"/>
                        </a:rPr>
                        <a:t>미용실 등 전문업소에서만 사용되고 소비자에게 </a:t>
                      </a:r>
                      <a:r>
                        <a:rPr lang="ko-KR" altLang="en-US" sz="1000" i="0" dirty="0" err="1">
                          <a:solidFill>
                            <a:schemeClr val="tx1"/>
                          </a:solidFill>
                          <a:effectLst/>
                          <a:latin typeface="Merriweather" panose="00000500000000000000" pitchFamily="2" charset="0"/>
                        </a:rPr>
                        <a:t>소매판매되지</a:t>
                      </a:r>
                      <a:r>
                        <a:rPr lang="ko-KR" altLang="en-US" sz="1000" i="0" dirty="0">
                          <a:solidFill>
                            <a:schemeClr val="tx1"/>
                          </a:solidFill>
                          <a:effectLst/>
                          <a:latin typeface="Merriweather" panose="00000500000000000000" pitchFamily="2" charset="0"/>
                        </a:rPr>
                        <a:t> 않는 제품은 </a:t>
                      </a:r>
                      <a:r>
                        <a:rPr lang="ko-KR" altLang="en-US" sz="1000" i="0" dirty="0" err="1">
                          <a:solidFill>
                            <a:schemeClr val="tx1"/>
                          </a:solidFill>
                          <a:effectLst/>
                          <a:latin typeface="Merriweather" panose="00000500000000000000" pitchFamily="2" charset="0"/>
                        </a:rPr>
                        <a:t>전성분</a:t>
                      </a:r>
                      <a:r>
                        <a:rPr lang="ko-KR" altLang="en-US" sz="1000" i="0" dirty="0">
                          <a:solidFill>
                            <a:schemeClr val="tx1"/>
                          </a:solidFill>
                          <a:effectLst/>
                          <a:latin typeface="Merriweather" panose="00000500000000000000" pitchFamily="2" charset="0"/>
                        </a:rPr>
                        <a:t> 표시 의무가 면제될 수 있음</a:t>
                      </a:r>
                      <a:r>
                        <a:rPr lang="en-US" altLang="ko-KR" sz="1000" i="0" dirty="0">
                          <a:solidFill>
                            <a:schemeClr val="tx1"/>
                          </a:solidFill>
                          <a:effectLst/>
                          <a:latin typeface="Merriweather" panose="00000500000000000000" pitchFamily="2" charset="0"/>
                        </a:rPr>
                        <a:t>. </a:t>
                      </a:r>
                      <a:r>
                        <a:rPr lang="ko-KR" altLang="en-US" sz="1000" i="0" dirty="0">
                          <a:solidFill>
                            <a:schemeClr val="tx1"/>
                          </a:solidFill>
                          <a:effectLst/>
                          <a:latin typeface="Merriweather" panose="00000500000000000000" pitchFamily="2" charset="0"/>
                        </a:rPr>
                        <a:t>단</a:t>
                      </a:r>
                      <a:r>
                        <a:rPr lang="en-US" altLang="ko-KR" sz="1000" i="0" dirty="0">
                          <a:solidFill>
                            <a:schemeClr val="tx1"/>
                          </a:solidFill>
                          <a:effectLst/>
                          <a:latin typeface="Merriweather" panose="00000500000000000000" pitchFamily="2" charset="0"/>
                        </a:rPr>
                        <a:t>, ‘Professional use only’</a:t>
                      </a:r>
                      <a:r>
                        <a:rPr lang="ko-KR" altLang="en-US" sz="1000" i="0" dirty="0">
                          <a:solidFill>
                            <a:schemeClr val="tx1"/>
                          </a:solidFill>
                          <a:effectLst/>
                          <a:latin typeface="Merriweather" panose="00000500000000000000" pitchFamily="2" charset="0"/>
                        </a:rPr>
                        <a:t> 표기를 명확히 했더라도 소비자에게 소매 판매되는 경우에는 전성분을 표시해야 함</a:t>
                      </a:r>
                      <a:r>
                        <a:rPr lang="en-US" altLang="ko-KR" sz="1000" i="0" dirty="0">
                          <a:solidFill>
                            <a:schemeClr val="tx1"/>
                          </a:solidFill>
                          <a:effectLst/>
                          <a:latin typeface="Merriweather" panose="00000500000000000000" pitchFamily="2" charset="0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951800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A1A0E3A-6E85-608E-B5D7-37B75F9811CA}"/>
              </a:ext>
            </a:extLst>
          </p:cNvPr>
          <p:cNvSpPr txBox="1"/>
          <p:nvPr/>
        </p:nvSpPr>
        <p:spPr>
          <a:xfrm>
            <a:off x="325826" y="339047"/>
            <a:ext cx="8721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05. 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미국 현지통관 및 </a:t>
            </a:r>
            <a:r>
              <a:rPr kumimoji="0" lang="ko-KR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라벨링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규정 준수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9CEAE0-7FDE-B2E6-4F36-F9DBD6244B13}"/>
              </a:ext>
            </a:extLst>
          </p:cNvPr>
          <p:cNvSpPr txBox="1"/>
          <p:nvPr/>
        </p:nvSpPr>
        <p:spPr>
          <a:xfrm>
            <a:off x="325826" y="886609"/>
            <a:ext cx="87212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라벨링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규정 준수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1446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4218</TotalTime>
  <Words>3593</Words>
  <Application>Microsoft Office PowerPoint</Application>
  <PresentationFormat>와이드스크린</PresentationFormat>
  <Paragraphs>218</Paragraphs>
  <Slides>16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0" baseType="lpstr">
      <vt:lpstr>맑은 고딕</vt:lpstr>
      <vt:lpstr>Arial</vt:lpstr>
      <vt:lpstr>Merriweather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은정 김</dc:creator>
  <cp:lastModifiedBy>관리자 대한화장품협회</cp:lastModifiedBy>
  <cp:revision>497</cp:revision>
  <dcterms:created xsi:type="dcterms:W3CDTF">2026-06-17T04:37:34Z</dcterms:created>
  <dcterms:modified xsi:type="dcterms:W3CDTF">2026-10-23T04:34:27Z</dcterms:modified>
</cp:coreProperties>
</file>